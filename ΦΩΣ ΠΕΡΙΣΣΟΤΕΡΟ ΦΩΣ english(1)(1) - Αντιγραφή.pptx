
<file path=[Content_Types].xml><?xml version="1.0" encoding="utf-8"?>
<Types xmlns="http://schemas.openxmlformats.org/package/2006/content-types">
  <Default Extension="gif" ContentType="image/gif"/>
  <Default Extension="jfif" ContentType="image/jpeg"/>
  <Default Extension="jpeg" ContentType="image/jpeg"/>
  <Default Extension="jpg" ContentType="image/jpeg"/>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20" r:id="rId4"/>
  </p:sldMasterIdLst>
  <p:notesMasterIdLst>
    <p:notesMasterId r:id="rId28"/>
  </p:notesMasterIdLst>
  <p:handoutMasterIdLst>
    <p:handoutMasterId r:id="rId29"/>
  </p:handoutMasterIdLst>
  <p:sldIdLst>
    <p:sldId id="257" r:id="rId5"/>
    <p:sldId id="258" r:id="rId6"/>
    <p:sldId id="265" r:id="rId7"/>
    <p:sldId id="266" r:id="rId8"/>
    <p:sldId id="262" r:id="rId9"/>
    <p:sldId id="267" r:id="rId10"/>
    <p:sldId id="269" r:id="rId11"/>
    <p:sldId id="270" r:id="rId12"/>
    <p:sldId id="263" r:id="rId13"/>
    <p:sldId id="271" r:id="rId14"/>
    <p:sldId id="264" r:id="rId15"/>
    <p:sldId id="272" r:id="rId16"/>
    <p:sldId id="274" r:id="rId17"/>
    <p:sldId id="276" r:id="rId18"/>
    <p:sldId id="277" r:id="rId19"/>
    <p:sldId id="278" r:id="rId20"/>
    <p:sldId id="279" r:id="rId21"/>
    <p:sldId id="281" r:id="rId22"/>
    <p:sldId id="282" r:id="rId23"/>
    <p:sldId id="283" r:id="rId24"/>
    <p:sldId id="287" r:id="rId25"/>
    <p:sldId id="286" r:id="rId26"/>
    <p:sldId id="285" r:id="rId27"/>
  </p:sldIdLst>
  <p:sldSz cx="12192000" cy="6858000"/>
  <p:notesSz cx="6858000" cy="9144000"/>
  <p:defaultTextStyle>
    <a:defPPr rtl="0">
      <a:defRPr lang="el-g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5C22544A-7EE6-4342-B048-85BDC9FD1C3A}" styleName="Μεσαίο στυλ 2 - Έμφαση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59" d="100"/>
          <a:sy n="59" d="100"/>
        </p:scale>
        <p:origin x="72" y="540"/>
      </p:cViewPr>
      <p:guideLst/>
    </p:cSldViewPr>
  </p:slideViewPr>
  <p:notesTextViewPr>
    <p:cViewPr>
      <p:scale>
        <a:sx n="3" d="2"/>
        <a:sy n="3" d="2"/>
      </p:scale>
      <p:origin x="0" y="0"/>
    </p:cViewPr>
  </p:notesTextViewPr>
  <p:notesViewPr>
    <p:cSldViewPr snapToGrid="0" showGuides="1">
      <p:cViewPr varScale="1">
        <p:scale>
          <a:sx n="88" d="100"/>
          <a:sy n="88" d="100"/>
        </p:scale>
        <p:origin x="3024" y="102"/>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l-GR" dirty="0"/>
          </a:p>
        </p:txBody>
      </p:sp>
      <p:sp>
        <p:nvSpPr>
          <p:cNvPr id="3" name="Θέση ημερομηνίας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56931CB1-834E-4C04-98F1-1C9CB5AEE06E}" type="datetime1">
              <a:rPr lang="el-GR" smtClean="0"/>
              <a:t>15/2/2025</a:t>
            </a:fld>
            <a:endParaRPr lang="el-GR" dirty="0"/>
          </a:p>
        </p:txBody>
      </p:sp>
      <p:sp>
        <p:nvSpPr>
          <p:cNvPr id="4" name="Θέση υποσέλιδου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l-GR" dirty="0"/>
          </a:p>
        </p:txBody>
      </p:sp>
      <p:sp>
        <p:nvSpPr>
          <p:cNvPr id="5" name="Θέση αριθμού διαφάνειας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E06BD15E-A83F-499B-AE2F-72149146BFF5}" type="slidenum">
              <a:rPr lang="el-GR" smtClean="0"/>
              <a:t>‹#›</a:t>
            </a:fld>
            <a:endParaRPr lang="el-GR" dirty="0"/>
          </a:p>
        </p:txBody>
      </p:sp>
    </p:spTree>
    <p:extLst>
      <p:ext uri="{BB962C8B-B14F-4D97-AF65-F5344CB8AC3E}">
        <p14:creationId xmlns:p14="http://schemas.microsoft.com/office/powerpoint/2010/main" val="1528339323"/>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Θέση κεφαλίδας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l-GR" noProof="0" dirty="0"/>
          </a:p>
        </p:txBody>
      </p:sp>
      <p:sp>
        <p:nvSpPr>
          <p:cNvPr id="3" name="Θέση ημερομηνίας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933CF7D6-8E8B-4E60-BE40-B8C6FABBB7BB}" type="datetime1">
              <a:rPr lang="el-GR" noProof="0" smtClean="0"/>
              <a:t>15/2/2025</a:t>
            </a:fld>
            <a:endParaRPr lang="el-GR" noProof="0" dirty="0"/>
          </a:p>
        </p:txBody>
      </p:sp>
      <p:sp>
        <p:nvSpPr>
          <p:cNvPr id="4" name="Θέση εικόνας διαφάνειας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l-GR" noProof="0" dirty="0"/>
          </a:p>
        </p:txBody>
      </p:sp>
      <p:sp>
        <p:nvSpPr>
          <p:cNvPr id="5" name="Θέση σημειώσεων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eaLnBrk="1" latinLnBrk="0" hangingPunct="1"/>
            <a:r>
              <a:rPr lang="el-GR" noProof="0" dirty="0"/>
              <a:t>Επεξεργασία στυλ υποδείγματος κειμένου</a:t>
            </a:r>
          </a:p>
          <a:p>
            <a:pPr lvl="1" rtl="0"/>
            <a:r>
              <a:rPr lang="el-GR" noProof="0" dirty="0"/>
              <a:t>Δεύτερου επιπέδου</a:t>
            </a:r>
          </a:p>
          <a:p>
            <a:pPr lvl="2" rtl="0"/>
            <a:r>
              <a:rPr lang="el-GR" noProof="0" dirty="0"/>
              <a:t>Τρίτου επιπέδου</a:t>
            </a:r>
          </a:p>
          <a:p>
            <a:pPr lvl="3" rtl="0"/>
            <a:r>
              <a:rPr lang="el-GR" noProof="0" dirty="0"/>
              <a:t>Τέταρτου επιπέδου</a:t>
            </a:r>
          </a:p>
          <a:p>
            <a:pPr lvl="4" rtl="0"/>
            <a:r>
              <a:rPr lang="el-GR" noProof="0" dirty="0"/>
              <a:t>Πέμπτου επιπέδου</a:t>
            </a:r>
          </a:p>
        </p:txBody>
      </p:sp>
      <p:sp>
        <p:nvSpPr>
          <p:cNvPr id="6" name="Θέση υποσέλιδου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l-GR" noProof="0" dirty="0"/>
          </a:p>
        </p:txBody>
      </p:sp>
      <p:sp>
        <p:nvSpPr>
          <p:cNvPr id="7" name="Θέση αριθμού διαφάνειας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4BD6FFF6-EFF5-46FA-B62C-F141E1274D59}" type="slidenum">
              <a:rPr lang="el-GR" noProof="0" smtClean="0"/>
              <a:t>‹#›</a:t>
            </a:fld>
            <a:endParaRPr lang="el-GR" noProof="0" dirty="0"/>
          </a:p>
        </p:txBody>
      </p:sp>
    </p:spTree>
    <p:extLst>
      <p:ext uri="{BB962C8B-B14F-4D97-AF65-F5344CB8AC3E}">
        <p14:creationId xmlns:p14="http://schemas.microsoft.com/office/powerpoint/2010/main" val="755667096"/>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rtlCol="0"/>
          <a:lstStyle/>
          <a:p>
            <a:pPr rtl="0"/>
            <a:endParaRPr lang="el-GR" dirty="0"/>
          </a:p>
        </p:txBody>
      </p:sp>
      <p:sp>
        <p:nvSpPr>
          <p:cNvPr id="4" name="Θέση αριθμού διαφάνειας 3"/>
          <p:cNvSpPr>
            <a:spLocks noGrp="1"/>
          </p:cNvSpPr>
          <p:nvPr>
            <p:ph type="sldNum" sz="quarter" idx="10"/>
          </p:nvPr>
        </p:nvSpPr>
        <p:spPr/>
        <p:txBody>
          <a:bodyPr rtlCol="0"/>
          <a:lstStyle/>
          <a:p>
            <a:pPr rtl="0"/>
            <a:fld id="{4BD6FFF6-EFF5-46FA-B62C-F141E1274D59}" type="slidenum">
              <a:rPr lang="el-GR" smtClean="0"/>
              <a:t>1</a:t>
            </a:fld>
            <a:endParaRPr lang="el-GR" dirty="0"/>
          </a:p>
        </p:txBody>
      </p:sp>
    </p:spTree>
    <p:extLst>
      <p:ext uri="{BB962C8B-B14F-4D97-AF65-F5344CB8AC3E}">
        <p14:creationId xmlns:p14="http://schemas.microsoft.com/office/powerpoint/2010/main" val="40052295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Θέση εικόνας διαφάνειας 1"/>
          <p:cNvSpPr>
            <a:spLocks noGrp="1" noRot="1" noChangeAspect="1"/>
          </p:cNvSpPr>
          <p:nvPr>
            <p:ph type="sldImg"/>
          </p:nvPr>
        </p:nvSpPr>
        <p:spPr/>
      </p:sp>
      <p:sp>
        <p:nvSpPr>
          <p:cNvPr id="3" name="Θέση σημειώσεων 2"/>
          <p:cNvSpPr>
            <a:spLocks noGrp="1"/>
          </p:cNvSpPr>
          <p:nvPr>
            <p:ph type="body" idx="1"/>
          </p:nvPr>
        </p:nvSpPr>
        <p:spPr/>
        <p:txBody>
          <a:bodyPr/>
          <a:lstStyle/>
          <a:p>
            <a:endParaRPr lang="el-GR" dirty="0"/>
          </a:p>
        </p:txBody>
      </p:sp>
      <p:sp>
        <p:nvSpPr>
          <p:cNvPr id="4" name="Θέση αριθμού διαφάνειας 3"/>
          <p:cNvSpPr>
            <a:spLocks noGrp="1"/>
          </p:cNvSpPr>
          <p:nvPr>
            <p:ph type="sldNum" sz="quarter" idx="10"/>
          </p:nvPr>
        </p:nvSpPr>
        <p:spPr/>
        <p:txBody>
          <a:bodyPr/>
          <a:lstStyle/>
          <a:p>
            <a:pPr rtl="0"/>
            <a:fld id="{4BD6FFF6-EFF5-46FA-B62C-F141E1274D59}" type="slidenum">
              <a:rPr lang="el-GR" smtClean="0"/>
              <a:t>2</a:t>
            </a:fld>
            <a:endParaRPr lang="el-GR" dirty="0"/>
          </a:p>
        </p:txBody>
      </p:sp>
    </p:spTree>
    <p:extLst>
      <p:ext uri="{BB962C8B-B14F-4D97-AF65-F5344CB8AC3E}">
        <p14:creationId xmlns:p14="http://schemas.microsoft.com/office/powerpoint/2010/main" val="219061462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Διαφάνεια τίτλου">
    <p:spTree>
      <p:nvGrpSpPr>
        <p:cNvPr id="1" name=""/>
        <p:cNvGrpSpPr/>
        <p:nvPr/>
      </p:nvGrpSpPr>
      <p:grpSpPr>
        <a:xfrm>
          <a:off x="0" y="0"/>
          <a:ext cx="0" cy="0"/>
          <a:chOff x="0" y="0"/>
          <a:chExt cx="0" cy="0"/>
        </a:xfrm>
      </p:grpSpPr>
      <p:pic>
        <p:nvPicPr>
          <p:cNvPr id="11" name="Εικόνα 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14" name="Τίτλος 13"/>
          <p:cNvSpPr>
            <a:spLocks noGrp="1"/>
          </p:cNvSpPr>
          <p:nvPr>
            <p:ph type="ctrTitle" hasCustomPrompt="1"/>
          </p:nvPr>
        </p:nvSpPr>
        <p:spPr>
          <a:xfrm>
            <a:off x="1910080" y="1179705"/>
            <a:ext cx="9875520" cy="1472184"/>
          </a:xfrm>
          <a:prstGeom prst="rect">
            <a:avLst/>
          </a:prstGeom>
        </p:spPr>
        <p:txBody>
          <a:bodyPr rtlCol="0" anchor="b"/>
          <a:lstStyle>
            <a:lvl1pPr algn="ctr" rtl="0">
              <a:defRPr/>
            </a:lvl1pPr>
            <a:extLst/>
          </a:lstStyle>
          <a:p>
            <a:pPr rtl="0"/>
            <a:r>
              <a:rPr lang="el-GR" noProof="0" dirty="0"/>
              <a:t>Κάντε κλικ για να επεξεργαστείτε το Στυλ υποδείγματος τίτλου</a:t>
            </a:r>
          </a:p>
        </p:txBody>
      </p:sp>
      <p:sp>
        <p:nvSpPr>
          <p:cNvPr id="22" name="Υπότιτλος 21"/>
          <p:cNvSpPr>
            <a:spLocks noGrp="1"/>
          </p:cNvSpPr>
          <p:nvPr>
            <p:ph type="subTitle" idx="1"/>
          </p:nvPr>
        </p:nvSpPr>
        <p:spPr>
          <a:xfrm>
            <a:off x="1910080" y="2669871"/>
            <a:ext cx="9875520" cy="1752600"/>
          </a:xfrm>
          <a:prstGeom prst="rect">
            <a:avLst/>
          </a:prstGeom>
        </p:spPr>
        <p:txBody>
          <a:bodyPr tIns="0" rtlCol="0"/>
          <a:lstStyle>
            <a:lvl1pPr marL="27432" indent="0" algn="ctr">
              <a:buNone/>
              <a:defRPr sz="2600" b="1">
                <a:solidFill>
                  <a:schemeClr val="accent1">
                    <a:lumMod val="50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pPr rtl="0"/>
            <a:r>
              <a:rPr lang="el-GR" noProof="0"/>
              <a:t>Κάντε κλικ για να επεξεργαστείτε τον υπότιτλο του υποδείγματος</a:t>
            </a:r>
            <a:endParaRPr kumimoji="0" lang="el-GR" noProof="0" dirty="0"/>
          </a:p>
        </p:txBody>
      </p:sp>
      <p:sp>
        <p:nvSpPr>
          <p:cNvPr id="7" name="Θέση ημερομηνίας 6"/>
          <p:cNvSpPr>
            <a:spLocks noGrp="1"/>
          </p:cNvSpPr>
          <p:nvPr>
            <p:ph type="dt" sz="half" idx="10"/>
          </p:nvPr>
        </p:nvSpPr>
        <p:spPr>
          <a:xfrm>
            <a:off x="4775200" y="6305550"/>
            <a:ext cx="2844800" cy="476250"/>
          </a:xfrm>
          <a:prstGeom prst="rect">
            <a:avLst/>
          </a:prstGeom>
        </p:spPr>
        <p:txBody>
          <a:bodyPr rtlCol="0"/>
          <a:lstStyle/>
          <a:p>
            <a:pPr rtl="0"/>
            <a:fld id="{412675D4-1E91-4827-93B7-382CED38B474}" type="datetime1">
              <a:rPr lang="el-GR" noProof="0" smtClean="0"/>
              <a:t>15/2/2025</a:t>
            </a:fld>
            <a:endParaRPr lang="el-GR" noProof="0" dirty="0"/>
          </a:p>
        </p:txBody>
      </p:sp>
      <p:sp>
        <p:nvSpPr>
          <p:cNvPr id="20" name="Θέση υποσέλιδου 19"/>
          <p:cNvSpPr>
            <a:spLocks noGrp="1"/>
          </p:cNvSpPr>
          <p:nvPr>
            <p:ph type="ftr" sz="quarter" idx="11"/>
          </p:nvPr>
        </p:nvSpPr>
        <p:spPr>
          <a:xfrm>
            <a:off x="7620000" y="6305550"/>
            <a:ext cx="3860800" cy="476250"/>
          </a:xfrm>
          <a:prstGeom prst="rect">
            <a:avLst/>
          </a:prstGeom>
        </p:spPr>
        <p:txBody>
          <a:bodyPr rtlCol="0"/>
          <a:lstStyle/>
          <a:p>
            <a:pPr rtl="0"/>
            <a:r>
              <a:rPr lang="el-GR" noProof="0" dirty="0"/>
              <a:t>Προσθήκη υποσέλιδου</a:t>
            </a:r>
          </a:p>
        </p:txBody>
      </p:sp>
      <p:sp>
        <p:nvSpPr>
          <p:cNvPr id="10" name="Θέση αριθμού διαφάνειας 9"/>
          <p:cNvSpPr>
            <a:spLocks noGrp="1"/>
          </p:cNvSpPr>
          <p:nvPr>
            <p:ph type="sldNum" sz="quarter" idx="12"/>
          </p:nvPr>
        </p:nvSpPr>
        <p:spPr>
          <a:xfrm>
            <a:off x="11484864" y="6305550"/>
            <a:ext cx="609600" cy="476250"/>
          </a:xfrm>
          <a:prstGeom prst="rect">
            <a:avLst/>
          </a:prstGeom>
        </p:spPr>
        <p:txBody>
          <a:bodyPr rtlCol="0"/>
          <a:lstStyle/>
          <a:p>
            <a:pPr rtl="0"/>
            <a:fld id="{401CF334-2D5C-4859-84A6-CA7E6E43FAEB}" type="slidenum">
              <a:rPr lang="el-GR" noProof="0" smtClean="0"/>
              <a:t>‹#›</a:t>
            </a:fld>
            <a:endParaRPr lang="el-GR" noProof="0" dirty="0"/>
          </a:p>
        </p:txBody>
      </p:sp>
    </p:spTree>
    <p:extLst>
      <p:ext uri="{BB962C8B-B14F-4D97-AF65-F5344CB8AC3E}">
        <p14:creationId xmlns:p14="http://schemas.microsoft.com/office/powerpoint/2010/main" val="4072726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Τίτλος και περιεχόμενο">
    <p:spTree>
      <p:nvGrpSpPr>
        <p:cNvPr id="1" name=""/>
        <p:cNvGrpSpPr/>
        <p:nvPr/>
      </p:nvGrpSpPr>
      <p:grpSpPr>
        <a:xfrm>
          <a:off x="0" y="0"/>
          <a:ext cx="0" cy="0"/>
          <a:chOff x="0" y="0"/>
          <a:chExt cx="0" cy="0"/>
        </a:xfrm>
      </p:grpSpPr>
      <p:sp>
        <p:nvSpPr>
          <p:cNvPr id="2" name="Τίτλος 1"/>
          <p:cNvSpPr>
            <a:spLocks noGrp="1"/>
          </p:cNvSpPr>
          <p:nvPr>
            <p:ph type="title" hasCustomPrompt="1"/>
          </p:nvPr>
        </p:nvSpPr>
        <p:spPr>
          <a:xfrm>
            <a:off x="1914144" y="274638"/>
            <a:ext cx="9997440" cy="1143000"/>
          </a:xfrm>
          <a:prstGeom prst="rect">
            <a:avLst/>
          </a:prstGeom>
        </p:spPr>
        <p:txBody>
          <a:bodyPr rtlCol="0"/>
          <a:lstStyle>
            <a:lvl1pPr rtl="0">
              <a:defRPr/>
            </a:lvl1pPr>
          </a:lstStyle>
          <a:p>
            <a:pPr rtl="0"/>
            <a:r>
              <a:rPr lang="el-GR" noProof="0" dirty="0"/>
              <a:t>Κάντε κλικ για να επεξεργαστείτε το Στυλ υποδείγματος τίτλου</a:t>
            </a:r>
          </a:p>
        </p:txBody>
      </p:sp>
      <p:sp>
        <p:nvSpPr>
          <p:cNvPr id="3" name="Θέση περιεχομένου 2"/>
          <p:cNvSpPr>
            <a:spLocks noGrp="1"/>
          </p:cNvSpPr>
          <p:nvPr>
            <p:ph idx="1"/>
          </p:nvPr>
        </p:nvSpPr>
        <p:spPr>
          <a:xfrm>
            <a:off x="1914144" y="1447800"/>
            <a:ext cx="9997440" cy="4800600"/>
          </a:xfrm>
          <a:prstGeom prst="rect">
            <a:avLst/>
          </a:prstGeom>
        </p:spPr>
        <p:txBody>
          <a:bodyPr rtlCol="0"/>
          <a:lstStyle/>
          <a:p>
            <a:pPr lvl="0" rtl="0" eaLnBrk="1" latinLnBrk="0" hangingPunct="1"/>
            <a:r>
              <a:rPr lang="el-GR" noProof="0"/>
              <a:t>Στυλ κειμένου υποδείγματος</a:t>
            </a:r>
          </a:p>
          <a:p>
            <a:pPr lvl="1" rtl="0" eaLnBrk="1" latinLnBrk="0" hangingPunct="1"/>
            <a:r>
              <a:rPr lang="el-GR" noProof="0"/>
              <a:t>Δεύτερο επίπεδο</a:t>
            </a:r>
          </a:p>
          <a:p>
            <a:pPr lvl="2" rtl="0" eaLnBrk="1" latinLnBrk="0" hangingPunct="1"/>
            <a:r>
              <a:rPr lang="el-GR" noProof="0"/>
              <a:t>Τρίτο επίπεδο</a:t>
            </a:r>
          </a:p>
          <a:p>
            <a:pPr lvl="3" rtl="0" eaLnBrk="1" latinLnBrk="0" hangingPunct="1"/>
            <a:r>
              <a:rPr lang="el-GR" noProof="0"/>
              <a:t>Τέταρτο επίπεδο</a:t>
            </a:r>
          </a:p>
          <a:p>
            <a:pPr lvl="4" rtl="0" eaLnBrk="1" latinLnBrk="0" hangingPunct="1"/>
            <a:r>
              <a:rPr lang="el-GR" noProof="0"/>
              <a:t>Πέμπτο επίπεδο</a:t>
            </a:r>
            <a:endParaRPr kumimoji="0" lang="el-GR" noProof="0" dirty="0"/>
          </a:p>
        </p:txBody>
      </p:sp>
      <p:sp>
        <p:nvSpPr>
          <p:cNvPr id="4" name="Θέση ημερομηνίας 3"/>
          <p:cNvSpPr>
            <a:spLocks noGrp="1"/>
          </p:cNvSpPr>
          <p:nvPr>
            <p:ph type="dt" sz="half" idx="10"/>
          </p:nvPr>
        </p:nvSpPr>
        <p:spPr>
          <a:xfrm>
            <a:off x="4775200" y="6305550"/>
            <a:ext cx="2844800" cy="476250"/>
          </a:xfrm>
          <a:prstGeom prst="rect">
            <a:avLst/>
          </a:prstGeom>
        </p:spPr>
        <p:txBody>
          <a:bodyPr rtlCol="0"/>
          <a:lstStyle/>
          <a:p>
            <a:pPr rtl="0"/>
            <a:fld id="{F865D0F1-1951-4605-B394-5B6438394975}" type="datetime1">
              <a:rPr lang="el-GR" noProof="0" smtClean="0"/>
              <a:t>15/2/2025</a:t>
            </a:fld>
            <a:endParaRPr lang="el-GR" noProof="0" dirty="0"/>
          </a:p>
        </p:txBody>
      </p:sp>
      <p:sp>
        <p:nvSpPr>
          <p:cNvPr id="5" name="Θέση υποσέλιδου 4"/>
          <p:cNvSpPr>
            <a:spLocks noGrp="1"/>
          </p:cNvSpPr>
          <p:nvPr>
            <p:ph type="ftr" sz="quarter" idx="11"/>
          </p:nvPr>
        </p:nvSpPr>
        <p:spPr>
          <a:xfrm>
            <a:off x="7620000" y="6305550"/>
            <a:ext cx="3860800" cy="476250"/>
          </a:xfrm>
          <a:prstGeom prst="rect">
            <a:avLst/>
          </a:prstGeom>
        </p:spPr>
        <p:txBody>
          <a:bodyPr rtlCol="0"/>
          <a:lstStyle/>
          <a:p>
            <a:pPr rtl="0"/>
            <a:r>
              <a:rPr lang="el-GR" noProof="0" dirty="0"/>
              <a:t>Προσθήκη υποσέλιδου</a:t>
            </a:r>
          </a:p>
        </p:txBody>
      </p:sp>
      <p:sp>
        <p:nvSpPr>
          <p:cNvPr id="6" name="Θέση αριθμού διαφάνειας 5"/>
          <p:cNvSpPr>
            <a:spLocks noGrp="1"/>
          </p:cNvSpPr>
          <p:nvPr>
            <p:ph type="sldNum" sz="quarter" idx="12"/>
          </p:nvPr>
        </p:nvSpPr>
        <p:spPr>
          <a:xfrm>
            <a:off x="11484864" y="6305550"/>
            <a:ext cx="609600" cy="476250"/>
          </a:xfrm>
          <a:prstGeom prst="rect">
            <a:avLst/>
          </a:prstGeom>
        </p:spPr>
        <p:txBody>
          <a:bodyPr rtlCol="0"/>
          <a:lstStyle/>
          <a:p>
            <a:pPr rtl="0"/>
            <a:fld id="{401CF334-2D5C-4859-84A6-CA7E6E43FAEB}" type="slidenum">
              <a:rPr lang="el-GR" noProof="0" smtClean="0"/>
              <a:t>‹#›</a:t>
            </a:fld>
            <a:endParaRPr lang="el-GR" noProof="0" dirty="0"/>
          </a:p>
        </p:txBody>
      </p:sp>
    </p:spTree>
    <p:extLst>
      <p:ext uri="{BB962C8B-B14F-4D97-AF65-F5344CB8AC3E}">
        <p14:creationId xmlns:p14="http://schemas.microsoft.com/office/powerpoint/2010/main" val="639988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40" userDrawn="1">
          <p15:clr>
            <a:srgbClr val="FBAE40"/>
          </p15:clr>
        </p15:guide>
        <p15:guide id="2" pos="984"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Κεφαλίδα ενότητας">
    <p:spTree>
      <p:nvGrpSpPr>
        <p:cNvPr id="1" name=""/>
        <p:cNvGrpSpPr/>
        <p:nvPr/>
      </p:nvGrpSpPr>
      <p:grpSpPr>
        <a:xfrm>
          <a:off x="0" y="0"/>
          <a:ext cx="0" cy="0"/>
          <a:chOff x="0" y="0"/>
          <a:chExt cx="0" cy="0"/>
        </a:xfrm>
      </p:grpSpPr>
      <p:sp>
        <p:nvSpPr>
          <p:cNvPr id="2" name="Τίτλος 1"/>
          <p:cNvSpPr>
            <a:spLocks noGrp="1"/>
          </p:cNvSpPr>
          <p:nvPr>
            <p:ph type="title" hasCustomPrompt="1"/>
          </p:nvPr>
        </p:nvSpPr>
        <p:spPr>
          <a:xfrm>
            <a:off x="1828800" y="2600325"/>
            <a:ext cx="8534400" cy="2286000"/>
          </a:xfrm>
          <a:prstGeom prst="rect">
            <a:avLst/>
          </a:prstGeom>
        </p:spPr>
        <p:txBody>
          <a:bodyPr rtlCol="0" anchor="t"/>
          <a:lstStyle>
            <a:lvl1pPr algn="l" rtl="0">
              <a:lnSpc>
                <a:spcPts val="4500"/>
              </a:lnSpc>
              <a:buNone/>
              <a:defRPr sz="4000" b="1" cap="all"/>
            </a:lvl1pPr>
            <a:extLst/>
          </a:lstStyle>
          <a:p>
            <a:pPr rtl="0"/>
            <a:r>
              <a:rPr lang="el-GR" noProof="0" dirty="0"/>
              <a:t>Κάντε κλικ για να επεξεργαστείτε το Στυλ υποδείγματος τίτλου</a:t>
            </a:r>
          </a:p>
        </p:txBody>
      </p:sp>
      <p:sp>
        <p:nvSpPr>
          <p:cNvPr id="3" name="Θέση κειμένου 2"/>
          <p:cNvSpPr>
            <a:spLocks noGrp="1"/>
          </p:cNvSpPr>
          <p:nvPr>
            <p:ph type="body" idx="1"/>
          </p:nvPr>
        </p:nvSpPr>
        <p:spPr>
          <a:xfrm>
            <a:off x="1828800" y="1066800"/>
            <a:ext cx="8534400" cy="1509712"/>
          </a:xfrm>
          <a:prstGeom prst="rect">
            <a:avLst/>
          </a:prstGeom>
        </p:spPr>
        <p:txBody>
          <a:bodyPr rtlCol="0" anchor="b"/>
          <a:lstStyle>
            <a:lvl1pPr marL="18288" indent="0">
              <a:lnSpc>
                <a:spcPts val="2300"/>
              </a:lnSpc>
              <a:spcBef>
                <a:spcPts val="0"/>
              </a:spcBef>
              <a:buNone/>
              <a:defRPr sz="2000">
                <a:solidFill>
                  <a:schemeClr val="tx2">
                    <a:shade val="30000"/>
                    <a:satMod val="150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rtl="0" eaLnBrk="1" latinLnBrk="0" hangingPunct="1"/>
            <a:r>
              <a:rPr lang="el-GR" noProof="0"/>
              <a:t>Στυλ κειμένου υποδείγματος</a:t>
            </a:r>
          </a:p>
        </p:txBody>
      </p:sp>
      <p:sp>
        <p:nvSpPr>
          <p:cNvPr id="4" name="Θέση ημερομηνίας 3"/>
          <p:cNvSpPr>
            <a:spLocks noGrp="1"/>
          </p:cNvSpPr>
          <p:nvPr>
            <p:ph type="dt" sz="half" idx="10"/>
          </p:nvPr>
        </p:nvSpPr>
        <p:spPr>
          <a:xfrm>
            <a:off x="4775200" y="6305550"/>
            <a:ext cx="2844800" cy="476250"/>
          </a:xfrm>
          <a:prstGeom prst="rect">
            <a:avLst/>
          </a:prstGeom>
        </p:spPr>
        <p:txBody>
          <a:bodyPr rtlCol="0"/>
          <a:lstStyle/>
          <a:p>
            <a:pPr rtl="0"/>
            <a:fld id="{5B3227BE-A74E-4B8F-87F2-93846C1B991D}" type="datetime1">
              <a:rPr lang="el-GR" noProof="0" smtClean="0"/>
              <a:t>15/2/2025</a:t>
            </a:fld>
            <a:endParaRPr lang="el-GR" noProof="0" dirty="0"/>
          </a:p>
        </p:txBody>
      </p:sp>
      <p:sp>
        <p:nvSpPr>
          <p:cNvPr id="5" name="Θέση υποσέλιδου 4"/>
          <p:cNvSpPr>
            <a:spLocks noGrp="1"/>
          </p:cNvSpPr>
          <p:nvPr>
            <p:ph type="ftr" sz="quarter" idx="11"/>
          </p:nvPr>
        </p:nvSpPr>
        <p:spPr>
          <a:xfrm>
            <a:off x="7620000" y="6305550"/>
            <a:ext cx="3860800" cy="476250"/>
          </a:xfrm>
          <a:prstGeom prst="rect">
            <a:avLst/>
          </a:prstGeom>
        </p:spPr>
        <p:txBody>
          <a:bodyPr rtlCol="0"/>
          <a:lstStyle/>
          <a:p>
            <a:pPr rtl="0"/>
            <a:r>
              <a:rPr lang="el-GR" noProof="0" dirty="0"/>
              <a:t>Προσθήκη υποσέλιδου</a:t>
            </a:r>
          </a:p>
        </p:txBody>
      </p:sp>
      <p:sp>
        <p:nvSpPr>
          <p:cNvPr id="6" name="Θέση αριθμού διαφάνειας 5"/>
          <p:cNvSpPr>
            <a:spLocks noGrp="1"/>
          </p:cNvSpPr>
          <p:nvPr>
            <p:ph type="sldNum" sz="quarter" idx="12"/>
          </p:nvPr>
        </p:nvSpPr>
        <p:spPr>
          <a:xfrm>
            <a:off x="11484864" y="6305550"/>
            <a:ext cx="609600" cy="476250"/>
          </a:xfrm>
          <a:prstGeom prst="rect">
            <a:avLst/>
          </a:prstGeom>
        </p:spPr>
        <p:txBody>
          <a:bodyPr rtlCol="0"/>
          <a:lstStyle/>
          <a:p>
            <a:pPr rtl="0"/>
            <a:fld id="{401CF334-2D5C-4859-84A6-CA7E6E43FAEB}" type="slidenum">
              <a:rPr lang="el-GR" noProof="0" smtClean="0"/>
              <a:t>‹#›</a:t>
            </a:fld>
            <a:endParaRPr lang="el-GR" noProof="0" dirty="0"/>
          </a:p>
        </p:txBody>
      </p:sp>
    </p:spTree>
    <p:extLst>
      <p:ext uri="{BB962C8B-B14F-4D97-AF65-F5344CB8AC3E}">
        <p14:creationId xmlns:p14="http://schemas.microsoft.com/office/powerpoint/2010/main" val="4066158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Δύο περιεχόμενα">
    <p:spTree>
      <p:nvGrpSpPr>
        <p:cNvPr id="1" name=""/>
        <p:cNvGrpSpPr/>
        <p:nvPr/>
      </p:nvGrpSpPr>
      <p:grpSpPr>
        <a:xfrm>
          <a:off x="0" y="0"/>
          <a:ext cx="0" cy="0"/>
          <a:chOff x="0" y="0"/>
          <a:chExt cx="0" cy="0"/>
        </a:xfrm>
      </p:grpSpPr>
      <p:sp>
        <p:nvSpPr>
          <p:cNvPr id="2" name="Τίτλος 1"/>
          <p:cNvSpPr>
            <a:spLocks noGrp="1"/>
          </p:cNvSpPr>
          <p:nvPr>
            <p:ph type="title" hasCustomPrompt="1"/>
          </p:nvPr>
        </p:nvSpPr>
        <p:spPr>
          <a:xfrm>
            <a:off x="1914144" y="274320"/>
            <a:ext cx="9997440" cy="1143000"/>
          </a:xfrm>
          <a:prstGeom prst="rect">
            <a:avLst/>
          </a:prstGeom>
        </p:spPr>
        <p:txBody>
          <a:bodyPr rtlCol="0"/>
          <a:lstStyle>
            <a:lvl1pPr rtl="0">
              <a:defRPr/>
            </a:lvl1pPr>
          </a:lstStyle>
          <a:p>
            <a:pPr rtl="0"/>
            <a:r>
              <a:rPr lang="el-GR" noProof="0" dirty="0"/>
              <a:t>Κάντε κλικ για να επεξεργαστείτε το Στυλ υποδείγματος τίτλου</a:t>
            </a:r>
          </a:p>
        </p:txBody>
      </p:sp>
      <p:sp>
        <p:nvSpPr>
          <p:cNvPr id="3" name="Θέση περιεχομένου 2"/>
          <p:cNvSpPr>
            <a:spLocks noGrp="1"/>
          </p:cNvSpPr>
          <p:nvPr>
            <p:ph sz="half" idx="1"/>
          </p:nvPr>
        </p:nvSpPr>
        <p:spPr>
          <a:xfrm>
            <a:off x="1914144" y="1524000"/>
            <a:ext cx="4876800" cy="4663440"/>
          </a:xfrm>
          <a:prstGeom prst="rect">
            <a:avLst/>
          </a:prstGeom>
        </p:spPr>
        <p:txBody>
          <a:bodyPr rtlCol="0"/>
          <a:lstStyle>
            <a:lvl1pPr>
              <a:defRPr sz="2800"/>
            </a:lvl1pPr>
            <a:lvl2pPr>
              <a:defRPr sz="2400"/>
            </a:lvl2pPr>
            <a:lvl3pPr>
              <a:defRPr sz="2000"/>
            </a:lvl3pPr>
            <a:lvl4pPr>
              <a:defRPr sz="1800"/>
            </a:lvl4pPr>
            <a:lvl5pPr>
              <a:defRPr sz="1800"/>
            </a:lvl5pPr>
            <a:extLst/>
          </a:lstStyle>
          <a:p>
            <a:pPr lvl="0" rtl="0" eaLnBrk="1" latinLnBrk="0" hangingPunct="1"/>
            <a:r>
              <a:rPr lang="el-GR" noProof="0"/>
              <a:t>Στυλ κειμένου υποδείγματος</a:t>
            </a:r>
          </a:p>
          <a:p>
            <a:pPr lvl="1" rtl="0" eaLnBrk="1" latinLnBrk="0" hangingPunct="1"/>
            <a:r>
              <a:rPr lang="el-GR" noProof="0"/>
              <a:t>Δεύτερο επίπεδο</a:t>
            </a:r>
          </a:p>
          <a:p>
            <a:pPr lvl="2" rtl="0" eaLnBrk="1" latinLnBrk="0" hangingPunct="1"/>
            <a:r>
              <a:rPr lang="el-GR" noProof="0"/>
              <a:t>Τρίτο επίπεδο</a:t>
            </a:r>
          </a:p>
          <a:p>
            <a:pPr lvl="3" rtl="0" eaLnBrk="1" latinLnBrk="0" hangingPunct="1"/>
            <a:r>
              <a:rPr lang="el-GR" noProof="0"/>
              <a:t>Τέταρτο επίπεδο</a:t>
            </a:r>
          </a:p>
          <a:p>
            <a:pPr lvl="4" rtl="0" eaLnBrk="1" latinLnBrk="0" hangingPunct="1"/>
            <a:r>
              <a:rPr lang="el-GR" noProof="0"/>
              <a:t>Πέμπτο επίπεδο</a:t>
            </a:r>
            <a:endParaRPr kumimoji="0" lang="el-GR" noProof="0" dirty="0"/>
          </a:p>
        </p:txBody>
      </p:sp>
      <p:sp>
        <p:nvSpPr>
          <p:cNvPr id="4" name="Θέση περιεχομένου 3"/>
          <p:cNvSpPr>
            <a:spLocks noGrp="1"/>
          </p:cNvSpPr>
          <p:nvPr>
            <p:ph sz="half" idx="2"/>
          </p:nvPr>
        </p:nvSpPr>
        <p:spPr>
          <a:xfrm>
            <a:off x="7034784" y="1524000"/>
            <a:ext cx="4876800" cy="4663440"/>
          </a:xfrm>
          <a:prstGeom prst="rect">
            <a:avLst/>
          </a:prstGeom>
        </p:spPr>
        <p:txBody>
          <a:bodyPr rtlCol="0"/>
          <a:lstStyle>
            <a:lvl1pPr>
              <a:defRPr sz="2800"/>
            </a:lvl1pPr>
            <a:lvl2pPr>
              <a:defRPr sz="2400"/>
            </a:lvl2pPr>
            <a:lvl3pPr>
              <a:defRPr sz="2000"/>
            </a:lvl3pPr>
            <a:lvl4pPr>
              <a:defRPr sz="1800"/>
            </a:lvl4pPr>
            <a:lvl5pPr>
              <a:defRPr sz="1800"/>
            </a:lvl5pPr>
            <a:extLst/>
          </a:lstStyle>
          <a:p>
            <a:pPr lvl="0" rtl="0" eaLnBrk="1" latinLnBrk="0" hangingPunct="1"/>
            <a:r>
              <a:rPr lang="el-GR" noProof="0"/>
              <a:t>Στυλ κειμένου υποδείγματος</a:t>
            </a:r>
          </a:p>
          <a:p>
            <a:pPr lvl="1" rtl="0" eaLnBrk="1" latinLnBrk="0" hangingPunct="1"/>
            <a:r>
              <a:rPr lang="el-GR" noProof="0"/>
              <a:t>Δεύτερο επίπεδο</a:t>
            </a:r>
          </a:p>
          <a:p>
            <a:pPr lvl="2" rtl="0" eaLnBrk="1" latinLnBrk="0" hangingPunct="1"/>
            <a:r>
              <a:rPr lang="el-GR" noProof="0"/>
              <a:t>Τρίτο επίπεδο</a:t>
            </a:r>
          </a:p>
          <a:p>
            <a:pPr lvl="3" rtl="0" eaLnBrk="1" latinLnBrk="0" hangingPunct="1"/>
            <a:r>
              <a:rPr lang="el-GR" noProof="0"/>
              <a:t>Τέταρτο επίπεδο</a:t>
            </a:r>
          </a:p>
          <a:p>
            <a:pPr lvl="4" rtl="0" eaLnBrk="1" latinLnBrk="0" hangingPunct="1"/>
            <a:r>
              <a:rPr lang="el-GR" noProof="0"/>
              <a:t>Πέμπτο επίπεδο</a:t>
            </a:r>
            <a:endParaRPr kumimoji="0" lang="el-GR" noProof="0" dirty="0"/>
          </a:p>
        </p:txBody>
      </p:sp>
      <p:sp>
        <p:nvSpPr>
          <p:cNvPr id="5" name="Θέση ημερομηνίας 4"/>
          <p:cNvSpPr>
            <a:spLocks noGrp="1"/>
          </p:cNvSpPr>
          <p:nvPr>
            <p:ph type="dt" sz="half" idx="10"/>
          </p:nvPr>
        </p:nvSpPr>
        <p:spPr>
          <a:xfrm>
            <a:off x="4775200" y="6305550"/>
            <a:ext cx="2844800" cy="476250"/>
          </a:xfrm>
          <a:prstGeom prst="rect">
            <a:avLst/>
          </a:prstGeom>
        </p:spPr>
        <p:txBody>
          <a:bodyPr rtlCol="0"/>
          <a:lstStyle/>
          <a:p>
            <a:pPr rtl="0"/>
            <a:fld id="{FAE7B3FA-8A58-4401-AF2F-1FF047D798B0}" type="datetime1">
              <a:rPr lang="el-GR" noProof="0" smtClean="0"/>
              <a:t>15/2/2025</a:t>
            </a:fld>
            <a:endParaRPr lang="el-GR" noProof="0" dirty="0"/>
          </a:p>
        </p:txBody>
      </p:sp>
      <p:sp>
        <p:nvSpPr>
          <p:cNvPr id="6" name="Θέση υποσέλιδου 5"/>
          <p:cNvSpPr>
            <a:spLocks noGrp="1"/>
          </p:cNvSpPr>
          <p:nvPr>
            <p:ph type="ftr" sz="quarter" idx="11"/>
          </p:nvPr>
        </p:nvSpPr>
        <p:spPr>
          <a:xfrm>
            <a:off x="7620000" y="6305550"/>
            <a:ext cx="3860800" cy="476250"/>
          </a:xfrm>
          <a:prstGeom prst="rect">
            <a:avLst/>
          </a:prstGeom>
        </p:spPr>
        <p:txBody>
          <a:bodyPr rtlCol="0"/>
          <a:lstStyle/>
          <a:p>
            <a:pPr rtl="0"/>
            <a:r>
              <a:rPr lang="el-GR" noProof="0" dirty="0"/>
              <a:t>Προσθήκη υποσέλιδου</a:t>
            </a:r>
          </a:p>
        </p:txBody>
      </p:sp>
      <p:sp>
        <p:nvSpPr>
          <p:cNvPr id="7" name="Θέση αριθμού διαφάνειας 6"/>
          <p:cNvSpPr>
            <a:spLocks noGrp="1"/>
          </p:cNvSpPr>
          <p:nvPr>
            <p:ph type="sldNum" sz="quarter" idx="12"/>
          </p:nvPr>
        </p:nvSpPr>
        <p:spPr>
          <a:xfrm>
            <a:off x="11484864" y="6305550"/>
            <a:ext cx="609600" cy="476250"/>
          </a:xfrm>
          <a:prstGeom prst="rect">
            <a:avLst/>
          </a:prstGeom>
        </p:spPr>
        <p:txBody>
          <a:bodyPr rtlCol="0"/>
          <a:lstStyle/>
          <a:p>
            <a:pPr rtl="0"/>
            <a:fld id="{401CF334-2D5C-4859-84A6-CA7E6E43FAEB}" type="slidenum">
              <a:rPr lang="el-GR" noProof="0" smtClean="0"/>
              <a:t>‹#›</a:t>
            </a:fld>
            <a:endParaRPr lang="el-GR" noProof="0" dirty="0"/>
          </a:p>
        </p:txBody>
      </p:sp>
    </p:spTree>
    <p:extLst>
      <p:ext uri="{BB962C8B-B14F-4D97-AF65-F5344CB8AC3E}">
        <p14:creationId xmlns:p14="http://schemas.microsoft.com/office/powerpoint/2010/main" val="3078451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Σύγκριση">
    <p:bg>
      <p:bgPr>
        <a:solidFill>
          <a:schemeClr val="bg2">
            <a:lumMod val="90000"/>
          </a:schemeClr>
        </a:solidFill>
        <a:effectLst/>
      </p:bgPr>
    </p:bg>
    <p:spTree>
      <p:nvGrpSpPr>
        <p:cNvPr id="1" name=""/>
        <p:cNvGrpSpPr/>
        <p:nvPr/>
      </p:nvGrpSpPr>
      <p:grpSpPr>
        <a:xfrm>
          <a:off x="0" y="0"/>
          <a:ext cx="0" cy="0"/>
          <a:chOff x="0" y="0"/>
          <a:chExt cx="0" cy="0"/>
        </a:xfrm>
      </p:grpSpPr>
      <p:sp>
        <p:nvSpPr>
          <p:cNvPr id="2" name="Τίτλος 1"/>
          <p:cNvSpPr>
            <a:spLocks noGrp="1"/>
          </p:cNvSpPr>
          <p:nvPr>
            <p:ph type="title" hasCustomPrompt="1"/>
          </p:nvPr>
        </p:nvSpPr>
        <p:spPr>
          <a:xfrm>
            <a:off x="609600" y="5160336"/>
            <a:ext cx="10972800" cy="1143000"/>
          </a:xfrm>
          <a:prstGeom prst="rect">
            <a:avLst/>
          </a:prstGeom>
        </p:spPr>
        <p:txBody>
          <a:bodyPr rtlCol="0" anchor="ctr"/>
          <a:lstStyle>
            <a:lvl1pPr algn="ctr" rtl="0">
              <a:defRPr sz="4500" b="1" cap="none" baseline="0"/>
            </a:lvl1pPr>
            <a:extLst/>
          </a:lstStyle>
          <a:p>
            <a:pPr rtl="0"/>
            <a:r>
              <a:rPr lang="el-GR" noProof="0" dirty="0"/>
              <a:t>Κάντε κλικ για να επεξεργαστείτε το Στυλ υποδείγματος τίτλου</a:t>
            </a:r>
          </a:p>
        </p:txBody>
      </p:sp>
      <p:sp>
        <p:nvSpPr>
          <p:cNvPr id="3" name="Θέση κειμένου 2"/>
          <p:cNvSpPr>
            <a:spLocks noGrp="1"/>
          </p:cNvSpPr>
          <p:nvPr>
            <p:ph type="body" idx="1"/>
          </p:nvPr>
        </p:nvSpPr>
        <p:spPr>
          <a:xfrm>
            <a:off x="609600" y="328278"/>
            <a:ext cx="5364480" cy="640080"/>
          </a:xfrm>
          <a:prstGeom prst="rect">
            <a:avLst/>
          </a:prstGeom>
          <a:noFill/>
          <a:ln w="10795">
            <a:solidFill>
              <a:schemeClr val="bg1"/>
            </a:solidFill>
            <a:miter lim="800000"/>
          </a:ln>
        </p:spPr>
        <p:txBody>
          <a:bodyPr rtlCol="0" anchor="ctr"/>
          <a:lstStyle>
            <a:lvl1pPr marL="64008" indent="0" algn="l">
              <a:lnSpc>
                <a:spcPct val="100000"/>
              </a:lnSpc>
              <a:spcBef>
                <a:spcPts val="100"/>
              </a:spcBef>
              <a:buNone/>
              <a:defRPr sz="1900" b="1">
                <a:solidFill>
                  <a:schemeClr val="accent1">
                    <a:lumMod val="50000"/>
                  </a:schemeClr>
                </a:solidFill>
              </a:defRPr>
            </a:lvl1pPr>
            <a:lvl2pPr>
              <a:buNone/>
              <a:defRPr sz="2000" b="1"/>
            </a:lvl2pPr>
            <a:lvl3pPr>
              <a:buNone/>
              <a:defRPr sz="1800" b="1"/>
            </a:lvl3pPr>
            <a:lvl4pPr>
              <a:buNone/>
              <a:defRPr sz="1600" b="1"/>
            </a:lvl4pPr>
            <a:lvl5pPr>
              <a:buNone/>
              <a:defRPr sz="1600" b="1"/>
            </a:lvl5pPr>
            <a:extLst/>
          </a:lstStyle>
          <a:p>
            <a:pPr lvl="0" rtl="0" eaLnBrk="1" latinLnBrk="0" hangingPunct="1"/>
            <a:r>
              <a:rPr lang="el-GR" noProof="0"/>
              <a:t>Στυλ κειμένου υποδείγματος</a:t>
            </a:r>
          </a:p>
        </p:txBody>
      </p:sp>
      <p:sp>
        <p:nvSpPr>
          <p:cNvPr id="5" name="Θέση περιεχομένου 4"/>
          <p:cNvSpPr>
            <a:spLocks noGrp="1"/>
          </p:cNvSpPr>
          <p:nvPr>
            <p:ph sz="quarter" idx="2"/>
          </p:nvPr>
        </p:nvSpPr>
        <p:spPr>
          <a:xfrm>
            <a:off x="609600" y="969336"/>
            <a:ext cx="5364480" cy="4114800"/>
          </a:xfrm>
          <a:prstGeom prst="rect">
            <a:avLst/>
          </a:prstGeom>
          <a:ln w="10795">
            <a:solidFill>
              <a:schemeClr val="bg1"/>
            </a:solidFill>
            <a:prstDash val="dash"/>
            <a:miter lim="800000"/>
          </a:ln>
        </p:spPr>
        <p:txBody>
          <a:bodyPr rtlCol="0"/>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rtl="0" eaLnBrk="1" latinLnBrk="0" hangingPunct="1"/>
            <a:r>
              <a:rPr lang="el-GR" noProof="0"/>
              <a:t>Στυλ κειμένου υποδείγματος</a:t>
            </a:r>
          </a:p>
          <a:p>
            <a:pPr lvl="1" rtl="0" eaLnBrk="1" latinLnBrk="0" hangingPunct="1"/>
            <a:r>
              <a:rPr lang="el-GR" noProof="0"/>
              <a:t>Δεύτερο επίπεδο</a:t>
            </a:r>
          </a:p>
          <a:p>
            <a:pPr lvl="2" rtl="0" eaLnBrk="1" latinLnBrk="0" hangingPunct="1"/>
            <a:r>
              <a:rPr lang="el-GR" noProof="0"/>
              <a:t>Τρίτο επίπεδο</a:t>
            </a:r>
          </a:p>
          <a:p>
            <a:pPr lvl="3" rtl="0" eaLnBrk="1" latinLnBrk="0" hangingPunct="1"/>
            <a:r>
              <a:rPr lang="el-GR" noProof="0"/>
              <a:t>Τέταρτο επίπεδο</a:t>
            </a:r>
          </a:p>
          <a:p>
            <a:pPr lvl="4" rtl="0" eaLnBrk="1" latinLnBrk="0" hangingPunct="1"/>
            <a:r>
              <a:rPr lang="el-GR" noProof="0"/>
              <a:t>Πέμπτο επίπεδο</a:t>
            </a:r>
            <a:endParaRPr kumimoji="0" lang="el-GR" noProof="0" dirty="0"/>
          </a:p>
        </p:txBody>
      </p:sp>
      <p:sp>
        <p:nvSpPr>
          <p:cNvPr id="4" name="Θέση κειμένου 3"/>
          <p:cNvSpPr>
            <a:spLocks noGrp="1"/>
          </p:cNvSpPr>
          <p:nvPr>
            <p:ph type="body" sz="half" idx="3"/>
          </p:nvPr>
        </p:nvSpPr>
        <p:spPr>
          <a:xfrm>
            <a:off x="6217920" y="328278"/>
            <a:ext cx="5364480" cy="640080"/>
          </a:xfrm>
          <a:prstGeom prst="rect">
            <a:avLst/>
          </a:prstGeom>
          <a:noFill/>
          <a:ln w="10795">
            <a:solidFill>
              <a:schemeClr val="bg1"/>
            </a:solidFill>
            <a:miter lim="800000"/>
          </a:ln>
        </p:spPr>
        <p:txBody>
          <a:bodyPr rtlCol="0" anchor="ctr"/>
          <a:lstStyle>
            <a:lvl1pPr marL="64008" indent="0" algn="l">
              <a:lnSpc>
                <a:spcPct val="100000"/>
              </a:lnSpc>
              <a:spcBef>
                <a:spcPts val="100"/>
              </a:spcBef>
              <a:buNone/>
              <a:defRPr sz="1900" b="1">
                <a:solidFill>
                  <a:schemeClr val="accent1">
                    <a:lumMod val="50000"/>
                  </a:schemeClr>
                </a:solidFill>
              </a:defRPr>
            </a:lvl1pPr>
            <a:lvl2pPr>
              <a:buNone/>
              <a:defRPr sz="2000" b="1"/>
            </a:lvl2pPr>
            <a:lvl3pPr>
              <a:buNone/>
              <a:defRPr sz="1800" b="1"/>
            </a:lvl3pPr>
            <a:lvl4pPr>
              <a:buNone/>
              <a:defRPr sz="1600" b="1"/>
            </a:lvl4pPr>
            <a:lvl5pPr>
              <a:buNone/>
              <a:defRPr sz="1600" b="1"/>
            </a:lvl5pPr>
            <a:extLst/>
          </a:lstStyle>
          <a:p>
            <a:pPr lvl="0" rtl="0" eaLnBrk="1" latinLnBrk="0" hangingPunct="1"/>
            <a:r>
              <a:rPr lang="el-GR" noProof="0"/>
              <a:t>Στυλ κειμένου υποδείγματος</a:t>
            </a:r>
          </a:p>
        </p:txBody>
      </p:sp>
      <p:sp>
        <p:nvSpPr>
          <p:cNvPr id="6" name="Θέση περιεχομένου 5"/>
          <p:cNvSpPr>
            <a:spLocks noGrp="1"/>
          </p:cNvSpPr>
          <p:nvPr>
            <p:ph sz="quarter" idx="4"/>
          </p:nvPr>
        </p:nvSpPr>
        <p:spPr>
          <a:xfrm>
            <a:off x="6217920" y="969336"/>
            <a:ext cx="5364480" cy="4114800"/>
          </a:xfrm>
          <a:prstGeom prst="rect">
            <a:avLst/>
          </a:prstGeom>
          <a:ln w="10795">
            <a:solidFill>
              <a:schemeClr val="bg1"/>
            </a:solidFill>
            <a:prstDash val="dash"/>
            <a:miter lim="800000"/>
          </a:ln>
        </p:spPr>
        <p:txBody>
          <a:bodyPr rtlCol="0"/>
          <a:lstStyle>
            <a:lvl1pPr marL="393192" indent="-274320">
              <a:lnSpc>
                <a:spcPct val="100000"/>
              </a:lnSpc>
              <a:spcBef>
                <a:spcPts val="700"/>
              </a:spcBef>
              <a:defRPr sz="2400"/>
            </a:lvl1pPr>
            <a:lvl2pPr>
              <a:lnSpc>
                <a:spcPct val="100000"/>
              </a:lnSpc>
              <a:spcBef>
                <a:spcPts val="700"/>
              </a:spcBef>
              <a:defRPr sz="2000"/>
            </a:lvl2pPr>
            <a:lvl3pPr>
              <a:lnSpc>
                <a:spcPct val="100000"/>
              </a:lnSpc>
              <a:spcBef>
                <a:spcPts val="700"/>
              </a:spcBef>
              <a:defRPr sz="1800"/>
            </a:lvl3pPr>
            <a:lvl4pPr>
              <a:lnSpc>
                <a:spcPct val="100000"/>
              </a:lnSpc>
              <a:spcBef>
                <a:spcPts val="700"/>
              </a:spcBef>
              <a:defRPr sz="1600"/>
            </a:lvl4pPr>
            <a:lvl5pPr>
              <a:lnSpc>
                <a:spcPct val="100000"/>
              </a:lnSpc>
              <a:spcBef>
                <a:spcPts val="700"/>
              </a:spcBef>
              <a:defRPr sz="1600"/>
            </a:lvl5pPr>
            <a:extLst/>
          </a:lstStyle>
          <a:p>
            <a:pPr lvl="0" rtl="0" eaLnBrk="1" latinLnBrk="0" hangingPunct="1"/>
            <a:r>
              <a:rPr lang="el-GR" noProof="0"/>
              <a:t>Στυλ κειμένου υποδείγματος</a:t>
            </a:r>
          </a:p>
          <a:p>
            <a:pPr lvl="1" rtl="0" eaLnBrk="1" latinLnBrk="0" hangingPunct="1"/>
            <a:r>
              <a:rPr lang="el-GR" noProof="0"/>
              <a:t>Δεύτερο επίπεδο</a:t>
            </a:r>
          </a:p>
          <a:p>
            <a:pPr lvl="2" rtl="0" eaLnBrk="1" latinLnBrk="0" hangingPunct="1"/>
            <a:r>
              <a:rPr lang="el-GR" noProof="0"/>
              <a:t>Τρίτο επίπεδο</a:t>
            </a:r>
          </a:p>
          <a:p>
            <a:pPr lvl="3" rtl="0" eaLnBrk="1" latinLnBrk="0" hangingPunct="1"/>
            <a:r>
              <a:rPr lang="el-GR" noProof="0"/>
              <a:t>Τέταρτο επίπεδο</a:t>
            </a:r>
          </a:p>
          <a:p>
            <a:pPr lvl="4" rtl="0" eaLnBrk="1" latinLnBrk="0" hangingPunct="1"/>
            <a:r>
              <a:rPr lang="el-GR" noProof="0"/>
              <a:t>Πέμπτο επίπεδο</a:t>
            </a:r>
            <a:endParaRPr kumimoji="0" lang="el-GR" noProof="0" dirty="0"/>
          </a:p>
        </p:txBody>
      </p:sp>
      <p:sp>
        <p:nvSpPr>
          <p:cNvPr id="7" name="Θέση ημερομηνίας 6"/>
          <p:cNvSpPr>
            <a:spLocks noGrp="1"/>
          </p:cNvSpPr>
          <p:nvPr>
            <p:ph type="dt" sz="half" idx="10"/>
          </p:nvPr>
        </p:nvSpPr>
        <p:spPr>
          <a:xfrm>
            <a:off x="4775200" y="6305550"/>
            <a:ext cx="2844800" cy="476250"/>
          </a:xfrm>
          <a:prstGeom prst="rect">
            <a:avLst/>
          </a:prstGeom>
        </p:spPr>
        <p:txBody>
          <a:bodyPr rtlCol="0"/>
          <a:lstStyle/>
          <a:p>
            <a:pPr rtl="0"/>
            <a:fld id="{329B80AE-2B76-4929-964A-0A229FD530CB}" type="datetime1">
              <a:rPr lang="el-GR" noProof="0" smtClean="0"/>
              <a:t>15/2/2025</a:t>
            </a:fld>
            <a:endParaRPr lang="el-GR" noProof="0" dirty="0"/>
          </a:p>
        </p:txBody>
      </p:sp>
      <p:sp>
        <p:nvSpPr>
          <p:cNvPr id="8" name="Θέση υποσέλιδου 7"/>
          <p:cNvSpPr>
            <a:spLocks noGrp="1"/>
          </p:cNvSpPr>
          <p:nvPr>
            <p:ph type="ftr" sz="quarter" idx="11"/>
          </p:nvPr>
        </p:nvSpPr>
        <p:spPr>
          <a:xfrm>
            <a:off x="7620000" y="6305550"/>
            <a:ext cx="3860800" cy="476250"/>
          </a:xfrm>
          <a:prstGeom prst="rect">
            <a:avLst/>
          </a:prstGeom>
        </p:spPr>
        <p:txBody>
          <a:bodyPr rtlCol="0"/>
          <a:lstStyle/>
          <a:p>
            <a:pPr rtl="0"/>
            <a:r>
              <a:rPr lang="el-GR" noProof="0" dirty="0"/>
              <a:t>Προσθήκη υποσέλιδου</a:t>
            </a:r>
          </a:p>
        </p:txBody>
      </p:sp>
      <p:sp>
        <p:nvSpPr>
          <p:cNvPr id="9" name="Θέση αριθμού διαφάνειας 8"/>
          <p:cNvSpPr>
            <a:spLocks noGrp="1"/>
          </p:cNvSpPr>
          <p:nvPr>
            <p:ph type="sldNum" sz="quarter" idx="12"/>
          </p:nvPr>
        </p:nvSpPr>
        <p:spPr>
          <a:xfrm>
            <a:off x="11484864" y="6305550"/>
            <a:ext cx="609600" cy="476250"/>
          </a:xfrm>
          <a:prstGeom prst="rect">
            <a:avLst/>
          </a:prstGeom>
        </p:spPr>
        <p:txBody>
          <a:bodyPr rtlCol="0"/>
          <a:lstStyle/>
          <a:p>
            <a:pPr rtl="0"/>
            <a:fld id="{401CF334-2D5C-4859-84A6-CA7E6E43FAEB}" type="slidenum">
              <a:rPr lang="el-GR" noProof="0" smtClean="0"/>
              <a:t>‹#›</a:t>
            </a:fld>
            <a:endParaRPr lang="el-GR" noProof="0" dirty="0"/>
          </a:p>
        </p:txBody>
      </p:sp>
    </p:spTree>
    <p:extLst>
      <p:ext uri="{BB962C8B-B14F-4D97-AF65-F5344CB8AC3E}">
        <p14:creationId xmlns:p14="http://schemas.microsoft.com/office/powerpoint/2010/main" val="2358931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0" orient="horz" pos="2160" userDrawn="1">
          <p15:clr>
            <a:srgbClr val="FBAE40"/>
          </p15:clr>
        </p15:guide>
        <p15:guide id="1" pos="384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Μόνο τίτλος">
    <p:spTree>
      <p:nvGrpSpPr>
        <p:cNvPr id="1" name=""/>
        <p:cNvGrpSpPr/>
        <p:nvPr/>
      </p:nvGrpSpPr>
      <p:grpSpPr>
        <a:xfrm>
          <a:off x="0" y="0"/>
          <a:ext cx="0" cy="0"/>
          <a:chOff x="0" y="0"/>
          <a:chExt cx="0" cy="0"/>
        </a:xfrm>
      </p:grpSpPr>
      <p:sp>
        <p:nvSpPr>
          <p:cNvPr id="2" name="Τίτλος 1"/>
          <p:cNvSpPr>
            <a:spLocks noGrp="1"/>
          </p:cNvSpPr>
          <p:nvPr>
            <p:ph type="title" hasCustomPrompt="1"/>
          </p:nvPr>
        </p:nvSpPr>
        <p:spPr>
          <a:xfrm>
            <a:off x="1914144" y="274320"/>
            <a:ext cx="9997440" cy="1143000"/>
          </a:xfrm>
          <a:prstGeom prst="rect">
            <a:avLst/>
          </a:prstGeom>
        </p:spPr>
        <p:txBody>
          <a:bodyPr rtlCol="0" anchor="ctr"/>
          <a:lstStyle>
            <a:lvl1pPr rtl="0">
              <a:defRPr/>
            </a:lvl1pPr>
          </a:lstStyle>
          <a:p>
            <a:pPr rtl="0"/>
            <a:r>
              <a:rPr lang="el-GR" noProof="0" dirty="0"/>
              <a:t>Κάντε κλικ για να επεξεργαστείτε το Στυλ υποδείγματος τίτλου</a:t>
            </a:r>
          </a:p>
        </p:txBody>
      </p:sp>
      <p:sp>
        <p:nvSpPr>
          <p:cNvPr id="3" name="Θέση ημερομηνίας 2"/>
          <p:cNvSpPr>
            <a:spLocks noGrp="1"/>
          </p:cNvSpPr>
          <p:nvPr>
            <p:ph type="dt" sz="half" idx="10"/>
          </p:nvPr>
        </p:nvSpPr>
        <p:spPr>
          <a:xfrm>
            <a:off x="4775200" y="6305550"/>
            <a:ext cx="2844800" cy="476250"/>
          </a:xfrm>
          <a:prstGeom prst="rect">
            <a:avLst/>
          </a:prstGeom>
        </p:spPr>
        <p:txBody>
          <a:bodyPr rtlCol="0"/>
          <a:lstStyle/>
          <a:p>
            <a:pPr rtl="0"/>
            <a:fld id="{D6BA3D0A-0144-434E-B884-53AB773DB4EA}" type="datetime1">
              <a:rPr lang="el-GR" noProof="0" smtClean="0"/>
              <a:t>15/2/2025</a:t>
            </a:fld>
            <a:endParaRPr lang="el-GR" noProof="0" dirty="0"/>
          </a:p>
        </p:txBody>
      </p:sp>
      <p:sp>
        <p:nvSpPr>
          <p:cNvPr id="4" name="Θέση υποσέλιδου 3"/>
          <p:cNvSpPr>
            <a:spLocks noGrp="1"/>
          </p:cNvSpPr>
          <p:nvPr>
            <p:ph type="ftr" sz="quarter" idx="11"/>
          </p:nvPr>
        </p:nvSpPr>
        <p:spPr>
          <a:xfrm>
            <a:off x="7620000" y="6305550"/>
            <a:ext cx="3860800" cy="476250"/>
          </a:xfrm>
          <a:prstGeom prst="rect">
            <a:avLst/>
          </a:prstGeom>
        </p:spPr>
        <p:txBody>
          <a:bodyPr rtlCol="0"/>
          <a:lstStyle/>
          <a:p>
            <a:pPr rtl="0"/>
            <a:r>
              <a:rPr lang="el-GR" noProof="0" dirty="0"/>
              <a:t>Προσθήκη υποσέλιδου</a:t>
            </a:r>
          </a:p>
        </p:txBody>
      </p:sp>
      <p:sp>
        <p:nvSpPr>
          <p:cNvPr id="5" name="Θέση αριθμού διαφάνειας 4"/>
          <p:cNvSpPr>
            <a:spLocks noGrp="1"/>
          </p:cNvSpPr>
          <p:nvPr>
            <p:ph type="sldNum" sz="quarter" idx="12"/>
          </p:nvPr>
        </p:nvSpPr>
        <p:spPr>
          <a:xfrm>
            <a:off x="11484864" y="6305550"/>
            <a:ext cx="609600" cy="476250"/>
          </a:xfrm>
          <a:prstGeom prst="rect">
            <a:avLst/>
          </a:prstGeom>
        </p:spPr>
        <p:txBody>
          <a:bodyPr rtlCol="0"/>
          <a:lstStyle/>
          <a:p>
            <a:pPr rtl="0"/>
            <a:fld id="{401CF334-2D5C-4859-84A6-CA7E6E43FAEB}" type="slidenum">
              <a:rPr lang="el-GR" noProof="0" smtClean="0"/>
              <a:t>‹#›</a:t>
            </a:fld>
            <a:endParaRPr lang="el-GR" noProof="0" dirty="0"/>
          </a:p>
        </p:txBody>
      </p:sp>
    </p:spTree>
    <p:extLst>
      <p:ext uri="{BB962C8B-B14F-4D97-AF65-F5344CB8AC3E}">
        <p14:creationId xmlns:p14="http://schemas.microsoft.com/office/powerpoint/2010/main" val="860658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Κενό">
    <p:spTree>
      <p:nvGrpSpPr>
        <p:cNvPr id="1" name=""/>
        <p:cNvGrpSpPr/>
        <p:nvPr/>
      </p:nvGrpSpPr>
      <p:grpSpPr>
        <a:xfrm>
          <a:off x="0" y="0"/>
          <a:ext cx="0" cy="0"/>
          <a:chOff x="0" y="0"/>
          <a:chExt cx="0" cy="0"/>
        </a:xfrm>
      </p:grpSpPr>
      <p:sp>
        <p:nvSpPr>
          <p:cNvPr id="2" name="Θέση ημερομηνίας 1"/>
          <p:cNvSpPr>
            <a:spLocks noGrp="1"/>
          </p:cNvSpPr>
          <p:nvPr>
            <p:ph type="dt" sz="half" idx="10"/>
          </p:nvPr>
        </p:nvSpPr>
        <p:spPr>
          <a:xfrm>
            <a:off x="4775200" y="6305550"/>
            <a:ext cx="2844800" cy="476250"/>
          </a:xfrm>
          <a:prstGeom prst="rect">
            <a:avLst/>
          </a:prstGeom>
        </p:spPr>
        <p:txBody>
          <a:bodyPr rtlCol="0"/>
          <a:lstStyle/>
          <a:p>
            <a:pPr rtl="0"/>
            <a:fld id="{73FF10BA-78E5-4FBD-8419-1752C0DEEFDB}" type="datetime1">
              <a:rPr lang="el-GR" noProof="0" smtClean="0"/>
              <a:t>15/2/2025</a:t>
            </a:fld>
            <a:endParaRPr lang="el-GR" noProof="0" dirty="0"/>
          </a:p>
        </p:txBody>
      </p:sp>
      <p:sp>
        <p:nvSpPr>
          <p:cNvPr id="3" name="Θέση υποσέλιδου 2"/>
          <p:cNvSpPr>
            <a:spLocks noGrp="1"/>
          </p:cNvSpPr>
          <p:nvPr>
            <p:ph type="ftr" sz="quarter" idx="11"/>
          </p:nvPr>
        </p:nvSpPr>
        <p:spPr>
          <a:xfrm>
            <a:off x="7620000" y="6305550"/>
            <a:ext cx="3860800" cy="476250"/>
          </a:xfrm>
          <a:prstGeom prst="rect">
            <a:avLst/>
          </a:prstGeom>
        </p:spPr>
        <p:txBody>
          <a:bodyPr rtlCol="0"/>
          <a:lstStyle/>
          <a:p>
            <a:pPr rtl="0"/>
            <a:r>
              <a:rPr lang="el-GR" noProof="0" dirty="0"/>
              <a:t>Προσθήκη υποσέλιδου</a:t>
            </a:r>
          </a:p>
        </p:txBody>
      </p:sp>
      <p:sp>
        <p:nvSpPr>
          <p:cNvPr id="4" name="Θέση αριθμού διαφάνειας 3"/>
          <p:cNvSpPr>
            <a:spLocks noGrp="1"/>
          </p:cNvSpPr>
          <p:nvPr>
            <p:ph type="sldNum" sz="quarter" idx="12"/>
          </p:nvPr>
        </p:nvSpPr>
        <p:spPr>
          <a:xfrm>
            <a:off x="11484864" y="6305550"/>
            <a:ext cx="609600" cy="476250"/>
          </a:xfrm>
          <a:prstGeom prst="rect">
            <a:avLst/>
          </a:prstGeom>
        </p:spPr>
        <p:txBody>
          <a:bodyPr rtlCol="0"/>
          <a:lstStyle/>
          <a:p>
            <a:pPr rtl="0"/>
            <a:fld id="{401CF334-2D5C-4859-84A6-CA7E6E43FAEB}" type="slidenum">
              <a:rPr lang="el-GR" noProof="0" smtClean="0"/>
              <a:t>‹#›</a:t>
            </a:fld>
            <a:endParaRPr lang="el-GR" noProof="0" dirty="0"/>
          </a:p>
        </p:txBody>
      </p:sp>
    </p:spTree>
    <p:extLst>
      <p:ext uri="{BB962C8B-B14F-4D97-AF65-F5344CB8AC3E}">
        <p14:creationId xmlns:p14="http://schemas.microsoft.com/office/powerpoint/2010/main" val="860977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Περιεχόμενο με λεζάντα">
    <p:bg>
      <p:bgPr>
        <a:solidFill>
          <a:schemeClr val="bg2">
            <a:lumMod val="90000"/>
          </a:schemeClr>
        </a:solidFill>
        <a:effectLst/>
      </p:bgPr>
    </p:bg>
    <p:spTree>
      <p:nvGrpSpPr>
        <p:cNvPr id="1" name=""/>
        <p:cNvGrpSpPr/>
        <p:nvPr/>
      </p:nvGrpSpPr>
      <p:grpSpPr>
        <a:xfrm>
          <a:off x="0" y="0"/>
          <a:ext cx="0" cy="0"/>
          <a:chOff x="0" y="0"/>
          <a:chExt cx="0" cy="0"/>
        </a:xfrm>
      </p:grpSpPr>
      <p:sp>
        <p:nvSpPr>
          <p:cNvPr id="2" name="Τίτλος 1"/>
          <p:cNvSpPr>
            <a:spLocks noGrp="1"/>
          </p:cNvSpPr>
          <p:nvPr>
            <p:ph type="title" hasCustomPrompt="1"/>
          </p:nvPr>
        </p:nvSpPr>
        <p:spPr>
          <a:xfrm>
            <a:off x="609600" y="216778"/>
            <a:ext cx="5080000" cy="1162050"/>
          </a:xfrm>
          <a:prstGeom prst="rect">
            <a:avLst/>
          </a:prstGeom>
          <a:ln>
            <a:noFill/>
          </a:ln>
        </p:spPr>
        <p:txBody>
          <a:bodyPr rtlCol="0" anchor="b"/>
          <a:lstStyle>
            <a:lvl1pPr algn="l" rtl="0">
              <a:lnSpc>
                <a:spcPts val="2000"/>
              </a:lnSpc>
              <a:buNone/>
              <a:defRPr sz="2200" b="1" cap="all" baseline="0"/>
            </a:lvl1pPr>
            <a:extLst/>
          </a:lstStyle>
          <a:p>
            <a:pPr rtl="0"/>
            <a:r>
              <a:rPr lang="el-GR" noProof="0" dirty="0"/>
              <a:t>Κάντε κλικ για να επεξεργαστείτε το Στυλ υποδείγματος τίτλου</a:t>
            </a:r>
          </a:p>
        </p:txBody>
      </p:sp>
      <p:sp>
        <p:nvSpPr>
          <p:cNvPr id="3" name="Θέση κειμένου 2"/>
          <p:cNvSpPr>
            <a:spLocks noGrp="1"/>
          </p:cNvSpPr>
          <p:nvPr>
            <p:ph type="body" idx="2"/>
          </p:nvPr>
        </p:nvSpPr>
        <p:spPr>
          <a:xfrm>
            <a:off x="609600" y="1406964"/>
            <a:ext cx="5080000" cy="698500"/>
          </a:xfrm>
          <a:prstGeom prst="rect">
            <a:avLst/>
          </a:prstGeom>
        </p:spPr>
        <p:txBody>
          <a:bodyPr rtlCol="0"/>
          <a:lstStyle>
            <a:lvl1pPr marL="45720" indent="0">
              <a:lnSpc>
                <a:spcPct val="100000"/>
              </a:lnSpc>
              <a:spcBef>
                <a:spcPts val="0"/>
              </a:spcBef>
              <a:buNone/>
              <a:defRPr sz="1400"/>
            </a:lvl1pPr>
            <a:lvl2pPr>
              <a:buNone/>
              <a:defRPr sz="1200"/>
            </a:lvl2pPr>
            <a:lvl3pPr>
              <a:buNone/>
              <a:defRPr sz="1000"/>
            </a:lvl3pPr>
            <a:lvl4pPr>
              <a:buNone/>
              <a:defRPr sz="900"/>
            </a:lvl4pPr>
            <a:lvl5pPr>
              <a:buNone/>
              <a:defRPr sz="900"/>
            </a:lvl5pPr>
            <a:extLst/>
          </a:lstStyle>
          <a:p>
            <a:pPr lvl="0" rtl="0" eaLnBrk="1" latinLnBrk="0" hangingPunct="1"/>
            <a:r>
              <a:rPr lang="el-GR" noProof="0"/>
              <a:t>Στυλ κειμένου υποδείγματος</a:t>
            </a:r>
          </a:p>
        </p:txBody>
      </p:sp>
      <p:sp>
        <p:nvSpPr>
          <p:cNvPr id="4" name="Θέση περιεχομένου 3"/>
          <p:cNvSpPr>
            <a:spLocks noGrp="1"/>
          </p:cNvSpPr>
          <p:nvPr>
            <p:ph sz="half" idx="1"/>
          </p:nvPr>
        </p:nvSpPr>
        <p:spPr>
          <a:xfrm>
            <a:off x="609600" y="2133601"/>
            <a:ext cx="10871200" cy="3992563"/>
          </a:xfrm>
          <a:prstGeom prst="rect">
            <a:avLst/>
          </a:prstGeom>
        </p:spPr>
        <p:txBody>
          <a:bodyPr rtlCol="0"/>
          <a:lstStyle>
            <a:lvl1pPr>
              <a:defRPr sz="3200"/>
            </a:lvl1pPr>
            <a:lvl2pPr>
              <a:defRPr sz="2800"/>
            </a:lvl2pPr>
            <a:lvl3pPr>
              <a:defRPr sz="2400"/>
            </a:lvl3pPr>
            <a:lvl4pPr>
              <a:defRPr sz="2000"/>
            </a:lvl4pPr>
            <a:lvl5pPr>
              <a:defRPr sz="2000"/>
            </a:lvl5pPr>
            <a:extLst/>
          </a:lstStyle>
          <a:p>
            <a:pPr lvl="0" rtl="0" eaLnBrk="1" latinLnBrk="0" hangingPunct="1"/>
            <a:r>
              <a:rPr lang="el-GR" noProof="0"/>
              <a:t>Στυλ κειμένου υποδείγματος</a:t>
            </a:r>
          </a:p>
          <a:p>
            <a:pPr lvl="1" rtl="0" eaLnBrk="1" latinLnBrk="0" hangingPunct="1"/>
            <a:r>
              <a:rPr lang="el-GR" noProof="0"/>
              <a:t>Δεύτερο επίπεδο</a:t>
            </a:r>
          </a:p>
          <a:p>
            <a:pPr lvl="2" rtl="0" eaLnBrk="1" latinLnBrk="0" hangingPunct="1"/>
            <a:r>
              <a:rPr lang="el-GR" noProof="0"/>
              <a:t>Τρίτο επίπεδο</a:t>
            </a:r>
          </a:p>
          <a:p>
            <a:pPr lvl="3" rtl="0" eaLnBrk="1" latinLnBrk="0" hangingPunct="1"/>
            <a:r>
              <a:rPr lang="el-GR" noProof="0"/>
              <a:t>Τέταρτο επίπεδο</a:t>
            </a:r>
          </a:p>
          <a:p>
            <a:pPr lvl="4" rtl="0" eaLnBrk="1" latinLnBrk="0" hangingPunct="1"/>
            <a:r>
              <a:rPr lang="el-GR" noProof="0"/>
              <a:t>Πέμπτο επίπεδο</a:t>
            </a:r>
            <a:endParaRPr kumimoji="0" lang="el-GR" noProof="0" dirty="0"/>
          </a:p>
        </p:txBody>
      </p:sp>
      <p:sp>
        <p:nvSpPr>
          <p:cNvPr id="5" name="Θέση ημερομηνίας 4"/>
          <p:cNvSpPr>
            <a:spLocks noGrp="1"/>
          </p:cNvSpPr>
          <p:nvPr>
            <p:ph type="dt" sz="half" idx="10"/>
          </p:nvPr>
        </p:nvSpPr>
        <p:spPr>
          <a:xfrm>
            <a:off x="4775200" y="6305550"/>
            <a:ext cx="2844800" cy="476250"/>
          </a:xfrm>
          <a:prstGeom prst="rect">
            <a:avLst/>
          </a:prstGeom>
        </p:spPr>
        <p:txBody>
          <a:bodyPr rtlCol="0"/>
          <a:lstStyle/>
          <a:p>
            <a:pPr rtl="0"/>
            <a:fld id="{89FD97E9-FFEB-43F9-AF21-51CE71A931B8}" type="datetime1">
              <a:rPr lang="el-GR" noProof="0" smtClean="0"/>
              <a:t>15/2/2025</a:t>
            </a:fld>
            <a:endParaRPr lang="el-GR" noProof="0" dirty="0"/>
          </a:p>
        </p:txBody>
      </p:sp>
      <p:sp>
        <p:nvSpPr>
          <p:cNvPr id="6" name="Θέση υποσέλιδου 5"/>
          <p:cNvSpPr>
            <a:spLocks noGrp="1"/>
          </p:cNvSpPr>
          <p:nvPr>
            <p:ph type="ftr" sz="quarter" idx="11"/>
          </p:nvPr>
        </p:nvSpPr>
        <p:spPr>
          <a:xfrm>
            <a:off x="7620000" y="6305550"/>
            <a:ext cx="3860800" cy="476250"/>
          </a:xfrm>
          <a:prstGeom prst="rect">
            <a:avLst/>
          </a:prstGeom>
        </p:spPr>
        <p:txBody>
          <a:bodyPr rtlCol="0"/>
          <a:lstStyle/>
          <a:p>
            <a:pPr rtl="0"/>
            <a:r>
              <a:rPr lang="el-GR" noProof="0" dirty="0"/>
              <a:t>Προσθήκη υποσέλιδου</a:t>
            </a:r>
          </a:p>
        </p:txBody>
      </p:sp>
      <p:sp>
        <p:nvSpPr>
          <p:cNvPr id="7" name="Θέση αριθμού διαφάνειας 6"/>
          <p:cNvSpPr>
            <a:spLocks noGrp="1"/>
          </p:cNvSpPr>
          <p:nvPr>
            <p:ph type="sldNum" sz="quarter" idx="12"/>
          </p:nvPr>
        </p:nvSpPr>
        <p:spPr>
          <a:xfrm>
            <a:off x="11484864" y="6305550"/>
            <a:ext cx="609600" cy="476250"/>
          </a:xfrm>
          <a:prstGeom prst="rect">
            <a:avLst/>
          </a:prstGeom>
        </p:spPr>
        <p:txBody>
          <a:bodyPr rtlCol="0"/>
          <a:lstStyle/>
          <a:p>
            <a:pPr rtl="0"/>
            <a:fld id="{401CF334-2D5C-4859-84A6-CA7E6E43FAEB}" type="slidenum">
              <a:rPr lang="el-GR" noProof="0" smtClean="0"/>
              <a:t>‹#›</a:t>
            </a:fld>
            <a:endParaRPr lang="el-GR" noProof="0" dirty="0"/>
          </a:p>
        </p:txBody>
      </p:sp>
    </p:spTree>
    <p:extLst>
      <p:ext uri="{BB962C8B-B14F-4D97-AF65-F5344CB8AC3E}">
        <p14:creationId xmlns:p14="http://schemas.microsoft.com/office/powerpoint/2010/main" val="542546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Εικόνα με λεζάντα">
    <p:bg>
      <p:bgPr>
        <a:solidFill>
          <a:schemeClr val="bg2">
            <a:lumMod val="90000"/>
          </a:schemeClr>
        </a:solidFill>
        <a:effectLst/>
      </p:bgPr>
    </p:bg>
    <p:spTree>
      <p:nvGrpSpPr>
        <p:cNvPr id="1" name=""/>
        <p:cNvGrpSpPr/>
        <p:nvPr/>
      </p:nvGrpSpPr>
      <p:grpSpPr>
        <a:xfrm>
          <a:off x="0" y="0"/>
          <a:ext cx="0" cy="0"/>
          <a:chOff x="0" y="0"/>
          <a:chExt cx="0" cy="0"/>
        </a:xfrm>
      </p:grpSpPr>
      <p:sp>
        <p:nvSpPr>
          <p:cNvPr id="2" name="Τίτλος 1"/>
          <p:cNvSpPr>
            <a:spLocks noGrp="1"/>
          </p:cNvSpPr>
          <p:nvPr>
            <p:ph type="title" hasCustomPrompt="1"/>
          </p:nvPr>
        </p:nvSpPr>
        <p:spPr>
          <a:xfrm>
            <a:off x="7849195" y="1066800"/>
            <a:ext cx="3657600" cy="1981200"/>
          </a:xfrm>
          <a:prstGeom prst="rect">
            <a:avLst/>
          </a:prstGeom>
        </p:spPr>
        <p:txBody>
          <a:bodyPr rtlCol="0" anchor="b">
            <a:noAutofit/>
          </a:bodyPr>
          <a:lstStyle>
            <a:lvl1pPr algn="l" rtl="0">
              <a:buNone/>
              <a:defRPr sz="2100" b="1">
                <a:effectLst/>
              </a:defRPr>
            </a:lvl1pPr>
            <a:extLst/>
          </a:lstStyle>
          <a:p>
            <a:pPr rtl="0"/>
            <a:r>
              <a:rPr lang="el-GR" noProof="0" dirty="0"/>
              <a:t>Κάντε κλικ για να επεξεργαστείτε το Στυλ υποδείγματος τίτλου</a:t>
            </a:r>
          </a:p>
        </p:txBody>
      </p:sp>
      <p:sp>
        <p:nvSpPr>
          <p:cNvPr id="8" name="Ορθογώνιο 7"/>
          <p:cNvSpPr/>
          <p:nvPr/>
        </p:nvSpPr>
        <p:spPr>
          <a:xfrm>
            <a:off x="1016000" y="1066800"/>
            <a:ext cx="6096000" cy="4572000"/>
          </a:xfrm>
          <a:prstGeom prst="rect">
            <a:avLst/>
          </a:prstGeom>
          <a:solidFill>
            <a:srgbClr val="FFFFFF"/>
          </a:solidFill>
          <a:ln w="88900" cap="sq">
            <a:solidFill>
              <a:srgbClr val="FFFFFF"/>
            </a:solidFill>
            <a:miter lim="800000"/>
          </a:ln>
          <a:effectLst>
            <a:outerShdw blurRad="55500" dist="18500" dir="5400000" algn="tl" rotWithShape="0">
              <a:srgbClr val="000000">
                <a:alpha val="35000"/>
              </a:srgbClr>
            </a:outerShdw>
          </a:effectLst>
          <a:scene3d>
            <a:camera prst="orthographicFront"/>
            <a:lightRig rig="twoPt" dir="t">
              <a:rot lat="0" lon="0" rev="7200000"/>
            </a:lightRig>
          </a:scene3d>
          <a:sp3d contourW="635">
            <a:bevelT w="25400" h="19050"/>
            <a:contourClr>
              <a:srgbClr val="969696"/>
            </a:contourClr>
          </a:sp3d>
        </p:spPr>
        <p:txBody>
          <a:bodyPr lIns="91440" tIns="274320" rtlCol="0" anchor="t">
            <a:normAutofit/>
          </a:bodyPr>
          <a:lstStyle/>
          <a:p>
            <a:pPr marL="0" indent="-283464" algn="l" rtl="0" eaLnBrk="1" latinLnBrk="0" hangingPunct="1">
              <a:lnSpc>
                <a:spcPts val="3000"/>
              </a:lnSpc>
              <a:spcBef>
                <a:spcPts val="600"/>
              </a:spcBef>
              <a:buClr>
                <a:schemeClr val="accent1"/>
              </a:buClr>
              <a:buSzPct val="80000"/>
              <a:buFont typeface="Wingdings 2"/>
              <a:buNone/>
            </a:pPr>
            <a:endParaRPr kumimoji="0" lang="el-GR" sz="3200" kern="1200" noProof="0" dirty="0">
              <a:solidFill>
                <a:schemeClr val="tx1"/>
              </a:solidFill>
              <a:latin typeface="+mn-lt"/>
              <a:ea typeface="+mn-ea"/>
              <a:cs typeface="+mn-cs"/>
            </a:endParaRPr>
          </a:p>
        </p:txBody>
      </p:sp>
      <p:sp>
        <p:nvSpPr>
          <p:cNvPr id="3" name="Θέση εικόνας 2" descr="Ένα κενό πλαίσιο κράτησης θέσης, για να προσθέσετε μια εικόνα. Κάντε κλικ στο πλαίσιο κράτησης θέσης και επιλέξτε την εικόνα που θέλετε να προσθέσετε"/>
          <p:cNvSpPr>
            <a:spLocks noGrp="1"/>
          </p:cNvSpPr>
          <p:nvPr>
            <p:ph type="pic" idx="1"/>
          </p:nvPr>
        </p:nvSpPr>
        <p:spPr>
          <a:xfrm>
            <a:off x="1117600" y="1143004"/>
            <a:ext cx="5892800" cy="3514531"/>
          </a:xfrm>
          <a:prstGeom prst="roundRect">
            <a:avLst>
              <a:gd name="adj" fmla="val 783"/>
            </a:avLst>
          </a:prstGeom>
          <a:solidFill>
            <a:schemeClr val="bg2"/>
          </a:solidFill>
          <a:ln w="127000">
            <a:noFill/>
            <a:miter lim="800000"/>
          </a:ln>
          <a:effectLst/>
        </p:spPr>
        <p:txBody>
          <a:bodyPr lIns="91440" tIns="274320" rtlCol="0" anchor="t"/>
          <a:lstStyle>
            <a:lvl1pPr marL="0" indent="0" algn="l" eaLnBrk="1" latinLnBrk="0" hangingPunct="1">
              <a:buNone/>
              <a:defRPr sz="3200"/>
            </a:lvl1pPr>
            <a:extLst/>
          </a:lstStyle>
          <a:p>
            <a:pPr marL="0" algn="l" rtl="0" eaLnBrk="1" latinLnBrk="0" hangingPunct="1"/>
            <a:r>
              <a:rPr lang="el-GR" noProof="0"/>
              <a:t>Κάντε κλικ στο εικονίδιο για να προσθέσετε εικόνα</a:t>
            </a:r>
            <a:endParaRPr kumimoji="0" lang="el-GR" noProof="0" dirty="0"/>
          </a:p>
        </p:txBody>
      </p:sp>
      <p:sp>
        <p:nvSpPr>
          <p:cNvPr id="9" name="Ορθογώνιο 1"/>
          <p:cNvSpPr/>
          <p:nvPr/>
        </p:nvSpPr>
        <p:spPr>
          <a:xfrm rot="19468671">
            <a:off x="528967" y="954341"/>
            <a:ext cx="914400"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shade val="90000"/>
                <a:satMod val="200000"/>
                <a:alpha val="40000"/>
              </a:schemeClr>
            </a:outerShdw>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l-GR" sz="1800" noProof="0" dirty="0"/>
          </a:p>
        </p:txBody>
      </p:sp>
      <p:sp>
        <p:nvSpPr>
          <p:cNvPr id="10" name="Ορθογώνιο 2"/>
          <p:cNvSpPr/>
          <p:nvPr/>
        </p:nvSpPr>
        <p:spPr>
          <a:xfrm rot="2103354" flipH="1">
            <a:off x="6671556" y="936786"/>
            <a:ext cx="865632" cy="204310"/>
          </a:xfrm>
          <a:prstGeom prst="flowChartProcess">
            <a:avLst/>
          </a:prstGeom>
          <a:solidFill>
            <a:srgbClr val="FBFBFB">
              <a:alpha val="45098"/>
            </a:srgbClr>
          </a:solidFill>
          <a:ln w="6350" cap="rnd" cmpd="sng" algn="ctr">
            <a:solidFill>
              <a:srgbClr val="FFFFFF">
                <a:alpha val="100000"/>
              </a:srgbClr>
            </a:solidFill>
            <a:prstDash val="solid"/>
          </a:ln>
          <a:effectLst>
            <a:outerShdw blurRad="25400" dist="25400" dir="3300000" sx="96000" sy="96000" algn="tl" rotWithShape="0">
              <a:schemeClr val="bg2">
                <a:alpha val="20000"/>
              </a:schemeClr>
            </a:outerShdw>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l-GR" sz="1800" noProof="0" dirty="0"/>
          </a:p>
        </p:txBody>
      </p:sp>
      <p:sp>
        <p:nvSpPr>
          <p:cNvPr id="4" name="Θέση κειμένου 3"/>
          <p:cNvSpPr>
            <a:spLocks noGrp="1"/>
          </p:cNvSpPr>
          <p:nvPr>
            <p:ph type="body" sz="half" idx="2"/>
          </p:nvPr>
        </p:nvSpPr>
        <p:spPr>
          <a:xfrm>
            <a:off x="1117600" y="4800600"/>
            <a:ext cx="5892800" cy="762000"/>
          </a:xfrm>
          <a:prstGeom prst="rect">
            <a:avLst/>
          </a:prstGeom>
        </p:spPr>
        <p:txBody>
          <a:bodyPr rtlCol="0" anchor="ctr"/>
          <a:lstStyle>
            <a:lvl1pPr marL="0" indent="0" algn="l">
              <a:lnSpc>
                <a:spcPts val="1600"/>
              </a:lnSpc>
              <a:spcBef>
                <a:spcPts val="0"/>
              </a:spcBef>
              <a:buNone/>
              <a:defRPr sz="1400">
                <a:solidFill>
                  <a:srgbClr val="777777"/>
                </a:solidFill>
              </a:defRPr>
            </a:lvl1pPr>
            <a:lvl2pPr>
              <a:defRPr sz="1200"/>
            </a:lvl2pPr>
            <a:lvl3pPr>
              <a:defRPr sz="1000"/>
            </a:lvl3pPr>
            <a:lvl4pPr>
              <a:defRPr sz="900"/>
            </a:lvl4pPr>
            <a:lvl5pPr>
              <a:defRPr sz="900"/>
            </a:lvl5pPr>
            <a:extLst/>
          </a:lstStyle>
          <a:p>
            <a:pPr lvl="0" rtl="0" eaLnBrk="1" latinLnBrk="0" hangingPunct="1"/>
            <a:r>
              <a:rPr lang="el-GR" noProof="0"/>
              <a:t>Στυλ κειμένου υποδείγματος</a:t>
            </a:r>
          </a:p>
        </p:txBody>
      </p:sp>
      <p:sp>
        <p:nvSpPr>
          <p:cNvPr id="5" name="Θέση ημερομηνίας 4"/>
          <p:cNvSpPr>
            <a:spLocks noGrp="1"/>
          </p:cNvSpPr>
          <p:nvPr>
            <p:ph type="dt" sz="half" idx="10"/>
          </p:nvPr>
        </p:nvSpPr>
        <p:spPr>
          <a:xfrm>
            <a:off x="4775200" y="6305550"/>
            <a:ext cx="2844800" cy="476250"/>
          </a:xfrm>
          <a:prstGeom prst="rect">
            <a:avLst/>
          </a:prstGeom>
        </p:spPr>
        <p:txBody>
          <a:bodyPr rtlCol="0"/>
          <a:lstStyle/>
          <a:p>
            <a:pPr rtl="0"/>
            <a:fld id="{723BF336-4F3E-4A55-9120-A0913103F439}" type="datetime1">
              <a:rPr lang="el-GR" noProof="0" smtClean="0"/>
              <a:t>15/2/2025</a:t>
            </a:fld>
            <a:endParaRPr lang="el-GR" noProof="0" dirty="0"/>
          </a:p>
        </p:txBody>
      </p:sp>
      <p:sp>
        <p:nvSpPr>
          <p:cNvPr id="6" name="Θέση υποσέλιδου 5"/>
          <p:cNvSpPr>
            <a:spLocks noGrp="1"/>
          </p:cNvSpPr>
          <p:nvPr>
            <p:ph type="ftr" sz="quarter" idx="11"/>
          </p:nvPr>
        </p:nvSpPr>
        <p:spPr>
          <a:xfrm>
            <a:off x="7620000" y="6305550"/>
            <a:ext cx="3860800" cy="476250"/>
          </a:xfrm>
          <a:prstGeom prst="rect">
            <a:avLst/>
          </a:prstGeom>
        </p:spPr>
        <p:txBody>
          <a:bodyPr rtlCol="0"/>
          <a:lstStyle/>
          <a:p>
            <a:pPr rtl="0"/>
            <a:r>
              <a:rPr lang="el-GR" noProof="0" dirty="0"/>
              <a:t>Προσθήκη υποσέλιδου</a:t>
            </a:r>
          </a:p>
        </p:txBody>
      </p:sp>
      <p:sp>
        <p:nvSpPr>
          <p:cNvPr id="7" name="Θέση αριθμού διαφάνειας 6"/>
          <p:cNvSpPr>
            <a:spLocks noGrp="1"/>
          </p:cNvSpPr>
          <p:nvPr>
            <p:ph type="sldNum" sz="quarter" idx="12"/>
          </p:nvPr>
        </p:nvSpPr>
        <p:spPr>
          <a:xfrm>
            <a:off x="11484864" y="6305550"/>
            <a:ext cx="609600" cy="476250"/>
          </a:xfrm>
          <a:prstGeom prst="rect">
            <a:avLst/>
          </a:prstGeom>
        </p:spPr>
        <p:txBody>
          <a:bodyPr rtlCol="0"/>
          <a:lstStyle/>
          <a:p>
            <a:pPr rtl="0"/>
            <a:fld id="{401CF334-2D5C-4859-84A6-CA7E6E43FAEB}" type="slidenum">
              <a:rPr lang="el-GR" noProof="0" smtClean="0"/>
              <a:t>‹#›</a:t>
            </a:fld>
            <a:endParaRPr lang="el-GR" noProof="0" dirty="0"/>
          </a:p>
        </p:txBody>
      </p:sp>
    </p:spTree>
    <p:extLst>
      <p:ext uri="{BB962C8B-B14F-4D97-AF65-F5344CB8AC3E}">
        <p14:creationId xmlns:p14="http://schemas.microsoft.com/office/powerpoint/2010/main" val="3636752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Τίτλος και κατακόρυφο κείμενο">
    <p:spTree>
      <p:nvGrpSpPr>
        <p:cNvPr id="1" name=""/>
        <p:cNvGrpSpPr/>
        <p:nvPr/>
      </p:nvGrpSpPr>
      <p:grpSpPr>
        <a:xfrm>
          <a:off x="0" y="0"/>
          <a:ext cx="0" cy="0"/>
          <a:chOff x="0" y="0"/>
          <a:chExt cx="0" cy="0"/>
        </a:xfrm>
      </p:grpSpPr>
      <p:sp>
        <p:nvSpPr>
          <p:cNvPr id="2" name="Τίτλος 1"/>
          <p:cNvSpPr>
            <a:spLocks noGrp="1"/>
          </p:cNvSpPr>
          <p:nvPr>
            <p:ph type="title" hasCustomPrompt="1"/>
          </p:nvPr>
        </p:nvSpPr>
        <p:spPr>
          <a:xfrm>
            <a:off x="1914144" y="274638"/>
            <a:ext cx="9997440" cy="1143000"/>
          </a:xfrm>
          <a:prstGeom prst="rect">
            <a:avLst/>
          </a:prstGeom>
        </p:spPr>
        <p:txBody>
          <a:bodyPr rtlCol="0"/>
          <a:lstStyle>
            <a:lvl1pPr rtl="0">
              <a:defRPr/>
            </a:lvl1pPr>
          </a:lstStyle>
          <a:p>
            <a:pPr rtl="0"/>
            <a:r>
              <a:rPr lang="el-GR" noProof="0" dirty="0"/>
              <a:t>Κάντε κλικ για να επεξεργαστείτε το Στυλ υποδείγματος τίτλου</a:t>
            </a:r>
          </a:p>
        </p:txBody>
      </p:sp>
      <p:sp>
        <p:nvSpPr>
          <p:cNvPr id="3" name="Θέση κατακόρυφου κειμένου 2"/>
          <p:cNvSpPr>
            <a:spLocks noGrp="1"/>
          </p:cNvSpPr>
          <p:nvPr>
            <p:ph type="body" orient="vert" idx="1"/>
          </p:nvPr>
        </p:nvSpPr>
        <p:spPr>
          <a:xfrm>
            <a:off x="1914144" y="1447800"/>
            <a:ext cx="9997440" cy="4800600"/>
          </a:xfrm>
          <a:prstGeom prst="rect">
            <a:avLst/>
          </a:prstGeom>
        </p:spPr>
        <p:txBody>
          <a:bodyPr vert="eaVert" rtlCol="0"/>
          <a:lstStyle/>
          <a:p>
            <a:pPr lvl="0" rtl="0" eaLnBrk="1" latinLnBrk="0" hangingPunct="1"/>
            <a:r>
              <a:rPr lang="el-GR" noProof="0"/>
              <a:t>Στυλ κειμένου υποδείγματος</a:t>
            </a:r>
          </a:p>
          <a:p>
            <a:pPr lvl="1" rtl="0" eaLnBrk="1" latinLnBrk="0" hangingPunct="1"/>
            <a:r>
              <a:rPr lang="el-GR" noProof="0"/>
              <a:t>Δεύτερο επίπεδο</a:t>
            </a:r>
          </a:p>
          <a:p>
            <a:pPr lvl="2" rtl="0" eaLnBrk="1" latinLnBrk="0" hangingPunct="1"/>
            <a:r>
              <a:rPr lang="el-GR" noProof="0"/>
              <a:t>Τρίτο επίπεδο</a:t>
            </a:r>
          </a:p>
          <a:p>
            <a:pPr lvl="3" rtl="0" eaLnBrk="1" latinLnBrk="0" hangingPunct="1"/>
            <a:r>
              <a:rPr lang="el-GR" noProof="0"/>
              <a:t>Τέταρτο επίπεδο</a:t>
            </a:r>
          </a:p>
          <a:p>
            <a:pPr lvl="4" rtl="0" eaLnBrk="1" latinLnBrk="0" hangingPunct="1"/>
            <a:r>
              <a:rPr lang="el-GR" noProof="0"/>
              <a:t>Πέμπτο επίπεδο</a:t>
            </a:r>
            <a:endParaRPr kumimoji="0" lang="el-GR" noProof="0" dirty="0"/>
          </a:p>
        </p:txBody>
      </p:sp>
      <p:sp>
        <p:nvSpPr>
          <p:cNvPr id="4" name="Θέση ημερομηνίας 3"/>
          <p:cNvSpPr>
            <a:spLocks noGrp="1"/>
          </p:cNvSpPr>
          <p:nvPr>
            <p:ph type="dt" sz="half" idx="10"/>
          </p:nvPr>
        </p:nvSpPr>
        <p:spPr>
          <a:xfrm>
            <a:off x="4775200" y="6305550"/>
            <a:ext cx="2844800" cy="476250"/>
          </a:xfrm>
          <a:prstGeom prst="rect">
            <a:avLst/>
          </a:prstGeom>
        </p:spPr>
        <p:txBody>
          <a:bodyPr rtlCol="0"/>
          <a:lstStyle/>
          <a:p>
            <a:pPr rtl="0"/>
            <a:fld id="{829D6994-8921-4EEB-B31B-7A55285039A2}" type="datetime1">
              <a:rPr lang="el-GR" noProof="0" smtClean="0"/>
              <a:t>15/2/2025</a:t>
            </a:fld>
            <a:endParaRPr lang="el-GR" noProof="0" dirty="0"/>
          </a:p>
        </p:txBody>
      </p:sp>
      <p:sp>
        <p:nvSpPr>
          <p:cNvPr id="5" name="Θέση υποσέλιδου 4"/>
          <p:cNvSpPr>
            <a:spLocks noGrp="1"/>
          </p:cNvSpPr>
          <p:nvPr>
            <p:ph type="ftr" sz="quarter" idx="11"/>
          </p:nvPr>
        </p:nvSpPr>
        <p:spPr>
          <a:xfrm>
            <a:off x="7620000" y="6305550"/>
            <a:ext cx="3860800" cy="476250"/>
          </a:xfrm>
          <a:prstGeom prst="rect">
            <a:avLst/>
          </a:prstGeom>
        </p:spPr>
        <p:txBody>
          <a:bodyPr rtlCol="0"/>
          <a:lstStyle/>
          <a:p>
            <a:pPr rtl="0"/>
            <a:r>
              <a:rPr lang="el-GR" noProof="0" dirty="0"/>
              <a:t>Προσθήκη υποσέλιδου</a:t>
            </a:r>
          </a:p>
        </p:txBody>
      </p:sp>
      <p:sp>
        <p:nvSpPr>
          <p:cNvPr id="6" name="Θέση αριθμού διαφάνειας 5"/>
          <p:cNvSpPr>
            <a:spLocks noGrp="1"/>
          </p:cNvSpPr>
          <p:nvPr>
            <p:ph type="sldNum" sz="quarter" idx="12"/>
          </p:nvPr>
        </p:nvSpPr>
        <p:spPr>
          <a:xfrm>
            <a:off x="11484864" y="6305550"/>
            <a:ext cx="609600" cy="476250"/>
          </a:xfrm>
          <a:prstGeom prst="rect">
            <a:avLst/>
          </a:prstGeom>
        </p:spPr>
        <p:txBody>
          <a:bodyPr rtlCol="0"/>
          <a:lstStyle/>
          <a:p>
            <a:pPr rtl="0"/>
            <a:fld id="{401CF334-2D5C-4859-84A6-CA7E6E43FAEB}" type="slidenum">
              <a:rPr lang="el-GR" noProof="0" smtClean="0"/>
              <a:t>‹#›</a:t>
            </a:fld>
            <a:endParaRPr lang="el-GR" noProof="0" dirty="0"/>
          </a:p>
        </p:txBody>
      </p:sp>
    </p:spTree>
    <p:extLst>
      <p:ext uri="{BB962C8B-B14F-4D97-AF65-F5344CB8AC3E}">
        <p14:creationId xmlns:p14="http://schemas.microsoft.com/office/powerpoint/2010/main" val="174997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Κατακόρυφος τίτλος και κείμενο">
    <p:spTree>
      <p:nvGrpSpPr>
        <p:cNvPr id="1" name=""/>
        <p:cNvGrpSpPr/>
        <p:nvPr/>
      </p:nvGrpSpPr>
      <p:grpSpPr>
        <a:xfrm>
          <a:off x="0" y="0"/>
          <a:ext cx="0" cy="0"/>
          <a:chOff x="0" y="0"/>
          <a:chExt cx="0" cy="0"/>
        </a:xfrm>
      </p:grpSpPr>
      <p:sp>
        <p:nvSpPr>
          <p:cNvPr id="2" name="Κατακόρυφος τίτλος 1"/>
          <p:cNvSpPr>
            <a:spLocks noGrp="1"/>
          </p:cNvSpPr>
          <p:nvPr>
            <p:ph type="title" orient="vert" hasCustomPrompt="1"/>
          </p:nvPr>
        </p:nvSpPr>
        <p:spPr>
          <a:xfrm>
            <a:off x="9144000" y="274640"/>
            <a:ext cx="2438400" cy="5851525"/>
          </a:xfrm>
          <a:prstGeom prst="rect">
            <a:avLst/>
          </a:prstGeom>
        </p:spPr>
        <p:txBody>
          <a:bodyPr vert="eaVert" rtlCol="0"/>
          <a:lstStyle>
            <a:lvl1pPr rtl="0">
              <a:defRPr/>
            </a:lvl1pPr>
          </a:lstStyle>
          <a:p>
            <a:pPr rtl="0"/>
            <a:r>
              <a:rPr lang="el-GR" noProof="0" dirty="0"/>
              <a:t>Κάντε κλικ για να επεξεργαστείτε το Στυλ υποδείγματος τίτλου</a:t>
            </a:r>
          </a:p>
        </p:txBody>
      </p:sp>
      <p:sp>
        <p:nvSpPr>
          <p:cNvPr id="3" name="Θέση κατακόρυφου κειμένου 2"/>
          <p:cNvSpPr>
            <a:spLocks noGrp="1"/>
          </p:cNvSpPr>
          <p:nvPr>
            <p:ph type="body" orient="vert" idx="1"/>
          </p:nvPr>
        </p:nvSpPr>
        <p:spPr>
          <a:xfrm>
            <a:off x="1524000" y="274641"/>
            <a:ext cx="7416800" cy="5851525"/>
          </a:xfrm>
          <a:prstGeom prst="rect">
            <a:avLst/>
          </a:prstGeom>
        </p:spPr>
        <p:txBody>
          <a:bodyPr vert="eaVert" rtlCol="0"/>
          <a:lstStyle/>
          <a:p>
            <a:pPr lvl="0" rtl="0" eaLnBrk="1" latinLnBrk="0" hangingPunct="1"/>
            <a:r>
              <a:rPr lang="el-GR" noProof="0"/>
              <a:t>Στυλ κειμένου υποδείγματος</a:t>
            </a:r>
          </a:p>
          <a:p>
            <a:pPr lvl="1" rtl="0" eaLnBrk="1" latinLnBrk="0" hangingPunct="1"/>
            <a:r>
              <a:rPr lang="el-GR" noProof="0"/>
              <a:t>Δεύτερο επίπεδο</a:t>
            </a:r>
          </a:p>
          <a:p>
            <a:pPr lvl="2" rtl="0" eaLnBrk="1" latinLnBrk="0" hangingPunct="1"/>
            <a:r>
              <a:rPr lang="el-GR" noProof="0"/>
              <a:t>Τρίτο επίπεδο</a:t>
            </a:r>
          </a:p>
          <a:p>
            <a:pPr lvl="3" rtl="0" eaLnBrk="1" latinLnBrk="0" hangingPunct="1"/>
            <a:r>
              <a:rPr lang="el-GR" noProof="0"/>
              <a:t>Τέταρτο επίπεδο</a:t>
            </a:r>
          </a:p>
          <a:p>
            <a:pPr lvl="4" rtl="0" eaLnBrk="1" latinLnBrk="0" hangingPunct="1"/>
            <a:r>
              <a:rPr lang="el-GR" noProof="0"/>
              <a:t>Πέμπτο επίπεδο</a:t>
            </a:r>
            <a:endParaRPr kumimoji="0" lang="el-GR" noProof="0" dirty="0"/>
          </a:p>
        </p:txBody>
      </p:sp>
      <p:sp>
        <p:nvSpPr>
          <p:cNvPr id="4" name="Θέση ημερομηνίας 3"/>
          <p:cNvSpPr>
            <a:spLocks noGrp="1"/>
          </p:cNvSpPr>
          <p:nvPr>
            <p:ph type="dt" sz="half" idx="10"/>
          </p:nvPr>
        </p:nvSpPr>
        <p:spPr>
          <a:xfrm>
            <a:off x="4775200" y="6305550"/>
            <a:ext cx="2844800" cy="476250"/>
          </a:xfrm>
          <a:prstGeom prst="rect">
            <a:avLst/>
          </a:prstGeom>
        </p:spPr>
        <p:txBody>
          <a:bodyPr rtlCol="0"/>
          <a:lstStyle/>
          <a:p>
            <a:pPr rtl="0"/>
            <a:fld id="{869F720B-7338-47E8-9E66-41B51F13C0A0}" type="datetime1">
              <a:rPr lang="el-GR" noProof="0" smtClean="0"/>
              <a:t>15/2/2025</a:t>
            </a:fld>
            <a:endParaRPr lang="el-GR" noProof="0" dirty="0"/>
          </a:p>
        </p:txBody>
      </p:sp>
      <p:sp>
        <p:nvSpPr>
          <p:cNvPr id="5" name="Θέση υποσέλιδου 4"/>
          <p:cNvSpPr>
            <a:spLocks noGrp="1"/>
          </p:cNvSpPr>
          <p:nvPr>
            <p:ph type="ftr" sz="quarter" idx="11"/>
          </p:nvPr>
        </p:nvSpPr>
        <p:spPr>
          <a:xfrm>
            <a:off x="7620000" y="6305550"/>
            <a:ext cx="3860800" cy="476250"/>
          </a:xfrm>
          <a:prstGeom prst="rect">
            <a:avLst/>
          </a:prstGeom>
        </p:spPr>
        <p:txBody>
          <a:bodyPr rtlCol="0"/>
          <a:lstStyle/>
          <a:p>
            <a:pPr rtl="0"/>
            <a:r>
              <a:rPr lang="el-GR" noProof="0" dirty="0"/>
              <a:t>Προσθήκη υποσέλιδου</a:t>
            </a:r>
          </a:p>
        </p:txBody>
      </p:sp>
      <p:sp>
        <p:nvSpPr>
          <p:cNvPr id="6" name="Θέση αριθμού διαφάνειας 5"/>
          <p:cNvSpPr>
            <a:spLocks noGrp="1"/>
          </p:cNvSpPr>
          <p:nvPr>
            <p:ph type="sldNum" sz="quarter" idx="12"/>
          </p:nvPr>
        </p:nvSpPr>
        <p:spPr>
          <a:xfrm>
            <a:off x="11484864" y="6305550"/>
            <a:ext cx="609600" cy="476250"/>
          </a:xfrm>
          <a:prstGeom prst="rect">
            <a:avLst/>
          </a:prstGeom>
        </p:spPr>
        <p:txBody>
          <a:bodyPr rtlCol="0"/>
          <a:lstStyle/>
          <a:p>
            <a:pPr rtl="0"/>
            <a:fld id="{401CF334-2D5C-4859-84A6-CA7E6E43FAEB}" type="slidenum">
              <a:rPr lang="el-GR" noProof="0" smtClean="0"/>
              <a:t>‹#›</a:t>
            </a:fld>
            <a:endParaRPr lang="el-GR" noProof="0" dirty="0"/>
          </a:p>
        </p:txBody>
      </p:sp>
    </p:spTree>
    <p:extLst>
      <p:ext uri="{BB962C8B-B14F-4D97-AF65-F5344CB8AC3E}">
        <p14:creationId xmlns:p14="http://schemas.microsoft.com/office/powerpoint/2010/main" val="3194350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ltGray">
      <p:bgRef idx="1001">
        <a:schemeClr val="bg2"/>
      </p:bgRef>
    </p:bg>
    <p:spTree>
      <p:nvGrpSpPr>
        <p:cNvPr id="1" name=""/>
        <p:cNvGrpSpPr/>
        <p:nvPr/>
      </p:nvGrpSpPr>
      <p:grpSpPr>
        <a:xfrm>
          <a:off x="0" y="0"/>
          <a:ext cx="0" cy="0"/>
          <a:chOff x="0" y="0"/>
          <a:chExt cx="0" cy="0"/>
        </a:xfrm>
      </p:grpSpPr>
      <p:grpSp>
        <p:nvGrpSpPr>
          <p:cNvPr id="6" name="Ομάδα 5"/>
          <p:cNvGrpSpPr/>
          <p:nvPr/>
        </p:nvGrpSpPr>
        <p:grpSpPr>
          <a:xfrm>
            <a:off x="7148" y="-54"/>
            <a:ext cx="12188952" cy="6858054"/>
            <a:chOff x="7148" y="-54"/>
            <a:chExt cx="12188952" cy="6858054"/>
          </a:xfrm>
        </p:grpSpPr>
        <p:sp>
          <p:nvSpPr>
            <p:cNvPr id="4" name="Ορθογώνιο 3"/>
            <p:cNvSpPr/>
            <p:nvPr/>
          </p:nvSpPr>
          <p:spPr>
            <a:xfrm>
              <a:off x="7148" y="0"/>
              <a:ext cx="12188952" cy="6858000"/>
            </a:xfrm>
            <a:prstGeom prst="rect">
              <a:avLst/>
            </a:prstGeom>
            <a:solidFill>
              <a:schemeClr val="bg2">
                <a:lumMod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l-GR" noProof="0" dirty="0"/>
            </a:p>
          </p:txBody>
        </p:sp>
        <p:sp>
          <p:nvSpPr>
            <p:cNvPr id="15" name="Ορθογώνιο 14"/>
            <p:cNvSpPr/>
            <p:nvPr/>
          </p:nvSpPr>
          <p:spPr bwMode="invGray">
            <a:xfrm>
              <a:off x="1473566" y="-54"/>
              <a:ext cx="96070" cy="6858054"/>
            </a:xfrm>
            <a:prstGeom prst="rect">
              <a:avLst/>
            </a:prstGeom>
            <a:solidFill>
              <a:schemeClr val="bg2">
                <a:lumMod val="10000"/>
              </a:schemeClr>
            </a:solidFill>
            <a:ln w="25400" cap="rnd" cmpd="sng" algn="ctr">
              <a:noFill/>
              <a:prstDash val="solid"/>
            </a:ln>
            <a:effectLst>
              <a:outerShdw blurRad="38550" dist="38000" dir="10800000" algn="tl" rotWithShape="0">
                <a:schemeClr val="bg2">
                  <a:shade val="20000"/>
                  <a:satMod val="110000"/>
                  <a:alpha val="25000"/>
                </a:schemeClr>
              </a:outerShdw>
            </a:effectLst>
          </p:spPr>
          <p:style>
            <a:lnRef idx="3">
              <a:schemeClr val="lt1"/>
            </a:lnRef>
            <a:fillRef idx="1">
              <a:schemeClr val="accent1"/>
            </a:fillRef>
            <a:effectRef idx="1">
              <a:schemeClr val="accent1"/>
            </a:effectRef>
            <a:fontRef idx="minor">
              <a:schemeClr val="lt1"/>
            </a:fontRef>
          </p:style>
          <p:txBody>
            <a:bodyPr rtlCol="0" anchor="ctr"/>
            <a:lstStyle/>
            <a:p>
              <a:pPr algn="ctr" rtl="0" eaLnBrk="1" latinLnBrk="0" hangingPunct="1"/>
              <a:endParaRPr kumimoji="0" lang="el-GR" sz="1800" noProof="0" dirty="0"/>
            </a:p>
          </p:txBody>
        </p:sp>
        <p:pic>
          <p:nvPicPr>
            <p:cNvPr id="3" name="Εικόνα 2"/>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148" y="0"/>
              <a:ext cx="1495425" cy="6858000"/>
            </a:xfrm>
            <a:prstGeom prst="rect">
              <a:avLst/>
            </a:prstGeom>
          </p:spPr>
        </p:pic>
      </p:grpSp>
      <p:sp>
        <p:nvSpPr>
          <p:cNvPr id="16" name="Θέση τίτλου 4"/>
          <p:cNvSpPr>
            <a:spLocks noGrp="1"/>
          </p:cNvSpPr>
          <p:nvPr>
            <p:ph type="title"/>
          </p:nvPr>
        </p:nvSpPr>
        <p:spPr>
          <a:xfrm>
            <a:off x="1914144" y="274638"/>
            <a:ext cx="9997440" cy="1143000"/>
          </a:xfrm>
          <a:prstGeom prst="rect">
            <a:avLst/>
          </a:prstGeom>
        </p:spPr>
        <p:txBody>
          <a:bodyPr rtlCol="0" anchor="ctr">
            <a:noAutofit/>
          </a:bodyPr>
          <a:lstStyle/>
          <a:p>
            <a:pPr rtl="0"/>
            <a:r>
              <a:rPr lang="el-GR" noProof="0" dirty="0"/>
              <a:t>Κάντε κλικ για να επεξεργαστείτε το Στυλ υποδείγματος τίτλου</a:t>
            </a:r>
          </a:p>
        </p:txBody>
      </p:sp>
      <p:sp>
        <p:nvSpPr>
          <p:cNvPr id="17" name="Θέση κειμένου 8"/>
          <p:cNvSpPr>
            <a:spLocks noGrp="1"/>
          </p:cNvSpPr>
          <p:nvPr>
            <p:ph type="body" idx="1"/>
          </p:nvPr>
        </p:nvSpPr>
        <p:spPr>
          <a:xfrm>
            <a:off x="1914144" y="1447800"/>
            <a:ext cx="9997440" cy="4800600"/>
          </a:xfrm>
          <a:prstGeom prst="rect">
            <a:avLst/>
          </a:prstGeom>
        </p:spPr>
        <p:txBody>
          <a:bodyPr rtlCol="0">
            <a:normAutofit/>
          </a:bodyPr>
          <a:lstStyle/>
          <a:p>
            <a:pPr lvl="0" rtl="0" eaLnBrk="1" latinLnBrk="0" hangingPunct="1"/>
            <a:r>
              <a:rPr lang="el-GR" noProof="0" dirty="0"/>
              <a:t>Επεξεργασία στυλ υποδείγματος κειμένου</a:t>
            </a:r>
          </a:p>
          <a:p>
            <a:pPr lvl="1" rtl="0" eaLnBrk="1" latinLnBrk="0" hangingPunct="1"/>
            <a:r>
              <a:rPr lang="el-GR" noProof="0" dirty="0"/>
              <a:t>Δεύτερου επιπέδου</a:t>
            </a:r>
          </a:p>
          <a:p>
            <a:pPr lvl="2" rtl="0" eaLnBrk="1" latinLnBrk="0" hangingPunct="1"/>
            <a:r>
              <a:rPr lang="el-GR" noProof="0" dirty="0"/>
              <a:t>Τρίτου επιπέδου</a:t>
            </a:r>
          </a:p>
          <a:p>
            <a:pPr lvl="3" rtl="0" eaLnBrk="1" latinLnBrk="0" hangingPunct="1"/>
            <a:r>
              <a:rPr lang="el-GR" noProof="0" dirty="0"/>
              <a:t>Τέταρτου επιπέδου</a:t>
            </a:r>
          </a:p>
          <a:p>
            <a:pPr lvl="4" rtl="0" eaLnBrk="1" latinLnBrk="0" hangingPunct="1"/>
            <a:r>
              <a:rPr lang="el-GR" noProof="0" dirty="0"/>
              <a:t>Πέμπτου επιπέδου</a:t>
            </a:r>
          </a:p>
        </p:txBody>
      </p:sp>
      <p:sp>
        <p:nvSpPr>
          <p:cNvPr id="18" name="Θέση ημερομηνίας 23"/>
          <p:cNvSpPr>
            <a:spLocks noGrp="1"/>
          </p:cNvSpPr>
          <p:nvPr>
            <p:ph type="dt" sz="half" idx="2"/>
          </p:nvPr>
        </p:nvSpPr>
        <p:spPr>
          <a:xfrm>
            <a:off x="4775200" y="6305550"/>
            <a:ext cx="2844800" cy="476250"/>
          </a:xfrm>
          <a:prstGeom prst="rect">
            <a:avLst/>
          </a:prstGeom>
        </p:spPr>
        <p:txBody>
          <a:bodyPr rtlCol="0" anchor="b"/>
          <a:lstStyle>
            <a:lvl1pPr algn="r" eaLnBrk="1" latinLnBrk="0" hangingPunct="1">
              <a:defRPr kumimoji="0" sz="1100">
                <a:solidFill>
                  <a:schemeClr val="tx2"/>
                </a:solidFill>
              </a:defRPr>
            </a:lvl1pPr>
            <a:extLst/>
          </a:lstStyle>
          <a:p>
            <a:pPr rtl="0"/>
            <a:fld id="{06883B89-DE00-4FA1-9F76-3CFC200F25D8}" type="datetime1">
              <a:rPr lang="el-GR" noProof="0" smtClean="0"/>
              <a:t>15/2/2025</a:t>
            </a:fld>
            <a:endParaRPr lang="el-GR" noProof="0" dirty="0"/>
          </a:p>
        </p:txBody>
      </p:sp>
      <p:sp>
        <p:nvSpPr>
          <p:cNvPr id="19" name="Θέση υποσέλιδου 9"/>
          <p:cNvSpPr>
            <a:spLocks noGrp="1"/>
          </p:cNvSpPr>
          <p:nvPr>
            <p:ph type="ftr" sz="quarter" idx="3"/>
          </p:nvPr>
        </p:nvSpPr>
        <p:spPr>
          <a:xfrm>
            <a:off x="7620000" y="6305550"/>
            <a:ext cx="3860800" cy="476250"/>
          </a:xfrm>
          <a:prstGeom prst="rect">
            <a:avLst/>
          </a:prstGeom>
        </p:spPr>
        <p:txBody>
          <a:bodyPr rtlCol="0" anchor="b"/>
          <a:lstStyle>
            <a:lvl1pPr eaLnBrk="1" latinLnBrk="0" hangingPunct="1">
              <a:defRPr kumimoji="0" sz="1100">
                <a:solidFill>
                  <a:schemeClr val="tx2"/>
                </a:solidFill>
                <a:effectLst/>
              </a:defRPr>
            </a:lvl1pPr>
            <a:extLst/>
          </a:lstStyle>
          <a:p>
            <a:pPr rtl="0"/>
            <a:r>
              <a:rPr lang="el-GR" noProof="0" dirty="0"/>
              <a:t>Προσθήκη υποσέλιδου</a:t>
            </a:r>
          </a:p>
        </p:txBody>
      </p:sp>
      <p:sp>
        <p:nvSpPr>
          <p:cNvPr id="20" name="Θέση αριθμού διαφάνειας 21"/>
          <p:cNvSpPr>
            <a:spLocks noGrp="1"/>
          </p:cNvSpPr>
          <p:nvPr>
            <p:ph type="sldNum" sz="quarter" idx="4"/>
          </p:nvPr>
        </p:nvSpPr>
        <p:spPr>
          <a:xfrm>
            <a:off x="11484864" y="6305550"/>
            <a:ext cx="609600" cy="476250"/>
          </a:xfrm>
          <a:prstGeom prst="rect">
            <a:avLst/>
          </a:prstGeom>
        </p:spPr>
        <p:txBody>
          <a:bodyPr rtlCol="0" anchor="b"/>
          <a:lstStyle>
            <a:lvl1pPr algn="ctr" eaLnBrk="1" latinLnBrk="0" hangingPunct="1">
              <a:defRPr kumimoji="0" sz="1100">
                <a:solidFill>
                  <a:schemeClr val="tx2"/>
                </a:solidFill>
                <a:effectLst/>
              </a:defRPr>
            </a:lvl1pPr>
            <a:extLst/>
          </a:lstStyle>
          <a:p>
            <a:pPr rtl="0"/>
            <a:fld id="{401CF334-2D5C-4859-84A6-CA7E6E43FAEB}" type="slidenum">
              <a:rPr lang="el-GR" noProof="0" smtClean="0"/>
              <a:pPr/>
              <a:t>‹#›</a:t>
            </a:fld>
            <a:endParaRPr lang="el-GR" noProof="0" dirty="0"/>
          </a:p>
        </p:txBody>
      </p:sp>
    </p:spTree>
    <p:extLst>
      <p:ext uri="{BB962C8B-B14F-4D97-AF65-F5344CB8AC3E}">
        <p14:creationId xmlns:p14="http://schemas.microsoft.com/office/powerpoint/2010/main" val="1260038068"/>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rtl="0" eaLnBrk="1" latinLnBrk="0" hangingPunct="1">
        <a:lnSpc>
          <a:spcPts val="4200"/>
        </a:lnSpc>
        <a:spcBef>
          <a:spcPct val="0"/>
        </a:spcBef>
        <a:buNone/>
        <a:defRPr kumimoji="0" sz="4000" b="1" kern="1200">
          <a:solidFill>
            <a:schemeClr val="accent2">
              <a:lumMod val="50000"/>
            </a:schemeClr>
          </a:solidFill>
          <a:effectLst/>
          <a:latin typeface="+mj-lt"/>
          <a:ea typeface="+mj-ea"/>
          <a:cs typeface="+mj-cs"/>
        </a:defRPr>
      </a:lvl1pPr>
      <a:extLst/>
    </p:titleStyle>
    <p:bodyStyle>
      <a:lvl1pPr marL="365760" indent="-283464" algn="l" rtl="0" eaLnBrk="1" latinLnBrk="0" hangingPunct="1">
        <a:lnSpc>
          <a:spcPct val="100000"/>
        </a:lnSpc>
        <a:spcBef>
          <a:spcPts val="600"/>
        </a:spcBef>
        <a:buClr>
          <a:schemeClr val="accent1">
            <a:lumMod val="50000"/>
          </a:schemeClr>
        </a:buClr>
        <a:buSzPct val="80000"/>
        <a:buFont typeface="Wingdings 2"/>
        <a:buChar char=""/>
        <a:defRPr kumimoji="0" sz="3200" kern="1200">
          <a:solidFill>
            <a:schemeClr val="tx2">
              <a:lumMod val="75000"/>
            </a:schemeClr>
          </a:solidFill>
          <a:latin typeface="+mn-lt"/>
          <a:ea typeface="+mn-ea"/>
          <a:cs typeface="+mn-cs"/>
        </a:defRPr>
      </a:lvl1pPr>
      <a:lvl2pPr marL="640080" indent="-237744" algn="l" rtl="0" eaLnBrk="1" latinLnBrk="0" hangingPunct="1">
        <a:lnSpc>
          <a:spcPct val="100000"/>
        </a:lnSpc>
        <a:spcBef>
          <a:spcPts val="550"/>
        </a:spcBef>
        <a:buClr>
          <a:schemeClr val="accent1">
            <a:lumMod val="50000"/>
          </a:schemeClr>
        </a:buClr>
        <a:buFont typeface="Verdana"/>
        <a:buChar char="◦"/>
        <a:defRPr kumimoji="0" sz="2800" kern="1200">
          <a:solidFill>
            <a:schemeClr val="tx2">
              <a:lumMod val="75000"/>
            </a:schemeClr>
          </a:solidFill>
          <a:latin typeface="+mn-lt"/>
          <a:ea typeface="+mn-ea"/>
          <a:cs typeface="+mn-cs"/>
        </a:defRPr>
      </a:lvl2pPr>
      <a:lvl3pPr marL="886968" indent="-228600" algn="l" rtl="0" eaLnBrk="1" latinLnBrk="0" hangingPunct="1">
        <a:lnSpc>
          <a:spcPct val="100000"/>
        </a:lnSpc>
        <a:spcBef>
          <a:spcPct val="20000"/>
        </a:spcBef>
        <a:buClr>
          <a:schemeClr val="accent2">
            <a:lumMod val="75000"/>
          </a:schemeClr>
        </a:buClr>
        <a:buFont typeface="Wingdings 2"/>
        <a:buChar char=""/>
        <a:defRPr kumimoji="0" sz="2400" kern="1200">
          <a:solidFill>
            <a:schemeClr val="tx2">
              <a:lumMod val="75000"/>
            </a:schemeClr>
          </a:solidFill>
          <a:latin typeface="+mn-lt"/>
          <a:ea typeface="+mn-ea"/>
          <a:cs typeface="+mn-cs"/>
        </a:defRPr>
      </a:lvl3pPr>
      <a:lvl4pPr marL="1097280" indent="-173736" algn="l" rtl="0" eaLnBrk="1" latinLnBrk="0" hangingPunct="1">
        <a:lnSpc>
          <a:spcPct val="100000"/>
        </a:lnSpc>
        <a:spcBef>
          <a:spcPct val="20000"/>
        </a:spcBef>
        <a:buClr>
          <a:schemeClr val="accent3">
            <a:lumMod val="75000"/>
          </a:schemeClr>
        </a:buClr>
        <a:buFont typeface="Wingdings 2"/>
        <a:buChar char=""/>
        <a:defRPr kumimoji="0" sz="2000" kern="1200">
          <a:solidFill>
            <a:schemeClr val="tx2">
              <a:lumMod val="75000"/>
            </a:schemeClr>
          </a:solidFill>
          <a:latin typeface="+mn-lt"/>
          <a:ea typeface="+mn-ea"/>
          <a:cs typeface="+mn-cs"/>
        </a:defRPr>
      </a:lvl4pPr>
      <a:lvl5pPr marL="1298448" indent="-182880" algn="l" rtl="0" eaLnBrk="1" latinLnBrk="0" hangingPunct="1">
        <a:lnSpc>
          <a:spcPct val="100000"/>
        </a:lnSpc>
        <a:spcBef>
          <a:spcPct val="20000"/>
        </a:spcBef>
        <a:buClr>
          <a:schemeClr val="accent4">
            <a:lumMod val="75000"/>
          </a:schemeClr>
        </a:buClr>
        <a:buFont typeface="Wingdings 2"/>
        <a:buChar char=""/>
        <a:defRPr kumimoji="0" sz="2000" kern="1200">
          <a:solidFill>
            <a:schemeClr val="tx2">
              <a:lumMod val="75000"/>
            </a:schemeClr>
          </a:solidFill>
          <a:latin typeface="+mn-lt"/>
          <a:ea typeface="+mn-ea"/>
          <a:cs typeface="+mn-cs"/>
        </a:defRPr>
      </a:lvl5pPr>
      <a:lvl6pPr marL="1508760" indent="-182880" algn="l" rtl="0" eaLnBrk="1" latinLnBrk="0" hangingPunct="1">
        <a:lnSpc>
          <a:spcPct val="100000"/>
        </a:lnSpc>
        <a:spcBef>
          <a:spcPct val="20000"/>
        </a:spcBef>
        <a:buClr>
          <a:schemeClr val="accent5"/>
        </a:buClr>
        <a:buFont typeface="Wingdings 2"/>
        <a:buChar char=""/>
        <a:defRPr kumimoji="0" sz="2000" kern="1200">
          <a:solidFill>
            <a:schemeClr val="tx1"/>
          </a:solidFill>
          <a:latin typeface="+mn-lt"/>
          <a:ea typeface="+mn-ea"/>
          <a:cs typeface="+mn-cs"/>
        </a:defRPr>
      </a:lvl6pPr>
      <a:lvl7pPr marL="171907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7pPr>
      <a:lvl8pPr marL="1920240"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8pPr>
      <a:lvl9pPr marL="2130552" indent="-182880" algn="l" rtl="0" eaLnBrk="1" latinLnBrk="0" hangingPunct="1">
        <a:lnSpc>
          <a:spcPct val="100000"/>
        </a:lnSpc>
        <a:spcBef>
          <a:spcPct val="20000"/>
        </a:spcBef>
        <a:buClr>
          <a:schemeClr val="accent6"/>
        </a:buClr>
        <a:buFont typeface="Wingdings 2"/>
        <a:buChar char=""/>
        <a:defRPr kumimoji="0" sz="20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extLst>
    <p:ext uri="{27BBF7A9-308A-43DC-89C8-2F10F3537804}">
      <p15:sldGuideLst xmlns:p15="http://schemas.microsoft.com/office/powerpoint/2012/main">
        <p15:guide id="0" orient="horz" pos="2160" userDrawn="1">
          <p15:clr>
            <a:srgbClr val="F26B43"/>
          </p15:clr>
        </p15:guide>
        <p15:guide id="1" pos="3840" userDrawn="1">
          <p15:clr>
            <a:srgbClr val="F26B43"/>
          </p15:clr>
        </p15:guide>
        <p15:guide id="2" pos="7512" userDrawn="1">
          <p15:clr>
            <a:srgbClr val="F26B43"/>
          </p15:clr>
        </p15:guide>
        <p15:guide id="3" pos="1176" userDrawn="1">
          <p15:clr>
            <a:srgbClr val="F26B43"/>
          </p15:clr>
        </p15:guide>
        <p15:guide id="4" orient="horz" pos="3936" userDrawn="1">
          <p15:clr>
            <a:srgbClr val="F26B43"/>
          </p15:clr>
        </p15:guide>
        <p15:guide id="5" orient="horz" pos="888" userDrawn="1">
          <p15:clr>
            <a:srgbClr val="F26B43"/>
          </p15:clr>
        </p15:guide>
        <p15:guide id="6" orient="horz" pos="16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jpg"/><Relationship Id="rId4" Type="http://schemas.openxmlformats.org/officeDocument/2006/relationships/image" Target="../media/image5.jpg"/></Relationships>
</file>

<file path=ppt/slides/_rels/slide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gif"/><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hyperlink" Target="https://el.wikipedia.org/wiki/1843" TargetMode="External"/><Relationship Id="rId2" Type="http://schemas.openxmlformats.org/officeDocument/2006/relationships/hyperlink" Target="https://el.wikipedia.org/wiki/1770" TargetMode="External"/><Relationship Id="rId1" Type="http://schemas.openxmlformats.org/officeDocument/2006/relationships/slideLayout" Target="../slideLayouts/slideLayout8.xml"/><Relationship Id="rId4" Type="http://schemas.openxmlformats.org/officeDocument/2006/relationships/image" Target="../media/image10.jpg"/></Relationships>
</file>

<file path=ppt/slides/_rels/slide5.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7.jfif"/><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image" Target="../media/image18.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0.jfif"/><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22.jfif"/><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3.jpg"/><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image" Target="../media/image24.jfif"/><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hyperlink" Target="https://www.bachilleratocinefilo.com/2018/09/por-que-obedecer-las-leyes-derecho.html" TargetMode="External"/><Relationship Id="rId2" Type="http://schemas.openxmlformats.org/officeDocument/2006/relationships/image" Target="../media/image25.jpg"/><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slideLayout" Target="../slideLayouts/slideLayout6.xml"/><Relationship Id="rId7" Type="http://schemas.openxmlformats.org/officeDocument/2006/relationships/hyperlink" Target="https://www.ime.gr/chronos/05/gr/culture/2314sophokles.html" TargetMode="External"/><Relationship Id="rId2" Type="http://schemas.openxmlformats.org/officeDocument/2006/relationships/audio" Target="../media/media1.mp3"/><Relationship Id="rId1" Type="http://schemas.microsoft.com/office/2007/relationships/media" Target="../media/media1.mp3"/><Relationship Id="rId6" Type="http://schemas.openxmlformats.org/officeDocument/2006/relationships/hyperlink" Target="https://www.servou.gr/2013-06-23-10-30-27/grafipatrioton/319-philosophy/3137-antigoni-tou-sofokli-mathima-antistasis-stin-afthairesia-tis-eksousias-2" TargetMode="External"/><Relationship Id="rId5" Type="http://schemas.openxmlformats.org/officeDocument/2006/relationships/hyperlink" Target="https://users.sch.gr/ipap/Ellinikos%20Politismos/Yliko/ELENI/drama.htm" TargetMode="External"/><Relationship Id="rId4" Type="http://schemas.openxmlformats.org/officeDocument/2006/relationships/hyperlink" Target="https://www.greek-language.gr/digitalResources/ancient_greek/library/browse.html?page=5&amp;text_id=76" TargetMode="External"/></Relationships>
</file>

<file path=ppt/slides/_rels/slide23.xml.rels><?xml version="1.0" encoding="UTF-8" standalone="yes"?>
<Relationships xmlns="http://schemas.openxmlformats.org/package/2006/relationships"><Relationship Id="rId2" Type="http://schemas.openxmlformats.org/officeDocument/2006/relationships/image" Target="../media/image27.jfif"/><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p:cNvSpPr>
            <a:spLocks noGrp="1"/>
          </p:cNvSpPr>
          <p:nvPr>
            <p:ph type="ctrTitle"/>
          </p:nvPr>
        </p:nvSpPr>
        <p:spPr/>
        <p:txBody>
          <a:bodyPr rtlCol="0"/>
          <a:lstStyle/>
          <a:p>
            <a:r>
              <a:rPr lang="en-US" sz="4300" dirty="0"/>
              <a:t>LIGHT MORE LIGHT</a:t>
            </a:r>
            <a:endParaRPr lang="el-GR" sz="4300" dirty="0"/>
          </a:p>
        </p:txBody>
      </p:sp>
      <p:sp>
        <p:nvSpPr>
          <p:cNvPr id="3" name="Υπότιτλος 2"/>
          <p:cNvSpPr>
            <a:spLocks noGrp="1"/>
          </p:cNvSpPr>
          <p:nvPr>
            <p:ph type="subTitle" idx="1"/>
          </p:nvPr>
        </p:nvSpPr>
        <p:spPr>
          <a:xfrm>
            <a:off x="1910080" y="2669871"/>
            <a:ext cx="9666034" cy="876228"/>
          </a:xfrm>
        </p:spPr>
        <p:txBody>
          <a:bodyPr rtlCol="0">
            <a:normAutofit fontScale="77500" lnSpcReduction="20000"/>
          </a:bodyPr>
          <a:lstStyle/>
          <a:p>
            <a:r>
              <a:rPr lang="en-US" dirty="0"/>
              <a:t>Friedrich </a:t>
            </a:r>
            <a:r>
              <a:rPr lang="en-US" dirty="0" err="1"/>
              <a:t>Heinlderlin's</a:t>
            </a:r>
            <a:r>
              <a:rPr lang="en-US" dirty="0"/>
              <a:t> translation of Sophocles' Antigone</a:t>
            </a:r>
          </a:p>
          <a:p>
            <a:r>
              <a:rPr lang="en-US" sz="2000" dirty="0"/>
              <a:t>9th European Student Conference
Munich 26/11/2024-2/12/2024</a:t>
            </a:r>
            <a:endParaRPr lang="el-GR" sz="2000" dirty="0"/>
          </a:p>
        </p:txBody>
      </p:sp>
      <p:pic>
        <p:nvPicPr>
          <p:cNvPr id="5" name="Εικόνα 4">
            <a:extLst>
              <a:ext uri="{FF2B5EF4-FFF2-40B4-BE49-F238E27FC236}">
                <a16:creationId xmlns:a16="http://schemas.microsoft.com/office/drawing/2014/main" id="{0C743451-B616-CACF-3722-A6CCD8778C26}"/>
              </a:ext>
            </a:extLst>
          </p:cNvPr>
          <p:cNvPicPr>
            <a:picLocks noChangeAspect="1"/>
          </p:cNvPicPr>
          <p:nvPr/>
        </p:nvPicPr>
        <p:blipFill>
          <a:blip r:embed="rId3"/>
          <a:stretch>
            <a:fillRect/>
          </a:stretch>
        </p:blipFill>
        <p:spPr>
          <a:xfrm>
            <a:off x="4031276" y="3429001"/>
            <a:ext cx="4792213" cy="3429000"/>
          </a:xfrm>
          <a:prstGeom prst="rect">
            <a:avLst/>
          </a:prstGeom>
        </p:spPr>
      </p:pic>
      <p:pic>
        <p:nvPicPr>
          <p:cNvPr id="6" name="Εικόνα 5">
            <a:extLst>
              <a:ext uri="{FF2B5EF4-FFF2-40B4-BE49-F238E27FC236}">
                <a16:creationId xmlns:a16="http://schemas.microsoft.com/office/drawing/2014/main" id="{A03C50BD-736A-6A34-1D58-FD2612EB6A49}"/>
              </a:ext>
            </a:extLst>
          </p:cNvPr>
          <p:cNvPicPr>
            <a:picLocks noChangeAspect="1"/>
          </p:cNvPicPr>
          <p:nvPr/>
        </p:nvPicPr>
        <p:blipFill>
          <a:blip r:embed="rId4"/>
          <a:stretch>
            <a:fillRect/>
          </a:stretch>
        </p:blipFill>
        <p:spPr>
          <a:xfrm>
            <a:off x="7946797" y="4707728"/>
            <a:ext cx="3629318" cy="2034123"/>
          </a:xfrm>
          <a:prstGeom prst="rect">
            <a:avLst/>
          </a:prstGeom>
        </p:spPr>
      </p:pic>
      <p:sp>
        <p:nvSpPr>
          <p:cNvPr id="11" name="TextBox 10">
            <a:extLst>
              <a:ext uri="{FF2B5EF4-FFF2-40B4-BE49-F238E27FC236}">
                <a16:creationId xmlns:a16="http://schemas.microsoft.com/office/drawing/2014/main" id="{28157169-84AC-8F47-F6A6-9F37CF5D6343}"/>
              </a:ext>
            </a:extLst>
          </p:cNvPr>
          <p:cNvSpPr txBox="1"/>
          <p:nvPr/>
        </p:nvSpPr>
        <p:spPr>
          <a:xfrm>
            <a:off x="8314441" y="6372519"/>
            <a:ext cx="3471159" cy="369332"/>
          </a:xfrm>
          <a:prstGeom prst="rect">
            <a:avLst/>
          </a:prstGeom>
          <a:noFill/>
        </p:spPr>
        <p:txBody>
          <a:bodyPr wrap="square">
            <a:spAutoFit/>
          </a:bodyPr>
          <a:lstStyle/>
          <a:p>
            <a:r>
              <a:rPr lang="el-GR" sz="1600" b="0" i="0" dirty="0">
                <a:solidFill>
                  <a:schemeClr val="bg1">
                    <a:lumMod val="95000"/>
                  </a:schemeClr>
                </a:solidFill>
                <a:effectLst/>
                <a:latin typeface="Open Sans" panose="020B0606030504020204" pitchFamily="34" charset="0"/>
              </a:rPr>
              <a:t>Ενετικός Πύργος Αυλωναρίου</a:t>
            </a:r>
            <a:r>
              <a:rPr lang="el-GR" b="0" i="0" dirty="0">
                <a:solidFill>
                  <a:srgbClr val="000000"/>
                </a:solidFill>
                <a:effectLst/>
                <a:latin typeface="Open Sans" panose="020B0606030504020204" pitchFamily="34" charset="0"/>
              </a:rPr>
              <a:t>. </a:t>
            </a:r>
            <a:endParaRPr lang="el-GR" dirty="0"/>
          </a:p>
        </p:txBody>
      </p:sp>
      <p:pic>
        <p:nvPicPr>
          <p:cNvPr id="13" name="Εικόνα 12">
            <a:extLst>
              <a:ext uri="{FF2B5EF4-FFF2-40B4-BE49-F238E27FC236}">
                <a16:creationId xmlns:a16="http://schemas.microsoft.com/office/drawing/2014/main" id="{6BF26CA0-02EF-A63B-28BB-25CE001488DE}"/>
              </a:ext>
            </a:extLst>
          </p:cNvPr>
          <p:cNvPicPr>
            <a:picLocks noChangeAspect="1"/>
          </p:cNvPicPr>
          <p:nvPr/>
        </p:nvPicPr>
        <p:blipFill>
          <a:blip r:embed="rId5"/>
          <a:stretch>
            <a:fillRect/>
          </a:stretch>
        </p:blipFill>
        <p:spPr>
          <a:xfrm>
            <a:off x="1527143" y="4707728"/>
            <a:ext cx="3469064" cy="2034123"/>
          </a:xfrm>
          <a:prstGeom prst="rect">
            <a:avLst/>
          </a:prstGeom>
        </p:spPr>
      </p:pic>
    </p:spTree>
    <p:extLst>
      <p:ext uri="{BB962C8B-B14F-4D97-AF65-F5344CB8AC3E}">
        <p14:creationId xmlns:p14="http://schemas.microsoft.com/office/powerpoint/2010/main" val="263390410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Τίτλος 12"/>
          <p:cNvSpPr>
            <a:spLocks noGrp="1"/>
          </p:cNvSpPr>
          <p:nvPr>
            <p:ph type="title"/>
          </p:nvPr>
        </p:nvSpPr>
        <p:spPr/>
        <p:txBody>
          <a:bodyPr rtlCol="0">
            <a:normAutofit/>
          </a:bodyPr>
          <a:lstStyle/>
          <a:p>
            <a:pPr algn="ctr"/>
            <a:r>
              <a:rPr lang="en-US" dirty="0"/>
              <a:t>APPROACHES TO ANTIGONE</a:t>
            </a:r>
            <a:endParaRPr lang="el-GR" dirty="0"/>
          </a:p>
        </p:txBody>
      </p:sp>
      <p:sp>
        <p:nvSpPr>
          <p:cNvPr id="14" name="Θέση περιεχομένου 13"/>
          <p:cNvSpPr>
            <a:spLocks noGrp="1"/>
          </p:cNvSpPr>
          <p:nvPr>
            <p:ph idx="1"/>
          </p:nvPr>
        </p:nvSpPr>
        <p:spPr>
          <a:xfrm>
            <a:off x="1914144" y="1447800"/>
            <a:ext cx="6202334" cy="4800600"/>
          </a:xfrm>
        </p:spPr>
        <p:txBody>
          <a:bodyPr rtlCol="0">
            <a:normAutofit fontScale="70000" lnSpcReduction="20000"/>
          </a:bodyPr>
          <a:lstStyle/>
          <a:p>
            <a:pPr lvl="0"/>
            <a:r>
              <a:rPr lang="en-US" sz="3600" kern="0" dirty="0">
                <a:solidFill>
                  <a:schemeClr val="tx1"/>
                </a:solidFill>
                <a:ea typeface="Times New Roman" panose="02020603050405020304" pitchFamily="18" charset="0"/>
              </a:rPr>
              <a:t>Translated in the 16th century
From the </a:t>
            </a:r>
            <a:r>
              <a:rPr lang="en-US" sz="3600" kern="0" dirty="0" err="1">
                <a:solidFill>
                  <a:schemeClr val="tx1"/>
                </a:solidFill>
                <a:ea typeface="Times New Roman" panose="02020603050405020304" pitchFamily="18" charset="0"/>
              </a:rPr>
              <a:t>1800s</a:t>
            </a:r>
            <a:r>
              <a:rPr lang="en-US" sz="3600" kern="0" dirty="0">
                <a:solidFill>
                  <a:schemeClr val="tx1"/>
                </a:solidFill>
                <a:ea typeface="Times New Roman" panose="02020603050405020304" pitchFamily="18" charset="0"/>
              </a:rPr>
              <a:t> many scholars interpreted this work and gave their own version more or less respecting the original.
According to Schelling, the work of Sophocles is: "the real pinnacle of dramatic art". 
</a:t>
            </a:r>
            <a:r>
              <a:rPr lang="en-US" sz="3600" kern="0" dirty="0" err="1">
                <a:solidFill>
                  <a:schemeClr val="tx1"/>
                </a:solidFill>
                <a:ea typeface="Times New Roman" panose="02020603050405020304" pitchFamily="18" charset="0"/>
              </a:rPr>
              <a:t>Hölderlin's</a:t>
            </a:r>
            <a:r>
              <a:rPr lang="en-US" sz="3600" kern="0" dirty="0">
                <a:solidFill>
                  <a:schemeClr val="tx1"/>
                </a:solidFill>
                <a:ea typeface="Times New Roman" panose="02020603050405020304" pitchFamily="18" charset="0"/>
              </a:rPr>
              <a:t> translation is one of the masterpieces of modern philology.
In 1948, Brecht staged Antigone using </a:t>
            </a:r>
            <a:r>
              <a:rPr lang="en-US" sz="3600" kern="0" dirty="0" err="1">
                <a:solidFill>
                  <a:schemeClr val="tx1"/>
                </a:solidFill>
                <a:ea typeface="Times New Roman" panose="02020603050405020304" pitchFamily="18" charset="0"/>
              </a:rPr>
              <a:t>Gelderlin's</a:t>
            </a:r>
            <a:r>
              <a:rPr lang="en-US" sz="3600" kern="0" dirty="0">
                <a:solidFill>
                  <a:schemeClr val="tx1"/>
                </a:solidFill>
                <a:ea typeface="Times New Roman" panose="02020603050405020304" pitchFamily="18" charset="0"/>
              </a:rPr>
              <a:t> text.</a:t>
            </a:r>
            <a:endParaRPr lang="el-GR" dirty="0">
              <a:solidFill>
                <a:schemeClr val="tx1"/>
              </a:solidFill>
            </a:endParaRPr>
          </a:p>
        </p:txBody>
      </p:sp>
      <p:pic>
        <p:nvPicPr>
          <p:cNvPr id="3" name="Εικόνα 2">
            <a:extLst>
              <a:ext uri="{FF2B5EF4-FFF2-40B4-BE49-F238E27FC236}">
                <a16:creationId xmlns:a16="http://schemas.microsoft.com/office/drawing/2014/main" id="{08E74E6D-FCF6-54E9-4AB1-0FE984386910}"/>
              </a:ext>
            </a:extLst>
          </p:cNvPr>
          <p:cNvPicPr>
            <a:picLocks noChangeAspect="1"/>
          </p:cNvPicPr>
          <p:nvPr/>
        </p:nvPicPr>
        <p:blipFill>
          <a:blip r:embed="rId3"/>
          <a:stretch>
            <a:fillRect/>
          </a:stretch>
        </p:blipFill>
        <p:spPr>
          <a:xfrm>
            <a:off x="8640254" y="1523999"/>
            <a:ext cx="2587069" cy="4066095"/>
          </a:xfrm>
          <a:prstGeom prst="rect">
            <a:avLst/>
          </a:prstGeom>
        </p:spPr>
      </p:pic>
    </p:spTree>
    <p:extLst>
      <p:ext uri="{BB962C8B-B14F-4D97-AF65-F5344CB8AC3E}">
        <p14:creationId xmlns:p14="http://schemas.microsoft.com/office/powerpoint/2010/main" val="988600786"/>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Εικόνα 2">
            <a:extLst>
              <a:ext uri="{FF2B5EF4-FFF2-40B4-BE49-F238E27FC236}">
                <a16:creationId xmlns:a16="http://schemas.microsoft.com/office/drawing/2014/main" id="{9C39246C-0861-1A0F-9AC3-2084699A9823}"/>
              </a:ext>
            </a:extLst>
          </p:cNvPr>
          <p:cNvPicPr>
            <a:picLocks noChangeAspect="1"/>
          </p:cNvPicPr>
          <p:nvPr/>
        </p:nvPicPr>
        <p:blipFill>
          <a:blip r:embed="rId2"/>
          <a:stretch>
            <a:fillRect/>
          </a:stretch>
        </p:blipFill>
        <p:spPr>
          <a:xfrm>
            <a:off x="2364915" y="448326"/>
            <a:ext cx="5600700" cy="3600450"/>
          </a:xfrm>
          <a:prstGeom prst="rect">
            <a:avLst/>
          </a:prstGeom>
        </p:spPr>
      </p:pic>
      <p:pic>
        <p:nvPicPr>
          <p:cNvPr id="5" name="Εικόνα 4">
            <a:extLst>
              <a:ext uri="{FF2B5EF4-FFF2-40B4-BE49-F238E27FC236}">
                <a16:creationId xmlns:a16="http://schemas.microsoft.com/office/drawing/2014/main" id="{2EEF46C6-A2A1-01F5-F3EF-3499CF641DE8}"/>
              </a:ext>
            </a:extLst>
          </p:cNvPr>
          <p:cNvPicPr>
            <a:picLocks noChangeAspect="1"/>
          </p:cNvPicPr>
          <p:nvPr/>
        </p:nvPicPr>
        <p:blipFill>
          <a:blip r:embed="rId3"/>
          <a:stretch>
            <a:fillRect/>
          </a:stretch>
        </p:blipFill>
        <p:spPr>
          <a:xfrm>
            <a:off x="5957740" y="3954508"/>
            <a:ext cx="4732256" cy="2584061"/>
          </a:xfrm>
          <a:prstGeom prst="rect">
            <a:avLst/>
          </a:prstGeom>
        </p:spPr>
      </p:pic>
    </p:spTree>
    <p:extLst>
      <p:ext uri="{BB962C8B-B14F-4D97-AF65-F5344CB8AC3E}">
        <p14:creationId xmlns:p14="http://schemas.microsoft.com/office/powerpoint/2010/main" val="25170806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F849A056-34B5-51B1-1C29-2C0423B52BB1}"/>
              </a:ext>
            </a:extLst>
          </p:cNvPr>
          <p:cNvSpPr>
            <a:spLocks noGrp="1"/>
          </p:cNvSpPr>
          <p:nvPr>
            <p:ph type="title"/>
          </p:nvPr>
        </p:nvSpPr>
        <p:spPr>
          <a:xfrm>
            <a:off x="609600" y="216778"/>
            <a:ext cx="6583052" cy="1162050"/>
          </a:xfrm>
        </p:spPr>
        <p:txBody>
          <a:bodyPr/>
          <a:lstStyle/>
          <a:p>
            <a:pPr algn="ctr">
              <a:lnSpc>
                <a:spcPct val="100000"/>
              </a:lnSpc>
            </a:pPr>
            <a:r>
              <a:rPr lang="en-US" sz="2400" dirty="0">
                <a:ea typeface="Calibri" panose="020F0502020204030204" pitchFamily="34" charset="0"/>
                <a:cs typeface="Times New Roman" panose="02020603050405020304" pitchFamily="18" charset="0"/>
              </a:rPr>
              <a:t>Yohan </a:t>
            </a:r>
            <a:r>
              <a:rPr lang="en-US" sz="2400" dirty="0" err="1">
                <a:ea typeface="Calibri" panose="020F0502020204030204" pitchFamily="34" charset="0"/>
                <a:cs typeface="Times New Roman" panose="02020603050405020304" pitchFamily="18" charset="0"/>
              </a:rPr>
              <a:t>Creistian</a:t>
            </a:r>
            <a:r>
              <a:rPr lang="en-US" sz="2400" dirty="0">
                <a:ea typeface="Calibri" panose="020F0502020204030204" pitchFamily="34" charset="0"/>
                <a:cs typeface="Times New Roman" panose="02020603050405020304" pitchFamily="18" charset="0"/>
              </a:rPr>
              <a:t> Friedrich </a:t>
            </a:r>
            <a:r>
              <a:rPr lang="en-US" sz="2400" dirty="0" err="1">
                <a:ea typeface="Calibri" panose="020F0502020204030204" pitchFamily="34" charset="0"/>
                <a:cs typeface="Times New Roman" panose="02020603050405020304" pitchFamily="18" charset="0"/>
              </a:rPr>
              <a:t>Hilderlin</a:t>
            </a:r>
            <a:r>
              <a:rPr lang="el-GR" sz="2400" dirty="0">
                <a:effectLst/>
                <a:ea typeface="Calibri" panose="020F0502020204030204" pitchFamily="34" charset="0"/>
                <a:cs typeface="Times New Roman" panose="02020603050405020304" pitchFamily="18" charset="0"/>
              </a:rPr>
              <a:t>(</a:t>
            </a:r>
            <a:r>
              <a:rPr lang="en-US" sz="2400" i="1" dirty="0">
                <a:effectLst/>
                <a:ea typeface="Calibri" panose="020F0502020204030204" pitchFamily="34" charset="0"/>
                <a:cs typeface="Times New Roman" panose="02020603050405020304" pitchFamily="18" charset="0"/>
              </a:rPr>
              <a:t>Johann Christian Friedrich H</a:t>
            </a:r>
            <a:r>
              <a:rPr lang="el-GR" sz="2400" i="1" dirty="0">
                <a:effectLst/>
                <a:ea typeface="Calibri" panose="020F0502020204030204" pitchFamily="34" charset="0"/>
                <a:cs typeface="Times New Roman" panose="02020603050405020304" pitchFamily="18" charset="0"/>
              </a:rPr>
              <a:t>ö</a:t>
            </a:r>
            <a:r>
              <a:rPr lang="en-US" sz="2400" i="1" dirty="0" err="1">
                <a:effectLst/>
                <a:ea typeface="Calibri" panose="020F0502020204030204" pitchFamily="34" charset="0"/>
                <a:cs typeface="Times New Roman" panose="02020603050405020304" pitchFamily="18" charset="0"/>
              </a:rPr>
              <a:t>lderlin</a:t>
            </a:r>
            <a:r>
              <a:rPr lang="el-GR" sz="2400" i="1" dirty="0">
                <a:ea typeface="Calibri" panose="020F0502020204030204" pitchFamily="34" charset="0"/>
                <a:cs typeface="Times New Roman" panose="02020603050405020304" pitchFamily="18" charset="0"/>
              </a:rPr>
              <a:t> </a:t>
            </a:r>
            <a:r>
              <a:rPr lang="el-GR" sz="2400" dirty="0">
                <a:effectLst/>
                <a:ea typeface="Calibri" panose="020F0502020204030204" pitchFamily="34" charset="0"/>
                <a:cs typeface="Times New Roman" panose="02020603050405020304" pitchFamily="18" charset="0"/>
              </a:rPr>
              <a:t> (</a:t>
            </a:r>
            <a:r>
              <a:rPr lang="el-GR" sz="2400" u="sng" dirty="0">
                <a:solidFill>
                  <a:schemeClr val="tx1"/>
                </a:solidFill>
                <a:effectLst/>
                <a:ea typeface="Calibri" panose="020F0502020204030204" pitchFamily="34" charset="0"/>
                <a:cs typeface="Times New Roman" panose="02020603050405020304" pitchFamily="18" charset="0"/>
                <a:hlinkClick r:id="rId2" tooltip="1770">
                  <a:extLst>
                    <a:ext uri="{A12FA001-AC4F-418D-AE19-62706E023703}">
                      <ahyp:hlinkClr xmlns:ahyp="http://schemas.microsoft.com/office/drawing/2018/hyperlinkcolor" val="tx"/>
                    </a:ext>
                  </a:extLst>
                </a:hlinkClick>
              </a:rPr>
              <a:t>1770</a:t>
            </a:r>
            <a:r>
              <a:rPr lang="el-GR" sz="2400" dirty="0">
                <a:solidFill>
                  <a:schemeClr val="tx1"/>
                </a:solidFill>
                <a:effectLst/>
                <a:ea typeface="Calibri" panose="020F0502020204030204" pitchFamily="34" charset="0"/>
                <a:cs typeface="Times New Roman" panose="02020603050405020304" pitchFamily="18" charset="0"/>
              </a:rPr>
              <a:t> -</a:t>
            </a:r>
            <a:r>
              <a:rPr lang="el-GR" sz="2400" u="sng" dirty="0">
                <a:solidFill>
                  <a:schemeClr val="tx1"/>
                </a:solidFill>
                <a:effectLst/>
                <a:ea typeface="Calibri" panose="020F0502020204030204" pitchFamily="34" charset="0"/>
                <a:cs typeface="Times New Roman" panose="02020603050405020304" pitchFamily="18" charset="0"/>
                <a:hlinkClick r:id="rId3" tooltip="1843">
                  <a:extLst>
                    <a:ext uri="{A12FA001-AC4F-418D-AE19-62706E023703}">
                      <ahyp:hlinkClr xmlns:ahyp="http://schemas.microsoft.com/office/drawing/2018/hyperlinkcolor" val="tx"/>
                    </a:ext>
                  </a:extLst>
                </a:hlinkClick>
              </a:rPr>
              <a:t>1843</a:t>
            </a:r>
            <a:r>
              <a:rPr lang="el-GR" sz="2400" dirty="0">
                <a:effectLst/>
                <a:ea typeface="Calibri" panose="020F0502020204030204" pitchFamily="34" charset="0"/>
                <a:cs typeface="Times New Roman" panose="02020603050405020304" pitchFamily="18" charset="0"/>
              </a:rPr>
              <a:t>) </a:t>
            </a:r>
            <a:endParaRPr lang="el-GR" sz="2400" dirty="0">
              <a:cs typeface="Times New Roman" panose="02020603050405020304" pitchFamily="18" charset="0"/>
            </a:endParaRPr>
          </a:p>
        </p:txBody>
      </p:sp>
      <p:sp>
        <p:nvSpPr>
          <p:cNvPr id="3" name="Θέση κειμένου 2">
            <a:extLst>
              <a:ext uri="{FF2B5EF4-FFF2-40B4-BE49-F238E27FC236}">
                <a16:creationId xmlns:a16="http://schemas.microsoft.com/office/drawing/2014/main" id="{84C4BAD9-4A8A-AA12-B6DC-FD24B0D3BC6C}"/>
              </a:ext>
            </a:extLst>
          </p:cNvPr>
          <p:cNvSpPr>
            <a:spLocks noGrp="1"/>
          </p:cNvSpPr>
          <p:nvPr>
            <p:ph type="body" idx="2"/>
          </p:nvPr>
        </p:nvSpPr>
        <p:spPr/>
        <p:txBody>
          <a:bodyPr>
            <a:normAutofit/>
          </a:bodyPr>
          <a:lstStyle/>
          <a:p>
            <a:r>
              <a:rPr lang="en-US" sz="2400" dirty="0">
                <a:solidFill>
                  <a:schemeClr val="tx1"/>
                </a:solidFill>
                <a:latin typeface="Century Gothic" panose="020B0502020202020204" pitchFamily="34" charset="0"/>
                <a:ea typeface="Calibri" panose="020F0502020204030204" pitchFamily="34" charset="0"/>
                <a:cs typeface="Times New Roman" panose="02020603050405020304" pitchFamily="18" charset="0"/>
              </a:rPr>
              <a:t>German lyric poet</a:t>
            </a:r>
            <a:endParaRPr lang="el-GR" sz="2400" dirty="0">
              <a:solidFill>
                <a:schemeClr val="tx1"/>
              </a:solidFill>
              <a:latin typeface="Century Gothic" panose="020B0502020202020204" pitchFamily="34" charset="0"/>
            </a:endParaRPr>
          </a:p>
        </p:txBody>
      </p:sp>
      <p:sp>
        <p:nvSpPr>
          <p:cNvPr id="4" name="Θέση περιεχομένου 3">
            <a:extLst>
              <a:ext uri="{FF2B5EF4-FFF2-40B4-BE49-F238E27FC236}">
                <a16:creationId xmlns:a16="http://schemas.microsoft.com/office/drawing/2014/main" id="{B149B11B-AB19-6630-10BE-94872C65B466}"/>
              </a:ext>
            </a:extLst>
          </p:cNvPr>
          <p:cNvSpPr>
            <a:spLocks noGrp="1"/>
          </p:cNvSpPr>
          <p:nvPr>
            <p:ph sz="half" idx="1"/>
          </p:nvPr>
        </p:nvSpPr>
        <p:spPr/>
        <p:txBody>
          <a:bodyPr/>
          <a:lstStyle/>
          <a:p>
            <a:r>
              <a:rPr lang="en-US" sz="1800" dirty="0">
                <a:solidFill>
                  <a:schemeClr val="tx1"/>
                </a:solidFill>
                <a:ea typeface="Calibri" panose="020F0502020204030204" pitchFamily="34" charset="0"/>
                <a:cs typeface="Times New Roman" panose="02020603050405020304" pitchFamily="18" charset="0"/>
              </a:rPr>
              <a:t>Born in </a:t>
            </a:r>
            <a:r>
              <a:rPr lang="en-US" sz="1800" dirty="0" err="1">
                <a:solidFill>
                  <a:schemeClr val="tx1"/>
                </a:solidFill>
                <a:ea typeface="Calibri" panose="020F0502020204030204" pitchFamily="34" charset="0"/>
                <a:cs typeface="Times New Roman" panose="02020603050405020304" pitchFamily="18" charset="0"/>
              </a:rPr>
              <a:t>Lauffen</a:t>
            </a:r>
            <a:r>
              <a:rPr lang="en-US" sz="1800" dirty="0">
                <a:solidFill>
                  <a:schemeClr val="tx1"/>
                </a:solidFill>
                <a:ea typeface="Calibri" panose="020F0502020204030204" pitchFamily="34" charset="0"/>
                <a:cs typeface="Times New Roman" panose="02020603050405020304" pitchFamily="18" charset="0"/>
              </a:rPr>
              <a:t>, his work bridges the classical school in literature with the romantic</a:t>
            </a:r>
            <a:r>
              <a:rPr lang="el-GR" sz="1800" u="sng" dirty="0">
                <a:solidFill>
                  <a:schemeClr val="tx1"/>
                </a:solidFill>
                <a:effectLst/>
                <a:ea typeface="Calibri" panose="020F0502020204030204" pitchFamily="34" charset="0"/>
                <a:cs typeface="Times New Roman" panose="02020603050405020304" pitchFamily="18" charset="0"/>
              </a:rPr>
              <a:t>.</a:t>
            </a:r>
            <a:endParaRPr lang="el-GR" u="sng" dirty="0">
              <a:solidFill>
                <a:schemeClr val="tx1"/>
              </a:solidFill>
            </a:endParaRPr>
          </a:p>
        </p:txBody>
      </p:sp>
      <p:pic>
        <p:nvPicPr>
          <p:cNvPr id="6" name="Εικόνα 5">
            <a:extLst>
              <a:ext uri="{FF2B5EF4-FFF2-40B4-BE49-F238E27FC236}">
                <a16:creationId xmlns:a16="http://schemas.microsoft.com/office/drawing/2014/main" id="{B3B7F847-8C37-EB58-CA0F-6AE19771BB5F}"/>
              </a:ext>
            </a:extLst>
          </p:cNvPr>
          <p:cNvPicPr>
            <a:picLocks noChangeAspect="1"/>
          </p:cNvPicPr>
          <p:nvPr/>
        </p:nvPicPr>
        <p:blipFill>
          <a:blip r:embed="rId4"/>
          <a:stretch>
            <a:fillRect/>
          </a:stretch>
        </p:blipFill>
        <p:spPr>
          <a:xfrm>
            <a:off x="3082565" y="3506568"/>
            <a:ext cx="5705835" cy="3134654"/>
          </a:xfrm>
          <a:prstGeom prst="rect">
            <a:avLst/>
          </a:prstGeom>
        </p:spPr>
      </p:pic>
      <p:sp>
        <p:nvSpPr>
          <p:cNvPr id="10" name="TextBox 9">
            <a:extLst>
              <a:ext uri="{FF2B5EF4-FFF2-40B4-BE49-F238E27FC236}">
                <a16:creationId xmlns:a16="http://schemas.microsoft.com/office/drawing/2014/main" id="{C9FD725E-DB90-442F-6491-525EF4C3437E}"/>
              </a:ext>
            </a:extLst>
          </p:cNvPr>
          <p:cNvSpPr txBox="1"/>
          <p:nvPr/>
        </p:nvSpPr>
        <p:spPr>
          <a:xfrm>
            <a:off x="3082565" y="2860237"/>
            <a:ext cx="6232165" cy="646331"/>
          </a:xfrm>
          <a:prstGeom prst="rect">
            <a:avLst/>
          </a:prstGeom>
          <a:noFill/>
        </p:spPr>
        <p:txBody>
          <a:bodyPr wrap="square">
            <a:spAutoFit/>
          </a:bodyPr>
          <a:lstStyle/>
          <a:p>
            <a:r>
              <a:rPr lang="en-US" dirty="0">
                <a:solidFill>
                  <a:srgbClr val="4B4B4D"/>
                </a:solidFill>
                <a:latin typeface="Franklin Gothic"/>
              </a:rPr>
              <a:t>Sculpture of the poet Friedrich </a:t>
            </a:r>
            <a:r>
              <a:rPr lang="en-US" dirty="0" err="1">
                <a:solidFill>
                  <a:srgbClr val="4B4B4D"/>
                </a:solidFill>
                <a:latin typeface="Franklin Gothic"/>
              </a:rPr>
              <a:t>Hölderlin</a:t>
            </a:r>
            <a:r>
              <a:rPr lang="en-US" dirty="0">
                <a:solidFill>
                  <a:srgbClr val="4B4B4D"/>
                </a:solidFill>
                <a:latin typeface="Franklin Gothic"/>
              </a:rPr>
              <a:t> (by Waldemar Schröder) in </a:t>
            </a:r>
            <a:r>
              <a:rPr lang="en-US" dirty="0" err="1">
                <a:solidFill>
                  <a:srgbClr val="4B4B4D"/>
                </a:solidFill>
                <a:latin typeface="Franklin Gothic"/>
              </a:rPr>
              <a:t>Nürtingen</a:t>
            </a:r>
            <a:endParaRPr lang="el-GR" dirty="0"/>
          </a:p>
        </p:txBody>
      </p:sp>
    </p:spTree>
    <p:extLst>
      <p:ext uri="{BB962C8B-B14F-4D97-AF65-F5344CB8AC3E}">
        <p14:creationId xmlns:p14="http://schemas.microsoft.com/office/powerpoint/2010/main" val="1629015421"/>
      </p:ext>
    </p:extLst>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A3048AE-F3F2-153D-287A-DCE2AC4A0920}"/>
              </a:ext>
            </a:extLst>
          </p:cNvPr>
          <p:cNvSpPr>
            <a:spLocks noGrp="1"/>
          </p:cNvSpPr>
          <p:nvPr>
            <p:ph type="title"/>
          </p:nvPr>
        </p:nvSpPr>
        <p:spPr/>
        <p:txBody>
          <a:bodyPr/>
          <a:lstStyle/>
          <a:p>
            <a:pPr algn="ctr"/>
            <a:r>
              <a:rPr lang="en-US" dirty="0"/>
              <a:t>The poet in </a:t>
            </a:r>
            <a:r>
              <a:rPr lang="en-US" b="1" dirty="0"/>
              <a:t>Tübingen</a:t>
            </a:r>
            <a:endParaRPr lang="el-GR" dirty="0"/>
          </a:p>
        </p:txBody>
      </p:sp>
      <p:sp>
        <p:nvSpPr>
          <p:cNvPr id="3" name="Θέση περιεχομένου 2">
            <a:extLst>
              <a:ext uri="{FF2B5EF4-FFF2-40B4-BE49-F238E27FC236}">
                <a16:creationId xmlns:a16="http://schemas.microsoft.com/office/drawing/2014/main" id="{99B36E57-9739-4C03-117F-D14CCA52CC6B}"/>
              </a:ext>
            </a:extLst>
          </p:cNvPr>
          <p:cNvSpPr>
            <a:spLocks noGrp="1"/>
          </p:cNvSpPr>
          <p:nvPr>
            <p:ph sz="half" idx="1"/>
          </p:nvPr>
        </p:nvSpPr>
        <p:spPr/>
        <p:txBody>
          <a:bodyPr>
            <a:normAutofit/>
          </a:bodyPr>
          <a:lstStyle/>
          <a:p>
            <a:r>
              <a:rPr lang="en-US" sz="1800" dirty="0">
                <a:solidFill>
                  <a:schemeClr val="tx1"/>
                </a:solidFill>
                <a:latin typeface="Century Gothic" panose="020B0502020202020204" pitchFamily="34" charset="0"/>
                <a:ea typeface="Calibri" panose="020F0502020204030204" pitchFamily="34" charset="0"/>
                <a:cs typeface="Times New Roman" panose="02020603050405020304" pitchFamily="18" charset="0"/>
              </a:rPr>
              <a:t>He studied Theology 
 With his epistolary novel "Hyperion", he is the first European to support Greek independence.
 Meet Hegel
Friedrich Schiller helped him in his career.</a:t>
            </a:r>
            <a:endParaRPr lang="el-GR" dirty="0">
              <a:solidFill>
                <a:schemeClr val="tx1"/>
              </a:solidFill>
              <a:latin typeface="Century Gothic" panose="020B0502020202020204" pitchFamily="34" charset="0"/>
            </a:endParaRPr>
          </a:p>
        </p:txBody>
      </p:sp>
      <p:pic>
        <p:nvPicPr>
          <p:cNvPr id="6" name="Θέση περιεχομένου 5">
            <a:extLst>
              <a:ext uri="{FF2B5EF4-FFF2-40B4-BE49-F238E27FC236}">
                <a16:creationId xmlns:a16="http://schemas.microsoft.com/office/drawing/2014/main" id="{9D89AF87-EDCC-541C-B4CF-F8EF505C0321}"/>
              </a:ext>
            </a:extLst>
          </p:cNvPr>
          <p:cNvPicPr>
            <a:picLocks noGrp="1" noChangeAspect="1"/>
          </p:cNvPicPr>
          <p:nvPr>
            <p:ph sz="half" idx="2"/>
          </p:nvPr>
        </p:nvPicPr>
        <p:blipFill>
          <a:blip r:embed="rId2"/>
          <a:stretch>
            <a:fillRect/>
          </a:stretch>
        </p:blipFill>
        <p:spPr>
          <a:xfrm>
            <a:off x="7344051" y="2026920"/>
            <a:ext cx="4567533" cy="3657599"/>
          </a:xfrm>
        </p:spPr>
      </p:pic>
      <p:sp>
        <p:nvSpPr>
          <p:cNvPr id="5" name="TextBox 4">
            <a:extLst>
              <a:ext uri="{FF2B5EF4-FFF2-40B4-BE49-F238E27FC236}">
                <a16:creationId xmlns:a16="http://schemas.microsoft.com/office/drawing/2014/main" id="{B52EB864-F7DD-B8E9-8704-FFC7A545BC22}"/>
              </a:ext>
            </a:extLst>
          </p:cNvPr>
          <p:cNvSpPr txBox="1"/>
          <p:nvPr/>
        </p:nvSpPr>
        <p:spPr>
          <a:xfrm>
            <a:off x="7794172" y="5809058"/>
            <a:ext cx="4117412" cy="369332"/>
          </a:xfrm>
          <a:prstGeom prst="rect">
            <a:avLst/>
          </a:prstGeom>
          <a:noFill/>
        </p:spPr>
        <p:txBody>
          <a:bodyPr wrap="square">
            <a:spAutoFit/>
          </a:bodyPr>
          <a:lstStyle/>
          <a:p>
            <a:r>
              <a:rPr lang="en-US" dirty="0" err="1">
                <a:solidFill>
                  <a:srgbClr val="080808"/>
                </a:solidFill>
                <a:latin typeface="Lato" panose="020F0502020204030203" pitchFamily="34" charset="0"/>
              </a:rPr>
              <a:t>Hilderlin's</a:t>
            </a:r>
            <a:r>
              <a:rPr lang="en-US" dirty="0">
                <a:solidFill>
                  <a:srgbClr val="080808"/>
                </a:solidFill>
                <a:latin typeface="Lato" panose="020F0502020204030203" pitchFamily="34" charset="0"/>
              </a:rPr>
              <a:t> tower in</a:t>
            </a:r>
            <a:r>
              <a:rPr lang="el-GR" dirty="0">
                <a:solidFill>
                  <a:srgbClr val="080808"/>
                </a:solidFill>
                <a:latin typeface="Lato" panose="020F0502020204030203" pitchFamily="34" charset="0"/>
              </a:rPr>
              <a:t> </a:t>
            </a:r>
            <a:r>
              <a:rPr lang="en-US" b="1" dirty="0"/>
              <a:t>Tübingen</a:t>
            </a:r>
            <a:r>
              <a:rPr lang="el-GR" dirty="0">
                <a:solidFill>
                  <a:srgbClr val="080808"/>
                </a:solidFill>
                <a:latin typeface="Lato" panose="020F0502020204030203" pitchFamily="34" charset="0"/>
              </a:rPr>
              <a:t> </a:t>
            </a:r>
            <a:r>
              <a:rPr lang="en-US" dirty="0">
                <a:solidFill>
                  <a:srgbClr val="080808"/>
                </a:solidFill>
                <a:latin typeface="Lato" panose="020F0502020204030203" pitchFamily="34" charset="0"/>
              </a:rPr>
              <a:t> </a:t>
            </a:r>
            <a:endParaRPr lang="de-DE" b="0" i="0" dirty="0">
              <a:solidFill>
                <a:srgbClr val="080808"/>
              </a:solidFill>
              <a:effectLst/>
              <a:latin typeface="Lato" panose="020F0502020204030203" pitchFamily="34" charset="0"/>
            </a:endParaRPr>
          </a:p>
        </p:txBody>
      </p:sp>
    </p:spTree>
    <p:extLst>
      <p:ext uri="{BB962C8B-B14F-4D97-AF65-F5344CB8AC3E}">
        <p14:creationId xmlns:p14="http://schemas.microsoft.com/office/powerpoint/2010/main" val="4184287396"/>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456CE66A-5B9D-5AD3-D26B-630850874E2A}"/>
              </a:ext>
            </a:extLst>
          </p:cNvPr>
          <p:cNvSpPr>
            <a:spLocks noGrp="1"/>
          </p:cNvSpPr>
          <p:nvPr>
            <p:ph type="title"/>
          </p:nvPr>
        </p:nvSpPr>
        <p:spPr/>
        <p:txBody>
          <a:bodyPr/>
          <a:lstStyle/>
          <a:p>
            <a:pPr algn="ctr"/>
            <a:r>
              <a:rPr lang="en-US" dirty="0"/>
              <a:t>LOVE AND BLINDNESS</a:t>
            </a:r>
            <a:endParaRPr lang="el-GR" dirty="0"/>
          </a:p>
        </p:txBody>
      </p:sp>
      <p:sp>
        <p:nvSpPr>
          <p:cNvPr id="3" name="Θέση περιεχομένου 2">
            <a:extLst>
              <a:ext uri="{FF2B5EF4-FFF2-40B4-BE49-F238E27FC236}">
                <a16:creationId xmlns:a16="http://schemas.microsoft.com/office/drawing/2014/main" id="{09942CE0-F2D8-4F81-E010-89F0D63E3501}"/>
              </a:ext>
            </a:extLst>
          </p:cNvPr>
          <p:cNvSpPr>
            <a:spLocks noGrp="1"/>
          </p:cNvSpPr>
          <p:nvPr>
            <p:ph sz="half" idx="1"/>
          </p:nvPr>
        </p:nvSpPr>
        <p:spPr/>
        <p:txBody>
          <a:bodyPr>
            <a:normAutofit/>
          </a:bodyPr>
          <a:lstStyle/>
          <a:p>
            <a:r>
              <a:rPr lang="el-GR" sz="1800" dirty="0">
                <a:solidFill>
                  <a:schemeClr val="tx1"/>
                </a:solidFill>
                <a:effectLst/>
                <a:ea typeface="Times New Roman" panose="02020603050405020304" pitchFamily="18" charset="0"/>
              </a:rPr>
              <a:t> </a:t>
            </a:r>
            <a:r>
              <a:rPr lang="en-US" sz="1800" dirty="0">
                <a:solidFill>
                  <a:schemeClr val="tx1"/>
                </a:solidFill>
                <a:ea typeface="Times New Roman" panose="02020603050405020304" pitchFamily="18" charset="0"/>
              </a:rPr>
              <a:t>1796: met Suzette Goddard</a:t>
            </a:r>
            <a:r>
              <a:rPr lang="el-GR" sz="1800" dirty="0">
                <a:solidFill>
                  <a:schemeClr val="tx1"/>
                </a:solidFill>
                <a:ea typeface="Times New Roman" panose="02020603050405020304" pitchFamily="18" charset="0"/>
              </a:rPr>
              <a:t>,</a:t>
            </a:r>
            <a:r>
              <a:rPr lang="en-US" sz="1800" dirty="0">
                <a:solidFill>
                  <a:schemeClr val="tx1"/>
                </a:solidFill>
                <a:ea typeface="Times New Roman" panose="02020603050405020304" pitchFamily="18" charset="0"/>
              </a:rPr>
              <a:t>   symbol of his secret love.
 Hyperion gives her the nickname Diotima (the well-known priestess in the Platonic Symposium). 
Her death in 1802 would shake his mental health. 
In 1806 he was transferred to a phrenological clinic in Tübingen. 
Ernst Zimmer cared for him at home until his death in 1843.</a:t>
            </a:r>
            <a:endParaRPr lang="el-GR" dirty="0"/>
          </a:p>
        </p:txBody>
      </p:sp>
      <p:pic>
        <p:nvPicPr>
          <p:cNvPr id="10" name="Θέση περιεχομένου 9">
            <a:extLst>
              <a:ext uri="{FF2B5EF4-FFF2-40B4-BE49-F238E27FC236}">
                <a16:creationId xmlns:a16="http://schemas.microsoft.com/office/drawing/2014/main" id="{4DC8B008-3091-11E5-4A2A-2698ABC07AB4}"/>
              </a:ext>
            </a:extLst>
          </p:cNvPr>
          <p:cNvPicPr>
            <a:picLocks noGrp="1" noChangeAspect="1"/>
          </p:cNvPicPr>
          <p:nvPr>
            <p:ph sz="half" idx="2"/>
          </p:nvPr>
        </p:nvPicPr>
        <p:blipFill>
          <a:blip r:embed="rId2"/>
          <a:stretch>
            <a:fillRect/>
          </a:stretch>
        </p:blipFill>
        <p:spPr>
          <a:xfrm>
            <a:off x="7034213" y="2483065"/>
            <a:ext cx="4876800" cy="2745945"/>
          </a:xfrm>
        </p:spPr>
      </p:pic>
    </p:spTree>
    <p:extLst>
      <p:ext uri="{BB962C8B-B14F-4D97-AF65-F5344CB8AC3E}">
        <p14:creationId xmlns:p14="http://schemas.microsoft.com/office/powerpoint/2010/main" val="245271948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Εικόνα 2">
            <a:extLst>
              <a:ext uri="{FF2B5EF4-FFF2-40B4-BE49-F238E27FC236}">
                <a16:creationId xmlns:a16="http://schemas.microsoft.com/office/drawing/2014/main" id="{15DCB76C-D7C0-8F53-8636-64EBE1F14AE1}"/>
              </a:ext>
            </a:extLst>
          </p:cNvPr>
          <p:cNvPicPr>
            <a:picLocks noChangeAspect="1"/>
          </p:cNvPicPr>
          <p:nvPr/>
        </p:nvPicPr>
        <p:blipFill>
          <a:blip r:embed="rId2"/>
          <a:stretch>
            <a:fillRect/>
          </a:stretch>
        </p:blipFill>
        <p:spPr>
          <a:xfrm>
            <a:off x="7402286" y="1741806"/>
            <a:ext cx="3733800" cy="4027532"/>
          </a:xfrm>
          <a:prstGeom prst="rect">
            <a:avLst/>
          </a:prstGeom>
        </p:spPr>
      </p:pic>
      <p:pic>
        <p:nvPicPr>
          <p:cNvPr id="7" name="Εικόνα 6">
            <a:extLst>
              <a:ext uri="{FF2B5EF4-FFF2-40B4-BE49-F238E27FC236}">
                <a16:creationId xmlns:a16="http://schemas.microsoft.com/office/drawing/2014/main" id="{57764783-044B-A79F-F96B-B130A2D040FD}"/>
              </a:ext>
            </a:extLst>
          </p:cNvPr>
          <p:cNvPicPr>
            <a:picLocks noChangeAspect="1"/>
          </p:cNvPicPr>
          <p:nvPr/>
        </p:nvPicPr>
        <p:blipFill>
          <a:blip r:embed="rId3"/>
          <a:stretch>
            <a:fillRect/>
          </a:stretch>
        </p:blipFill>
        <p:spPr>
          <a:xfrm>
            <a:off x="2449286" y="571038"/>
            <a:ext cx="3733800" cy="3727699"/>
          </a:xfrm>
          <a:prstGeom prst="rect">
            <a:avLst/>
          </a:prstGeom>
        </p:spPr>
      </p:pic>
    </p:spTree>
    <p:extLst>
      <p:ext uri="{BB962C8B-B14F-4D97-AF65-F5344CB8AC3E}">
        <p14:creationId xmlns:p14="http://schemas.microsoft.com/office/powerpoint/2010/main" val="1963631817"/>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D9AACACC-3E89-8384-A7C2-A9B98FF586B1}"/>
              </a:ext>
            </a:extLst>
          </p:cNvPr>
          <p:cNvSpPr>
            <a:spLocks noGrp="1"/>
          </p:cNvSpPr>
          <p:nvPr>
            <p:ph type="title"/>
          </p:nvPr>
        </p:nvSpPr>
        <p:spPr/>
        <p:txBody>
          <a:bodyPr/>
          <a:lstStyle/>
          <a:p>
            <a:r>
              <a:rPr lang="en-US" dirty="0"/>
              <a:t>Antigone translation</a:t>
            </a:r>
            <a:endParaRPr lang="el-GR" dirty="0"/>
          </a:p>
        </p:txBody>
      </p:sp>
      <p:sp>
        <p:nvSpPr>
          <p:cNvPr id="3" name="Θέση κειμένου 2">
            <a:extLst>
              <a:ext uri="{FF2B5EF4-FFF2-40B4-BE49-F238E27FC236}">
                <a16:creationId xmlns:a16="http://schemas.microsoft.com/office/drawing/2014/main" id="{6269BA70-3F7D-CE9D-A8F2-BFF1F423CC4C}"/>
              </a:ext>
            </a:extLst>
          </p:cNvPr>
          <p:cNvSpPr>
            <a:spLocks noGrp="1"/>
          </p:cNvSpPr>
          <p:nvPr>
            <p:ph type="body" idx="2"/>
          </p:nvPr>
        </p:nvSpPr>
        <p:spPr>
          <a:xfrm>
            <a:off x="609600" y="1406964"/>
            <a:ext cx="5080000" cy="468970"/>
          </a:xfrm>
        </p:spPr>
        <p:txBody>
          <a:bodyPr/>
          <a:lstStyle/>
          <a:p>
            <a:r>
              <a:rPr lang="en-US" dirty="0">
                <a:solidFill>
                  <a:schemeClr val="tx1"/>
                </a:solidFill>
              </a:rPr>
              <a:t>Multiple interpretations</a:t>
            </a:r>
            <a:endParaRPr lang="el-GR" dirty="0">
              <a:solidFill>
                <a:schemeClr val="tx1"/>
              </a:solidFill>
            </a:endParaRPr>
          </a:p>
        </p:txBody>
      </p:sp>
      <p:sp>
        <p:nvSpPr>
          <p:cNvPr id="4" name="Θέση περιεχομένου 3">
            <a:extLst>
              <a:ext uri="{FF2B5EF4-FFF2-40B4-BE49-F238E27FC236}">
                <a16:creationId xmlns:a16="http://schemas.microsoft.com/office/drawing/2014/main" id="{01014FA2-5B50-4981-404D-72E8F21A591F}"/>
              </a:ext>
            </a:extLst>
          </p:cNvPr>
          <p:cNvSpPr>
            <a:spLocks noGrp="1"/>
          </p:cNvSpPr>
          <p:nvPr>
            <p:ph sz="half" idx="1"/>
          </p:nvPr>
        </p:nvSpPr>
        <p:spPr>
          <a:xfrm>
            <a:off x="609600" y="1960775"/>
            <a:ext cx="6922416" cy="4165389"/>
          </a:xfrm>
        </p:spPr>
        <p:txBody>
          <a:bodyPr>
            <a:normAutofit fontScale="92500" lnSpcReduction="10000"/>
          </a:bodyPr>
          <a:lstStyle/>
          <a:p>
            <a:r>
              <a:rPr lang="en-US" sz="1800" kern="100" dirty="0" err="1">
                <a:solidFill>
                  <a:schemeClr val="tx1"/>
                </a:solidFill>
                <a:ea typeface="Calibri" panose="020F0502020204030204" pitchFamily="34" charset="0"/>
                <a:cs typeface="Times New Roman" panose="02020603050405020304" pitchFamily="18" charset="0"/>
              </a:rPr>
              <a:t>Helderlin</a:t>
            </a:r>
            <a:r>
              <a:rPr lang="en-US" sz="1800" kern="100" dirty="0">
                <a:solidFill>
                  <a:schemeClr val="tx1"/>
                </a:solidFill>
                <a:ea typeface="Calibri" panose="020F0502020204030204" pitchFamily="34" charset="0"/>
                <a:cs typeface="Times New Roman" panose="02020603050405020304" pitchFamily="18" charset="0"/>
              </a:rPr>
              <a:t> translated Sophocles' Antigone in 1804
 revives in the enlightened soul "the golden age of truth and beauty, Greece"
 Winkelmann: "we must imitate the Ancients in order to become inimitable in turn." 
 Carl Reichart</a:t>
            </a:r>
            <a:r>
              <a:rPr lang="el-GR" sz="1800" kern="100" dirty="0">
                <a:solidFill>
                  <a:schemeClr val="tx1"/>
                </a:solidFill>
                <a:ea typeface="Calibri" panose="020F0502020204030204" pitchFamily="34" charset="0"/>
                <a:cs typeface="Times New Roman" panose="02020603050405020304" pitchFamily="18" charset="0"/>
              </a:rPr>
              <a:t>:</a:t>
            </a:r>
            <a:r>
              <a:rPr lang="en-US" sz="1800" kern="100" dirty="0">
                <a:solidFill>
                  <a:schemeClr val="tx1"/>
                </a:solidFill>
                <a:ea typeface="Calibri" panose="020F0502020204030204" pitchFamily="34" charset="0"/>
                <a:cs typeface="Times New Roman" panose="02020603050405020304" pitchFamily="18" charset="0"/>
              </a:rPr>
              <a:t> "the highest poetry, apt to the end"
  Goethe: </a:t>
            </a:r>
            <a:r>
              <a:rPr lang="en-US" sz="1800" kern="100" dirty="0" err="1">
                <a:solidFill>
                  <a:schemeClr val="tx1"/>
                </a:solidFill>
                <a:ea typeface="Calibri" panose="020F0502020204030204" pitchFamily="34" charset="0"/>
                <a:cs typeface="Times New Roman" panose="02020603050405020304" pitchFamily="18" charset="0"/>
              </a:rPr>
              <a:t>Helderlin's</a:t>
            </a:r>
            <a:r>
              <a:rPr lang="en-US" sz="1800" kern="100" dirty="0">
                <a:solidFill>
                  <a:schemeClr val="tx1"/>
                </a:solidFill>
                <a:ea typeface="Calibri" panose="020F0502020204030204" pitchFamily="34" charset="0"/>
                <a:cs typeface="Times New Roman" panose="02020603050405020304" pitchFamily="18" charset="0"/>
              </a:rPr>
              <a:t> translations were derivatives of his insanity, the so-called </a:t>
            </a:r>
            <a:r>
              <a:rPr lang="en-US" sz="1800" kern="100" dirty="0" err="1">
                <a:solidFill>
                  <a:schemeClr val="tx1"/>
                </a:solidFill>
                <a:ea typeface="Calibri" panose="020F0502020204030204" pitchFamily="34" charset="0"/>
                <a:cs typeface="Times New Roman" panose="02020603050405020304" pitchFamily="18" charset="0"/>
              </a:rPr>
              <a:t>Umnactung</a:t>
            </a:r>
            <a:r>
              <a:rPr lang="en-US" sz="1800" kern="100" dirty="0">
                <a:solidFill>
                  <a:schemeClr val="tx1"/>
                </a:solidFill>
                <a:ea typeface="Calibri" panose="020F0502020204030204" pitchFamily="34" charset="0"/>
                <a:cs typeface="Times New Roman" panose="02020603050405020304" pitchFamily="18" charset="0"/>
              </a:rPr>
              <a:t> (plunge into darkness). 
 Georg Steiner: verbal and editorial media are radicalized, with the result that external common discourse acquires internal cohesion of groups of metaphors and images, making the work the primary source of modernism... 
 This translation was the basis of Hegel, when he calls Antigone "one of the highest and most complete... Artwork... ».</a:t>
            </a:r>
            <a:endParaRPr lang="el-GR" sz="1800" kern="100" dirty="0">
              <a:solidFill>
                <a:schemeClr val="tx1"/>
              </a:solidFill>
              <a:effectLst/>
              <a:ea typeface="Calibri" panose="020F0502020204030204" pitchFamily="34" charset="0"/>
              <a:cs typeface="Times New Roman" panose="02020603050405020304" pitchFamily="18" charset="0"/>
            </a:endParaRPr>
          </a:p>
          <a:p>
            <a:endParaRPr lang="el-GR" dirty="0"/>
          </a:p>
        </p:txBody>
      </p:sp>
      <p:pic>
        <p:nvPicPr>
          <p:cNvPr id="6" name="Εικόνα 5">
            <a:extLst>
              <a:ext uri="{FF2B5EF4-FFF2-40B4-BE49-F238E27FC236}">
                <a16:creationId xmlns:a16="http://schemas.microsoft.com/office/drawing/2014/main" id="{18E31FC2-7170-C012-C9B7-0BE33CF9C68E}"/>
              </a:ext>
            </a:extLst>
          </p:cNvPr>
          <p:cNvPicPr>
            <a:picLocks noChangeAspect="1"/>
          </p:cNvPicPr>
          <p:nvPr/>
        </p:nvPicPr>
        <p:blipFill>
          <a:blip r:embed="rId2"/>
          <a:stretch>
            <a:fillRect/>
          </a:stretch>
        </p:blipFill>
        <p:spPr>
          <a:xfrm>
            <a:off x="7988031" y="337008"/>
            <a:ext cx="3759862" cy="6183983"/>
          </a:xfrm>
          <a:prstGeom prst="rect">
            <a:avLst/>
          </a:prstGeom>
        </p:spPr>
      </p:pic>
    </p:spTree>
    <p:extLst>
      <p:ext uri="{BB962C8B-B14F-4D97-AF65-F5344CB8AC3E}">
        <p14:creationId xmlns:p14="http://schemas.microsoft.com/office/powerpoint/2010/main" val="271425050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117BE47-4492-C80B-4071-34073085B379}"/>
              </a:ext>
            </a:extLst>
          </p:cNvPr>
          <p:cNvSpPr>
            <a:spLocks noGrp="1"/>
          </p:cNvSpPr>
          <p:nvPr>
            <p:ph type="title"/>
          </p:nvPr>
        </p:nvSpPr>
        <p:spPr/>
        <p:txBody>
          <a:bodyPr/>
          <a:lstStyle/>
          <a:p>
            <a:r>
              <a:rPr lang="en-US" sz="1800" kern="100" dirty="0">
                <a:ea typeface="Calibri" panose="020F0502020204030204" pitchFamily="34" charset="0"/>
                <a:cs typeface="Times New Roman" panose="02020603050405020304" pitchFamily="18" charset="0"/>
              </a:rPr>
              <a:t>How </a:t>
            </a:r>
            <a:r>
              <a:rPr lang="en-US" sz="1800" kern="100" dirty="0" err="1">
                <a:ea typeface="Calibri" panose="020F0502020204030204" pitchFamily="34" charset="0"/>
                <a:cs typeface="Times New Roman" panose="02020603050405020304" pitchFamily="18" charset="0"/>
              </a:rPr>
              <a:t>Helderlin</a:t>
            </a:r>
            <a:r>
              <a:rPr lang="en-US" sz="1800" kern="100" dirty="0">
                <a:ea typeface="Calibri" panose="020F0502020204030204" pitchFamily="34" charset="0"/>
                <a:cs typeface="Times New Roman" panose="02020603050405020304" pitchFamily="18" charset="0"/>
              </a:rPr>
              <a:t> conveys the meaning of Sophocles' work and how he interprets the characters of Antigone and Creon and their conflict.</a:t>
            </a:r>
            <a:endParaRPr lang="el-GR" dirty="0"/>
          </a:p>
        </p:txBody>
      </p:sp>
      <p:sp>
        <p:nvSpPr>
          <p:cNvPr id="4" name="Θέση περιεχομένου 3">
            <a:extLst>
              <a:ext uri="{FF2B5EF4-FFF2-40B4-BE49-F238E27FC236}">
                <a16:creationId xmlns:a16="http://schemas.microsoft.com/office/drawing/2014/main" id="{2060F9F8-5523-CECE-B978-21ABFC0EF814}"/>
              </a:ext>
            </a:extLst>
          </p:cNvPr>
          <p:cNvSpPr>
            <a:spLocks noGrp="1"/>
          </p:cNvSpPr>
          <p:nvPr>
            <p:ph sz="quarter" idx="2"/>
          </p:nvPr>
        </p:nvSpPr>
        <p:spPr/>
        <p:txBody>
          <a:bodyPr>
            <a:normAutofit fontScale="92500" lnSpcReduction="10000"/>
          </a:bodyPr>
          <a:lstStyle/>
          <a:p>
            <a:r>
              <a:rPr lang="en-US" sz="1800" kern="100" dirty="0">
                <a:solidFill>
                  <a:schemeClr val="tx1"/>
                </a:solidFill>
                <a:ea typeface="Calibri" panose="020F0502020204030204" pitchFamily="34" charset="0"/>
                <a:cs typeface="Times New Roman" panose="02020603050405020304" pitchFamily="18" charset="0"/>
              </a:rPr>
              <a:t>In an early period of classical idealism, the poet rendered the Greek original faithfully and freely, seeking to make the meaning of the Greeks clear in the German text.
 On a second level he translates literally, </a:t>
            </a:r>
            <a:r>
              <a:rPr lang="en-US" sz="1800" kern="100" dirty="0" err="1">
                <a:solidFill>
                  <a:schemeClr val="tx1"/>
                </a:solidFill>
                <a:ea typeface="Calibri" panose="020F0502020204030204" pitchFamily="34" charset="0"/>
                <a:cs typeface="Times New Roman" panose="02020603050405020304" pitchFamily="18" charset="0"/>
              </a:rPr>
              <a:t>tapting</a:t>
            </a:r>
            <a:r>
              <a:rPr lang="en-US" sz="1800" kern="100" dirty="0">
                <a:solidFill>
                  <a:schemeClr val="tx1"/>
                </a:solidFill>
                <a:ea typeface="Calibri" panose="020F0502020204030204" pitchFamily="34" charset="0"/>
                <a:cs typeface="Times New Roman" panose="02020603050405020304" pitchFamily="18" charset="0"/>
              </a:rPr>
              <a:t> the German language.
 On a third level, it embodies the human condition in a physical, political, and religious context.
 Translating literally, maintaining </a:t>
            </a:r>
            <a:r>
              <a:rPr lang="en-US" sz="1800" kern="100" dirty="0" err="1">
                <a:solidFill>
                  <a:schemeClr val="tx1"/>
                </a:solidFill>
                <a:ea typeface="Calibri" panose="020F0502020204030204" pitchFamily="34" charset="0"/>
                <a:cs typeface="Times New Roman" panose="02020603050405020304" pitchFamily="18" charset="0"/>
              </a:rPr>
              <a:t>metre</a:t>
            </a:r>
            <a:r>
              <a:rPr lang="en-US" sz="1800" kern="100" dirty="0">
                <a:solidFill>
                  <a:schemeClr val="tx1"/>
                </a:solidFill>
                <a:ea typeface="Calibri" panose="020F0502020204030204" pitchFamily="34" charset="0"/>
                <a:cs typeface="Times New Roman" panose="02020603050405020304" pitchFamily="18" charset="0"/>
              </a:rPr>
              <a:t> and respecting Greek prosody, he places emphasis on the political and religious interpretation of the work.
 The plot is faithful to the Sophoclean tragedy.</a:t>
            </a:r>
            <a:endParaRPr lang="el-GR" dirty="0"/>
          </a:p>
        </p:txBody>
      </p:sp>
      <p:pic>
        <p:nvPicPr>
          <p:cNvPr id="7" name="Θέση περιεχομένου 6">
            <a:extLst>
              <a:ext uri="{FF2B5EF4-FFF2-40B4-BE49-F238E27FC236}">
                <a16:creationId xmlns:a16="http://schemas.microsoft.com/office/drawing/2014/main" id="{D3848CCB-40A8-D93F-4055-9F36F57E97BE}"/>
              </a:ext>
            </a:extLst>
          </p:cNvPr>
          <p:cNvPicPr>
            <a:picLocks noGrp="1" noChangeAspect="1"/>
          </p:cNvPicPr>
          <p:nvPr>
            <p:ph sz="quarter" idx="4"/>
          </p:nvPr>
        </p:nvPicPr>
        <p:blipFill>
          <a:blip r:embed="rId2"/>
          <a:stretch>
            <a:fillRect/>
          </a:stretch>
        </p:blipFill>
        <p:spPr>
          <a:xfrm>
            <a:off x="6340782" y="969336"/>
            <a:ext cx="5118755" cy="4008017"/>
          </a:xfrm>
          <a:prstGeom prst="rect">
            <a:avLst/>
          </a:prstGeom>
        </p:spPr>
      </p:pic>
    </p:spTree>
    <p:extLst>
      <p:ext uri="{BB962C8B-B14F-4D97-AF65-F5344CB8AC3E}">
        <p14:creationId xmlns:p14="http://schemas.microsoft.com/office/powerpoint/2010/main" val="2225623168"/>
      </p:ext>
    </p:extLst>
  </p:cSld>
  <p:clrMapOvr>
    <a:masterClrMapping/>
  </p:clrMapOvr>
  <p:transition spd="slow">
    <p:randomBar dir="vert"/>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Θέση περιεχομένου 2">
            <a:extLst>
              <a:ext uri="{FF2B5EF4-FFF2-40B4-BE49-F238E27FC236}">
                <a16:creationId xmlns:a16="http://schemas.microsoft.com/office/drawing/2014/main" id="{C7FCB9B2-D76F-D228-2355-21C9AEAFFE98}"/>
              </a:ext>
            </a:extLst>
          </p:cNvPr>
          <p:cNvSpPr>
            <a:spLocks noGrp="1"/>
          </p:cNvSpPr>
          <p:nvPr>
            <p:ph idx="1"/>
          </p:nvPr>
        </p:nvSpPr>
        <p:spPr/>
        <p:txBody>
          <a:bodyPr>
            <a:normAutofit fontScale="85000" lnSpcReduction="20000"/>
          </a:bodyPr>
          <a:lstStyle/>
          <a:p>
            <a:r>
              <a:rPr lang="el-GR" sz="3200" kern="100" dirty="0">
                <a:solidFill>
                  <a:schemeClr val="tx1"/>
                </a:solidFill>
                <a:effectLst/>
                <a:ea typeface="Calibri" panose="020F0502020204030204" pitchFamily="34" charset="0"/>
                <a:cs typeface="Times New Roman" panose="02020603050405020304" pitchFamily="18" charset="0"/>
              </a:rPr>
              <a:t> </a:t>
            </a:r>
            <a:r>
              <a:rPr lang="en-US" kern="100" dirty="0">
                <a:solidFill>
                  <a:schemeClr val="tx1"/>
                </a:solidFill>
                <a:ea typeface="Calibri" panose="020F0502020204030204" pitchFamily="34" charset="0"/>
                <a:cs typeface="Times New Roman" panose="02020603050405020304" pitchFamily="18" charset="0"/>
              </a:rPr>
              <a:t>Time distance between Greece in the 5th century BC and Germany in the 19th century: </a:t>
            </a:r>
            <a:r>
              <a:rPr lang="el-GR" kern="100" dirty="0">
                <a:solidFill>
                  <a:schemeClr val="tx1"/>
                </a:solidFill>
                <a:ea typeface="Calibri" panose="020F0502020204030204" pitchFamily="34" charset="0"/>
                <a:cs typeface="Times New Roman" panose="02020603050405020304" pitchFamily="18" charset="0"/>
              </a:rPr>
              <a:t>        </a:t>
            </a:r>
            <a:r>
              <a:rPr lang="en-US" kern="100" dirty="0">
                <a:solidFill>
                  <a:schemeClr val="tx1"/>
                </a:solidFill>
                <a:ea typeface="Calibri" panose="020F0502020204030204" pitchFamily="34" charset="0"/>
                <a:cs typeface="Times New Roman" panose="02020603050405020304" pitchFamily="18" charset="0"/>
              </a:rPr>
              <a:t>teleological character the original from reflections of later years. Based on the contrast between Greek and </a:t>
            </a:r>
            <a:r>
              <a:rPr lang="en-US" kern="100" dirty="0" err="1">
                <a:solidFill>
                  <a:schemeClr val="tx1"/>
                </a:solidFill>
                <a:ea typeface="Calibri" panose="020F0502020204030204" pitchFamily="34" charset="0"/>
                <a:cs typeface="Times New Roman" panose="02020603050405020304" pitchFamily="18" charset="0"/>
              </a:rPr>
              <a:t>Hesperium</a:t>
            </a:r>
            <a:r>
              <a:rPr lang="en-US" kern="100" dirty="0">
                <a:solidFill>
                  <a:schemeClr val="tx1"/>
                </a:solidFill>
                <a:ea typeface="Calibri" panose="020F0502020204030204" pitchFamily="34" charset="0"/>
                <a:cs typeface="Times New Roman" panose="02020603050405020304" pitchFamily="18" charset="0"/>
              </a:rPr>
              <a:t>, he translates Sophocles, releasing his meanings and highlighting the spiritual needs of his time. 
 Simeon </a:t>
            </a:r>
            <a:r>
              <a:rPr lang="en-US" kern="100" dirty="0" err="1">
                <a:solidFill>
                  <a:schemeClr val="tx1"/>
                </a:solidFill>
                <a:ea typeface="Calibri" panose="020F0502020204030204" pitchFamily="34" charset="0"/>
                <a:cs typeface="Times New Roman" panose="02020603050405020304" pitchFamily="18" charset="0"/>
              </a:rPr>
              <a:t>Stampoulos</a:t>
            </a:r>
            <a:r>
              <a:rPr lang="en-US" kern="100" dirty="0">
                <a:solidFill>
                  <a:schemeClr val="tx1"/>
                </a:solidFill>
                <a:ea typeface="Calibri" panose="020F0502020204030204" pitchFamily="34" charset="0"/>
                <a:cs typeface="Times New Roman" panose="02020603050405020304" pitchFamily="18" charset="0"/>
              </a:rPr>
              <a:t>: a kind of linguistic sin, hidden behind Sophocles' words that </a:t>
            </a:r>
            <a:r>
              <a:rPr lang="en-US" kern="100" dirty="0" err="1">
                <a:solidFill>
                  <a:schemeClr val="tx1"/>
                </a:solidFill>
                <a:ea typeface="Calibri" panose="020F0502020204030204" pitchFamily="34" charset="0"/>
                <a:cs typeface="Times New Roman" panose="02020603050405020304" pitchFamily="18" charset="0"/>
              </a:rPr>
              <a:t>Henderlin</a:t>
            </a:r>
            <a:r>
              <a:rPr lang="en-US" kern="100" dirty="0">
                <a:solidFill>
                  <a:schemeClr val="tx1"/>
                </a:solidFill>
                <a:ea typeface="Calibri" panose="020F0502020204030204" pitchFamily="34" charset="0"/>
                <a:cs typeface="Times New Roman" panose="02020603050405020304" pitchFamily="18" charset="0"/>
              </a:rPr>
              <a:t> "corrects", interpreting Napoleon's violent democratic discourse in Creon's dispute with his son Haemon in his own time. 
Antigone: revolutionary figure
 </a:t>
            </a:r>
            <a:r>
              <a:rPr lang="en-US" kern="100" dirty="0" err="1">
                <a:solidFill>
                  <a:schemeClr val="tx1"/>
                </a:solidFill>
                <a:ea typeface="Calibri" panose="020F0502020204030204" pitchFamily="34" charset="0"/>
                <a:cs typeface="Times New Roman" panose="02020603050405020304" pitchFamily="18" charset="0"/>
              </a:rPr>
              <a:t>Helderlin's</a:t>
            </a:r>
            <a:r>
              <a:rPr lang="en-US" kern="100" dirty="0">
                <a:solidFill>
                  <a:schemeClr val="tx1"/>
                </a:solidFill>
                <a:ea typeface="Calibri" panose="020F0502020204030204" pitchFamily="34" charset="0"/>
                <a:cs typeface="Times New Roman" panose="02020603050405020304" pitchFamily="18" charset="0"/>
              </a:rPr>
              <a:t> work: the tragedy of the transition from antiquity to modernity.</a:t>
            </a:r>
            <a:endParaRPr lang="el-GR" dirty="0">
              <a:solidFill>
                <a:schemeClr val="tx1"/>
              </a:solidFill>
            </a:endParaRPr>
          </a:p>
        </p:txBody>
      </p:sp>
      <p:sp>
        <p:nvSpPr>
          <p:cNvPr id="2" name="Βέλος: Δεξιό 1">
            <a:extLst>
              <a:ext uri="{FF2B5EF4-FFF2-40B4-BE49-F238E27FC236}">
                <a16:creationId xmlns:a16="http://schemas.microsoft.com/office/drawing/2014/main" id="{11642E9C-80EB-64FE-99B9-194DBEDF21B4}"/>
              </a:ext>
            </a:extLst>
          </p:cNvPr>
          <p:cNvSpPr/>
          <p:nvPr/>
        </p:nvSpPr>
        <p:spPr>
          <a:xfrm>
            <a:off x="8017965" y="1888517"/>
            <a:ext cx="829559" cy="2168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
        <p:nvSpPr>
          <p:cNvPr id="4" name="Βέλος: Δεξιό 3">
            <a:extLst>
              <a:ext uri="{FF2B5EF4-FFF2-40B4-BE49-F238E27FC236}">
                <a16:creationId xmlns:a16="http://schemas.microsoft.com/office/drawing/2014/main" id="{7A150DFC-2811-3EDD-02D0-D757822B4921}"/>
              </a:ext>
            </a:extLst>
          </p:cNvPr>
          <p:cNvSpPr/>
          <p:nvPr/>
        </p:nvSpPr>
        <p:spPr>
          <a:xfrm>
            <a:off x="10736391" y="3848100"/>
            <a:ext cx="499622" cy="271413"/>
          </a:xfrm>
          <a:prstGeom prst="rightArrow">
            <a:avLst>
              <a:gd name="adj1" fmla="val 50000"/>
              <a:gd name="adj2" fmla="val 60420"/>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l-GR"/>
          </a:p>
        </p:txBody>
      </p:sp>
    </p:spTree>
    <p:extLst>
      <p:ext uri="{BB962C8B-B14F-4D97-AF65-F5344CB8AC3E}">
        <p14:creationId xmlns:p14="http://schemas.microsoft.com/office/powerpoint/2010/main" val="147529414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668B374A-0380-3144-13D1-22D95A1464EC}"/>
              </a:ext>
            </a:extLst>
          </p:cNvPr>
          <p:cNvSpPr>
            <a:spLocks noGrp="1"/>
          </p:cNvSpPr>
          <p:nvPr>
            <p:ph type="title"/>
          </p:nvPr>
        </p:nvSpPr>
        <p:spPr>
          <a:xfrm>
            <a:off x="7575331" y="1143004"/>
            <a:ext cx="4490977" cy="4958251"/>
          </a:xfrm>
        </p:spPr>
        <p:txBody>
          <a:bodyPr/>
          <a:lstStyle/>
          <a:p>
            <a:r>
              <a:rPr lang="en-US" sz="1400" kern="100" dirty="0" err="1">
                <a:solidFill>
                  <a:schemeClr val="tx1">
                    <a:lumMod val="95000"/>
                    <a:lumOff val="5000"/>
                  </a:schemeClr>
                </a:solidFill>
                <a:latin typeface="+mn-lt"/>
                <a:ea typeface="Calibri" panose="020F0502020204030204" pitchFamily="34" charset="0"/>
                <a:cs typeface="Times New Roman" panose="02020603050405020304" pitchFamily="18" charset="0"/>
              </a:rPr>
              <a:t>Hölderlin</a:t>
            </a:r>
            <a:r>
              <a:rPr lang="en-US" sz="1400" kern="100" dirty="0">
                <a:solidFill>
                  <a:schemeClr val="tx1">
                    <a:lumMod val="95000"/>
                    <a:lumOff val="5000"/>
                  </a:schemeClr>
                </a:solidFill>
                <a:latin typeface="+mn-lt"/>
                <a:ea typeface="Calibri" panose="020F0502020204030204" pitchFamily="34" charset="0"/>
                <a:cs typeface="Times New Roman" panose="02020603050405020304" pitchFamily="18" charset="0"/>
              </a:rPr>
              <a:t> emphasizes more than Sophocles Antigone's struggle against a regime in the name of God. It elevates it to a symbol of resistance and a champion of democracy.</a:t>
            </a:r>
            <a:r>
              <a:rPr lang="el-GR" sz="1400" kern="100" dirty="0">
                <a:solidFill>
                  <a:schemeClr val="tx1">
                    <a:lumMod val="95000"/>
                    <a:lumOff val="5000"/>
                  </a:schemeClr>
                </a:solidFill>
                <a:effectLst/>
                <a:latin typeface="+mn-lt"/>
                <a:ea typeface="Calibri" panose="020F0502020204030204" pitchFamily="34" charset="0"/>
                <a:cs typeface="Times New Roman" panose="02020603050405020304" pitchFamily="18" charset="0"/>
              </a:rPr>
              <a:t> </a:t>
            </a:r>
            <a:br>
              <a:rPr lang="el-GR" sz="1400" kern="100" dirty="0">
                <a:effectLst/>
                <a:latin typeface="+mn-lt"/>
                <a:ea typeface="Calibri" panose="020F0502020204030204" pitchFamily="34" charset="0"/>
                <a:cs typeface="Times New Roman" panose="02020603050405020304" pitchFamily="18" charset="0"/>
              </a:rPr>
            </a:br>
            <a:endParaRPr lang="el-GR" sz="1400" dirty="0">
              <a:latin typeface="+mn-lt"/>
            </a:endParaRPr>
          </a:p>
        </p:txBody>
      </p:sp>
      <p:pic>
        <p:nvPicPr>
          <p:cNvPr id="6" name="Θέση εικόνας 5">
            <a:extLst>
              <a:ext uri="{FF2B5EF4-FFF2-40B4-BE49-F238E27FC236}">
                <a16:creationId xmlns:a16="http://schemas.microsoft.com/office/drawing/2014/main" id="{A8205DC1-69D5-873F-786C-532C53931A47}"/>
              </a:ext>
            </a:extLst>
          </p:cNvPr>
          <p:cNvPicPr>
            <a:picLocks noGrp="1" noChangeAspect="1"/>
          </p:cNvPicPr>
          <p:nvPr>
            <p:ph type="pic" idx="1"/>
          </p:nvPr>
        </p:nvPicPr>
        <p:blipFill>
          <a:blip r:embed="rId2"/>
          <a:srcRect l="3055" r="3055"/>
          <a:stretch>
            <a:fillRect/>
          </a:stretch>
        </p:blipFill>
        <p:spPr/>
      </p:pic>
      <p:sp>
        <p:nvSpPr>
          <p:cNvPr id="4" name="Θέση κειμένου 3">
            <a:extLst>
              <a:ext uri="{FF2B5EF4-FFF2-40B4-BE49-F238E27FC236}">
                <a16:creationId xmlns:a16="http://schemas.microsoft.com/office/drawing/2014/main" id="{D52236FB-274E-8A1A-50A2-F3A7B9C99422}"/>
              </a:ext>
            </a:extLst>
          </p:cNvPr>
          <p:cNvSpPr>
            <a:spLocks noGrp="1"/>
          </p:cNvSpPr>
          <p:nvPr>
            <p:ph type="body" sz="half" idx="2"/>
          </p:nvPr>
        </p:nvSpPr>
        <p:spPr/>
        <p:txBody>
          <a:bodyPr/>
          <a:lstStyle/>
          <a:p>
            <a:pPr algn="ctr"/>
            <a:r>
              <a:rPr lang="en-US" dirty="0"/>
              <a:t>Antigone in front of Creon</a:t>
            </a:r>
            <a:endParaRPr lang="el-GR" dirty="0"/>
          </a:p>
        </p:txBody>
      </p:sp>
    </p:spTree>
    <p:extLst>
      <p:ext uri="{BB962C8B-B14F-4D97-AF65-F5344CB8AC3E}">
        <p14:creationId xmlns:p14="http://schemas.microsoft.com/office/powerpoint/2010/main" val="880471420"/>
      </p:ext>
    </p:extLst>
  </p:cSld>
  <p:clrMapOvr>
    <a:masterClrMapping/>
  </p:clrMapOvr>
  <p:transition spd="slow">
    <p:push dir="u"/>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E0AA60-0A64-ECE3-8C28-4606829945BF}"/>
              </a:ext>
            </a:extLst>
          </p:cNvPr>
          <p:cNvSpPr txBox="1"/>
          <p:nvPr/>
        </p:nvSpPr>
        <p:spPr>
          <a:xfrm>
            <a:off x="3563331" y="631596"/>
            <a:ext cx="7692273" cy="4086953"/>
          </a:xfrm>
          <a:prstGeom prst="rect">
            <a:avLst/>
          </a:prstGeom>
          <a:noFill/>
        </p:spPr>
        <p:txBody>
          <a:bodyPr wrap="square">
            <a:spAutoFit/>
          </a:bodyPr>
          <a:lstStyle/>
          <a:p>
            <a:pPr algn="just">
              <a:lnSpc>
                <a:spcPct val="150000"/>
              </a:lnSpc>
              <a:spcAft>
                <a:spcPts val="800"/>
              </a:spcAft>
            </a:pPr>
            <a:r>
              <a:rPr lang="el-GR" sz="1800" kern="100" dirty="0">
                <a:effectLst/>
                <a:ea typeface="Calibri" panose="020F0502020204030204" pitchFamily="34" charset="0"/>
                <a:cs typeface="Times New Roman" panose="02020603050405020304" pitchFamily="18" charset="0"/>
              </a:rPr>
              <a:t> </a:t>
            </a:r>
            <a:r>
              <a:rPr lang="en-US" kern="100" dirty="0">
                <a:ea typeface="Calibri" panose="020F0502020204030204" pitchFamily="34" charset="0"/>
                <a:cs typeface="Times New Roman" panose="02020603050405020304" pitchFamily="18" charset="0"/>
              </a:rPr>
              <a:t>The poet identifies with his tragic heroes in their conflict with the gods and fate, their inevitable fall.
 His destiny is to experience precipitation and from there to pass into the inner light. The death of Diotima is a divine plan that tests him. 
 </a:t>
            </a:r>
            <a:r>
              <a:rPr lang="en-US" kern="100" dirty="0" err="1">
                <a:ea typeface="Calibri" panose="020F0502020204030204" pitchFamily="34" charset="0"/>
                <a:cs typeface="Times New Roman" panose="02020603050405020304" pitchFamily="18" charset="0"/>
              </a:rPr>
              <a:t>Helderlin</a:t>
            </a:r>
            <a:r>
              <a:rPr lang="en-US" kern="100" dirty="0">
                <a:ea typeface="Calibri" panose="020F0502020204030204" pitchFamily="34" charset="0"/>
                <a:cs typeface="Times New Roman" panose="02020603050405020304" pitchFamily="18" charset="0"/>
              </a:rPr>
              <a:t> wants the teacher blind, as his role model, Homer, is to see insightfully.
 Writing Antigone, "struck by Apollo", he is led to blindness, </a:t>
            </a:r>
            <a:r>
              <a:rPr lang="en-US" kern="100" dirty="0" err="1">
                <a:ea typeface="Calibri" panose="020F0502020204030204" pitchFamily="34" charset="0"/>
                <a:cs typeface="Times New Roman" panose="02020603050405020304" pitchFamily="18" charset="0"/>
              </a:rPr>
              <a:t>Umnachtung</a:t>
            </a:r>
            <a:r>
              <a:rPr lang="en-US" kern="100" dirty="0">
                <a:ea typeface="Calibri" panose="020F0502020204030204" pitchFamily="34" charset="0"/>
                <a:cs typeface="Times New Roman" panose="02020603050405020304" pitchFamily="18" charset="0"/>
              </a:rPr>
              <a:t>, guided by the priestess Diotima.</a:t>
            </a:r>
            <a:endParaRPr lang="el-GR" sz="1600" kern="100" dirty="0">
              <a:effectLst/>
              <a:ea typeface="Calibri" panose="020F0502020204030204" pitchFamily="34" charset="0"/>
              <a:cs typeface="Times New Roman" panose="02020603050405020304" pitchFamily="18" charset="0"/>
            </a:endParaRPr>
          </a:p>
        </p:txBody>
      </p:sp>
      <p:pic>
        <p:nvPicPr>
          <p:cNvPr id="7" name="Εικόνα 6">
            <a:extLst>
              <a:ext uri="{FF2B5EF4-FFF2-40B4-BE49-F238E27FC236}">
                <a16:creationId xmlns:a16="http://schemas.microsoft.com/office/drawing/2014/main" id="{0C4469B9-8C30-8B83-3C69-FDBED10ABF50}"/>
              </a:ext>
            </a:extLst>
          </p:cNvPr>
          <p:cNvPicPr>
            <a:picLocks noChangeAspect="1"/>
          </p:cNvPicPr>
          <p:nvPr/>
        </p:nvPicPr>
        <p:blipFill>
          <a:blip r:embed="rId2"/>
          <a:stretch>
            <a:fillRect/>
          </a:stretch>
        </p:blipFill>
        <p:spPr>
          <a:xfrm>
            <a:off x="1102935" y="1960775"/>
            <a:ext cx="2290713" cy="3110846"/>
          </a:xfrm>
          <a:prstGeom prst="rect">
            <a:avLst/>
          </a:prstGeom>
        </p:spPr>
      </p:pic>
      <p:pic>
        <p:nvPicPr>
          <p:cNvPr id="2" name="Εικόνα 1">
            <a:extLst>
              <a:ext uri="{FF2B5EF4-FFF2-40B4-BE49-F238E27FC236}">
                <a16:creationId xmlns:a16="http://schemas.microsoft.com/office/drawing/2014/main" id="{0B18157B-3F7B-38EB-C46B-CA52D384DD78}"/>
              </a:ext>
            </a:extLst>
          </p:cNvPr>
          <p:cNvPicPr>
            <a:picLocks noChangeAspect="1"/>
          </p:cNvPicPr>
          <p:nvPr/>
        </p:nvPicPr>
        <p:blipFill>
          <a:blip r:embed="rId3"/>
          <a:stretch>
            <a:fillRect/>
          </a:stretch>
        </p:blipFill>
        <p:spPr>
          <a:xfrm>
            <a:off x="6645776" y="4816366"/>
            <a:ext cx="1670911" cy="1954924"/>
          </a:xfrm>
          <a:prstGeom prst="rect">
            <a:avLst/>
          </a:prstGeom>
        </p:spPr>
      </p:pic>
    </p:spTree>
    <p:extLst>
      <p:ext uri="{BB962C8B-B14F-4D97-AF65-F5344CB8AC3E}">
        <p14:creationId xmlns:p14="http://schemas.microsoft.com/office/powerpoint/2010/main" val="143954017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BF55B30-013C-76F9-8446-3C70D55AA148}"/>
              </a:ext>
            </a:extLst>
          </p:cNvPr>
          <p:cNvSpPr>
            <a:spLocks noGrp="1"/>
          </p:cNvSpPr>
          <p:nvPr>
            <p:ph type="title"/>
          </p:nvPr>
        </p:nvSpPr>
        <p:spPr>
          <a:xfrm>
            <a:off x="1914144" y="113122"/>
            <a:ext cx="9635599" cy="422906"/>
          </a:xfrm>
        </p:spPr>
        <p:txBody>
          <a:bodyPr/>
          <a:lstStyle/>
          <a:p>
            <a:r>
              <a:rPr lang="en-US" sz="1800" kern="100" dirty="0">
                <a:latin typeface="Times New Roman" panose="02020603050405020304" pitchFamily="18" charset="0"/>
                <a:ea typeface="Calibri" panose="020F0502020204030204" pitchFamily="34" charset="0"/>
                <a:cs typeface="Times New Roman" panose="02020603050405020304" pitchFamily="18" charset="0"/>
              </a:rPr>
              <a:t>We present some passages as an indication. We begin with the first ten verses of the Prologue.</a:t>
            </a:r>
            <a:endParaRPr lang="el-GR" dirty="0"/>
          </a:p>
        </p:txBody>
      </p:sp>
      <p:sp>
        <p:nvSpPr>
          <p:cNvPr id="3" name="Θέση περιεχομένου 2">
            <a:extLst>
              <a:ext uri="{FF2B5EF4-FFF2-40B4-BE49-F238E27FC236}">
                <a16:creationId xmlns:a16="http://schemas.microsoft.com/office/drawing/2014/main" id="{A460DA41-5CC9-C147-ABAA-2F90F9AB182F}"/>
              </a:ext>
            </a:extLst>
          </p:cNvPr>
          <p:cNvSpPr>
            <a:spLocks noGrp="1"/>
          </p:cNvSpPr>
          <p:nvPr>
            <p:ph sz="half" idx="1"/>
          </p:nvPr>
        </p:nvSpPr>
        <p:spPr>
          <a:xfrm>
            <a:off x="1914144" y="536028"/>
            <a:ext cx="5054215" cy="6266793"/>
          </a:xfrm>
          <a:solidFill>
            <a:schemeClr val="bg2">
              <a:lumMod val="75000"/>
            </a:schemeClr>
          </a:solidFill>
        </p:spPr>
        <p:txBody>
          <a:bodyPr>
            <a:normAutofit fontScale="92500" lnSpcReduction="20000"/>
          </a:bodyPr>
          <a:lstStyle/>
          <a:p>
            <a:pPr>
              <a:lnSpc>
                <a:spcPct val="150000"/>
              </a:lnSpc>
              <a:spcAft>
                <a:spcPts val="800"/>
              </a:spcAft>
            </a:pPr>
            <a:r>
              <a:rPr lang="en-US" sz="18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Antigonä</a:t>
            </a:r>
            <a:r>
              <a:rPr lang="en-US" sz="18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l-GR" sz="18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82296" indent="0">
              <a:lnSpc>
                <a:spcPct val="150000"/>
              </a:lnSpc>
              <a:spcAft>
                <a:spcPts val="800"/>
              </a:spcAft>
              <a:buNone/>
            </a:pPr>
            <a:r>
              <a:rPr lang="en-US" sz="1900" b="1" i="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Gemeinsamschwesterliches</a:t>
            </a:r>
            <a:r>
              <a:rPr lang="en-US" sz="1900" i="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o </a:t>
            </a:r>
            <a:r>
              <a:rPr lang="en-US" sz="1900" b="1" i="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Ismenes Haupt</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l-GR" sz="19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82296" indent="0">
              <a:lnSpc>
                <a:spcPct val="150000"/>
              </a:lnSpc>
              <a:spcAft>
                <a:spcPts val="800"/>
              </a:spcAft>
              <a:buNone/>
            </a:pP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Weißt</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Du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etwas</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das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nicht</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der </a:t>
            </a:r>
            <a:r>
              <a:rPr lang="en-US" sz="1900" b="1" i="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Erde</a:t>
            </a:r>
            <a:r>
              <a:rPr lang="en-US" sz="1900" b="1" i="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b="1" i="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Vater</a:t>
            </a:r>
            <a:endParaRPr lang="el-GR" sz="1900" b="1" i="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82296" indent="0">
              <a:lnSpc>
                <a:spcPct val="150000"/>
              </a:lnSpc>
              <a:spcAft>
                <a:spcPts val="800"/>
              </a:spcAft>
              <a:buNone/>
            </a:pP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Erfuhr</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mit</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uns</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die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wir</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bis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hieher</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leben,</a:t>
            </a:r>
            <a:endParaRPr lang="el-GR" sz="19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82296" indent="0">
              <a:lnSpc>
                <a:spcPct val="150000"/>
              </a:lnSpc>
              <a:spcAft>
                <a:spcPts val="800"/>
              </a:spcAft>
              <a:buNone/>
            </a:pP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Ein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Nennbares</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seit</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Oedipus </a:t>
            </a:r>
            <a:r>
              <a:rPr lang="en-US" sz="1900" i="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gehascht</a:t>
            </a:r>
            <a:r>
              <a:rPr lang="en-US" sz="1900" i="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ward?</a:t>
            </a:r>
            <a:endParaRPr lang="el-GR" sz="19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82296" indent="0">
              <a:lnSpc>
                <a:spcPct val="150000"/>
              </a:lnSpc>
              <a:spcAft>
                <a:spcPts val="800"/>
              </a:spcAft>
              <a:buNone/>
            </a:pP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Nicht</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eine</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traur'ge</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Arbeit,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auch</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kein</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Irrsaal</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l-GR" sz="19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82296" indent="0">
              <a:lnSpc>
                <a:spcPct val="150000"/>
              </a:lnSpc>
              <a:spcAft>
                <a:spcPts val="800"/>
              </a:spcAft>
              <a:buNone/>
            </a:pP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Und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schändlich</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ist</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und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ehrlos</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nirgend</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eines</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l-GR" sz="19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82296" indent="0">
              <a:lnSpc>
                <a:spcPct val="150000"/>
              </a:lnSpc>
              <a:spcAft>
                <a:spcPts val="800"/>
              </a:spcAft>
              <a:buNone/>
            </a:pP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das ich in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Deinem</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meinem</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Unglük</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nicht</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gesehn</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l-GR" sz="19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82296" indent="0">
              <a:lnSpc>
                <a:spcPct val="150000"/>
              </a:lnSpc>
              <a:spcAft>
                <a:spcPts val="800"/>
              </a:spcAft>
              <a:buNone/>
            </a:pP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Jetzt</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aber</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ahnest</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du das, was der </a:t>
            </a:r>
            <a:r>
              <a:rPr lang="en-US" sz="1900" b="1" i="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Feldherr</a:t>
            </a:r>
            <a:endParaRPr lang="el-GR" sz="1900" b="1"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82296" indent="0">
              <a:lnSpc>
                <a:spcPct val="150000"/>
              </a:lnSpc>
              <a:spcAft>
                <a:spcPts val="800"/>
              </a:spcAft>
              <a:buNone/>
            </a:pPr>
            <a:r>
              <a:rPr lang="en-US" sz="1900" b="1" i="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Uns</a:t>
            </a:r>
            <a:r>
              <a:rPr lang="en-US" sz="1900" b="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b="1" i="1"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kundgethan</a:t>
            </a:r>
            <a:r>
              <a:rPr lang="en-US" sz="1900" i="1"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in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offner</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Stadt, so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eben</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l-GR" sz="19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82296" indent="0">
              <a:lnSpc>
                <a:spcPct val="150000"/>
              </a:lnSpc>
              <a:spcAft>
                <a:spcPts val="800"/>
              </a:spcAft>
              <a:buNone/>
            </a:pP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Hast du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gehört</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es?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oder</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weist</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 du </a:t>
            </a:r>
            <a:r>
              <a:rPr lang="en-US" sz="1900" kern="100" dirty="0" err="1">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nicht</a:t>
            </a:r>
            <a:r>
              <a:rPr lang="en-US"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lang="el-GR" sz="1900" kern="1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82296" indent="0">
              <a:buNone/>
            </a:pPr>
            <a:r>
              <a:rPr lang="en-US" sz="1900" dirty="0">
                <a:solidFill>
                  <a:schemeClr val="tx1"/>
                </a:solidFill>
                <a:effectLst/>
                <a:latin typeface="Times New Roman" panose="02020603050405020304" pitchFamily="18" charset="0"/>
                <a:ea typeface="Calibri" panose="020F0502020204030204" pitchFamily="34" charset="0"/>
              </a:rPr>
              <a:t>Wie auf die </a:t>
            </a:r>
            <a:r>
              <a:rPr lang="en-US" sz="1900" dirty="0" err="1">
                <a:solidFill>
                  <a:schemeClr val="tx1"/>
                </a:solidFill>
                <a:effectLst/>
                <a:latin typeface="Times New Roman" panose="02020603050405020304" pitchFamily="18" charset="0"/>
                <a:ea typeface="Calibri" panose="020F0502020204030204" pitchFamily="34" charset="0"/>
              </a:rPr>
              <a:t>Lieben</a:t>
            </a:r>
            <a:r>
              <a:rPr lang="en-US" sz="1900" dirty="0">
                <a:solidFill>
                  <a:schemeClr val="tx1"/>
                </a:solidFill>
                <a:effectLst/>
                <a:latin typeface="Times New Roman" panose="02020603050405020304" pitchFamily="18" charset="0"/>
                <a:ea typeface="Calibri" panose="020F0502020204030204" pitchFamily="34" charset="0"/>
              </a:rPr>
              <a:t> </a:t>
            </a:r>
            <a:r>
              <a:rPr lang="en-US" sz="1900" dirty="0" err="1">
                <a:solidFill>
                  <a:schemeClr val="tx1"/>
                </a:solidFill>
                <a:effectLst/>
                <a:latin typeface="Times New Roman" panose="02020603050405020304" pitchFamily="18" charset="0"/>
                <a:ea typeface="Calibri" panose="020F0502020204030204" pitchFamily="34" charset="0"/>
              </a:rPr>
              <a:t>kommet</a:t>
            </a:r>
            <a:r>
              <a:rPr lang="en-US" sz="1900" dirty="0">
                <a:solidFill>
                  <a:schemeClr val="tx1"/>
                </a:solidFill>
                <a:effectLst/>
                <a:latin typeface="Times New Roman" panose="02020603050405020304" pitchFamily="18" charset="0"/>
                <a:ea typeface="Calibri" panose="020F0502020204030204" pitchFamily="34" charset="0"/>
              </a:rPr>
              <a:t> </a:t>
            </a:r>
            <a:r>
              <a:rPr lang="en-US" sz="1900" b="1" i="1" dirty="0" err="1">
                <a:solidFill>
                  <a:schemeClr val="tx1"/>
                </a:solidFill>
                <a:effectLst/>
                <a:latin typeface="Times New Roman" panose="02020603050405020304" pitchFamily="18" charset="0"/>
                <a:ea typeface="Calibri" panose="020F0502020204030204" pitchFamily="34" charset="0"/>
              </a:rPr>
              <a:t>Feindesübel</a:t>
            </a:r>
            <a:r>
              <a:rPr lang="en-US" sz="1900" b="1" i="1" dirty="0">
                <a:solidFill>
                  <a:schemeClr val="tx1"/>
                </a:solidFill>
                <a:effectLst/>
                <a:latin typeface="Times New Roman" panose="02020603050405020304" pitchFamily="18" charset="0"/>
                <a:ea typeface="Calibri" panose="020F0502020204030204" pitchFamily="34" charset="0"/>
              </a:rPr>
              <a:t>?</a:t>
            </a:r>
            <a:r>
              <a:rPr lang="en-US" sz="1900" dirty="0">
                <a:solidFill>
                  <a:schemeClr val="tx1"/>
                </a:solidFill>
                <a:effectLst/>
                <a:latin typeface="Times New Roman" panose="02020603050405020304" pitchFamily="18" charset="0"/>
                <a:ea typeface="Calibri" panose="020F0502020204030204" pitchFamily="34" charset="0"/>
              </a:rPr>
              <a:t>»</a:t>
            </a:r>
            <a:endParaRPr lang="el-GR" sz="1900" dirty="0">
              <a:solidFill>
                <a:schemeClr val="tx1"/>
              </a:solidFill>
            </a:endParaRPr>
          </a:p>
        </p:txBody>
      </p:sp>
      <p:sp>
        <p:nvSpPr>
          <p:cNvPr id="4" name="Θέση περιεχομένου 3">
            <a:extLst>
              <a:ext uri="{FF2B5EF4-FFF2-40B4-BE49-F238E27FC236}">
                <a16:creationId xmlns:a16="http://schemas.microsoft.com/office/drawing/2014/main" id="{5CE64C6C-EAEB-4C2D-4AD2-BE6332239205}"/>
              </a:ext>
            </a:extLst>
          </p:cNvPr>
          <p:cNvSpPr>
            <a:spLocks noGrp="1"/>
          </p:cNvSpPr>
          <p:nvPr>
            <p:ph sz="half" idx="2"/>
          </p:nvPr>
        </p:nvSpPr>
        <p:spPr>
          <a:xfrm>
            <a:off x="6968359" y="536028"/>
            <a:ext cx="4758585" cy="6266793"/>
          </a:xfrm>
          <a:solidFill>
            <a:schemeClr val="bg2">
              <a:lumMod val="75000"/>
            </a:schemeClr>
          </a:solidFill>
        </p:spPr>
        <p:txBody>
          <a:bodyPr>
            <a:normAutofit fontScale="92500" lnSpcReduction="20000"/>
          </a:bodyPr>
          <a:lstStyle/>
          <a:p>
            <a:pPr>
              <a:buFont typeface="Arial" panose="020B0604020202020204" pitchFamily="34" charset="0"/>
              <a:buChar char="•"/>
            </a:pPr>
            <a:r>
              <a:rPr lang="el-GR" sz="1800" dirty="0">
                <a:solidFill>
                  <a:schemeClr val="tx1"/>
                </a:solidFill>
                <a:effectLst/>
                <a:latin typeface="Times New Roman" panose="02020603050405020304" pitchFamily="18" charset="0"/>
                <a:ea typeface="Calibri" panose="020F0502020204030204" pitchFamily="34" charset="0"/>
              </a:rPr>
              <a:t>ΑΝΤΙΓΟΝΗ</a:t>
            </a:r>
            <a:br>
              <a:rPr lang="en-US" sz="1800" dirty="0">
                <a:solidFill>
                  <a:schemeClr val="tx1"/>
                </a:solidFill>
                <a:effectLst/>
                <a:latin typeface="Times New Roman" panose="02020603050405020304" pitchFamily="18" charset="0"/>
                <a:ea typeface="Calibri" panose="020F0502020204030204" pitchFamily="34" charset="0"/>
              </a:rPr>
            </a:br>
            <a:r>
              <a:rPr lang="el-GR" sz="1900" dirty="0">
                <a:solidFill>
                  <a:schemeClr val="tx1"/>
                </a:solidFill>
                <a:effectLst/>
                <a:latin typeface="Times New Roman" panose="02020603050405020304" pitchFamily="18" charset="0"/>
                <a:ea typeface="Calibri" panose="020F0502020204030204" pitchFamily="34" charset="0"/>
              </a:rPr>
              <a:t>Ὦ </a:t>
            </a:r>
            <a:r>
              <a:rPr lang="el-GR" sz="1900" dirty="0" err="1">
                <a:solidFill>
                  <a:schemeClr val="tx1"/>
                </a:solidFill>
                <a:effectLst/>
                <a:latin typeface="Times New Roman" panose="02020603050405020304" pitchFamily="18" charset="0"/>
                <a:ea typeface="Calibri" panose="020F0502020204030204" pitchFamily="34" charset="0"/>
              </a:rPr>
              <a:t>κοινὸν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αὐτάδελφον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Ἰσμήνης</a:t>
            </a:r>
            <a:r>
              <a:rPr lang="el-GR" sz="1900" dirty="0">
                <a:solidFill>
                  <a:schemeClr val="tx1"/>
                </a:solidFill>
                <a:effectLst/>
                <a:latin typeface="Times New Roman" panose="02020603050405020304" pitchFamily="18" charset="0"/>
                <a:ea typeface="Calibri" panose="020F0502020204030204" pitchFamily="34" charset="0"/>
              </a:rPr>
              <a:t> κάρα</a:t>
            </a:r>
            <a:r>
              <a:rPr lang="en-US" sz="1900" dirty="0">
                <a:solidFill>
                  <a:schemeClr val="tx1"/>
                </a:solidFill>
                <a:effectLst/>
                <a:latin typeface="Times New Roman" panose="02020603050405020304" pitchFamily="18" charset="0"/>
                <a:ea typeface="Calibri" panose="020F0502020204030204" pitchFamily="34" charset="0"/>
              </a:rPr>
              <a:t>,</a:t>
            </a:r>
            <a:br>
              <a:rPr lang="en-US" sz="1900" dirty="0">
                <a:solidFill>
                  <a:schemeClr val="tx1"/>
                </a:solidFill>
                <a:effectLst/>
                <a:latin typeface="Times New Roman" panose="02020603050405020304" pitchFamily="18" charset="0"/>
                <a:ea typeface="Calibri" panose="020F0502020204030204" pitchFamily="34" charset="0"/>
              </a:rPr>
            </a:br>
            <a:r>
              <a:rPr lang="el-GR" sz="1900" dirty="0" err="1">
                <a:solidFill>
                  <a:schemeClr val="tx1"/>
                </a:solidFill>
                <a:effectLst/>
                <a:latin typeface="Times New Roman" panose="02020603050405020304" pitchFamily="18" charset="0"/>
                <a:ea typeface="Calibri" panose="020F0502020204030204" pitchFamily="34" charset="0"/>
              </a:rPr>
              <a:t>ἆρ</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οἶσθ</a:t>
            </a:r>
            <a:r>
              <a:rPr lang="el-GR" sz="1900" dirty="0">
                <a:solidFill>
                  <a:schemeClr val="tx1"/>
                </a:solidFill>
                <a:effectLst/>
                <a:latin typeface="Times New Roman" panose="02020603050405020304" pitchFamily="18" charset="0"/>
                <a:ea typeface="Calibri" panose="020F0502020204030204" pitchFamily="34" charset="0"/>
              </a:rPr>
              <a:t>᾽ ὅ τι </a:t>
            </a:r>
            <a:r>
              <a:rPr lang="el-GR" sz="1900" dirty="0" err="1">
                <a:solidFill>
                  <a:schemeClr val="tx1"/>
                </a:solidFill>
                <a:effectLst/>
                <a:latin typeface="Times New Roman" panose="02020603050405020304" pitchFamily="18" charset="0"/>
                <a:ea typeface="Calibri" panose="020F0502020204030204" pitchFamily="34" charset="0"/>
              </a:rPr>
              <a:t>Ζεὺς</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τῶν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ἀπ</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Οἰδίπου</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κακῶν</a:t>
            </a:r>
            <a:br>
              <a:rPr lang="en-US" sz="1900" dirty="0">
                <a:solidFill>
                  <a:schemeClr val="tx1"/>
                </a:solidFill>
                <a:effectLst/>
                <a:latin typeface="Times New Roman" panose="02020603050405020304" pitchFamily="18" charset="0"/>
                <a:ea typeface="Calibri" panose="020F0502020204030204" pitchFamily="34" charset="0"/>
              </a:rPr>
            </a:br>
            <a:r>
              <a:rPr lang="el-GR" sz="1900" dirty="0" err="1">
                <a:solidFill>
                  <a:schemeClr val="tx1"/>
                </a:solidFill>
                <a:effectLst/>
                <a:latin typeface="Times New Roman" panose="02020603050405020304" pitchFamily="18" charset="0"/>
                <a:ea typeface="Calibri" panose="020F0502020204030204" pitchFamily="34" charset="0"/>
              </a:rPr>
              <a:t>ὁποῖον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οὐχὶ</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νῷν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ἔτι</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ζώσαιν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τελεῖ</a:t>
            </a:r>
            <a:r>
              <a:rPr lang="en-US" sz="1900" dirty="0">
                <a:solidFill>
                  <a:schemeClr val="tx1"/>
                </a:solidFill>
                <a:effectLst/>
                <a:latin typeface="Times New Roman" panose="02020603050405020304" pitchFamily="18" charset="0"/>
                <a:ea typeface="Calibri" panose="020F0502020204030204" pitchFamily="34" charset="0"/>
              </a:rPr>
              <a:t>;</a:t>
            </a:r>
            <a:br>
              <a:rPr lang="en-US" sz="1900" dirty="0">
                <a:solidFill>
                  <a:schemeClr val="tx1"/>
                </a:solidFill>
                <a:effectLst/>
                <a:latin typeface="Times New Roman" panose="02020603050405020304" pitchFamily="18" charset="0"/>
                <a:ea typeface="Calibri" panose="020F0502020204030204" pitchFamily="34" charset="0"/>
              </a:rPr>
            </a:br>
            <a:r>
              <a:rPr lang="el-GR" sz="1900" dirty="0" err="1">
                <a:solidFill>
                  <a:schemeClr val="tx1"/>
                </a:solidFill>
                <a:effectLst/>
                <a:latin typeface="Times New Roman" panose="02020603050405020304" pitchFamily="18" charset="0"/>
                <a:ea typeface="Calibri" panose="020F0502020204030204" pitchFamily="34" charset="0"/>
              </a:rPr>
              <a:t>οὐδὲν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γὰρ</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οὔτ</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ἀλγεινὸν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οὔτ</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ἄτης</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ἄτερ</a:t>
            </a:r>
            <a:br>
              <a:rPr lang="en-US" sz="1900" dirty="0">
                <a:solidFill>
                  <a:schemeClr val="tx1"/>
                </a:solidFill>
                <a:effectLst/>
                <a:latin typeface="Times New Roman" panose="02020603050405020304" pitchFamily="18" charset="0"/>
                <a:ea typeface="Calibri" panose="020F0502020204030204" pitchFamily="34" charset="0"/>
              </a:rPr>
            </a:br>
            <a:r>
              <a:rPr lang="el-GR" sz="1900" dirty="0" err="1">
                <a:solidFill>
                  <a:schemeClr val="tx1"/>
                </a:solidFill>
                <a:effectLst/>
                <a:latin typeface="Times New Roman" panose="02020603050405020304" pitchFamily="18" charset="0"/>
                <a:ea typeface="Calibri" panose="020F0502020204030204" pitchFamily="34" charset="0"/>
              </a:rPr>
              <a:t>οὔτ</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αἰσχρὸν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οὔτ</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ἄτιμόν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ἐσθ</a:t>
            </a:r>
            <a:r>
              <a:rPr lang="el-GR" sz="1900" dirty="0">
                <a:solidFill>
                  <a:schemeClr val="tx1"/>
                </a:solidFill>
                <a:effectLst/>
                <a:latin typeface="Times New Roman" panose="02020603050405020304" pitchFamily="18" charset="0"/>
                <a:ea typeface="Calibri" panose="020F0502020204030204" pitchFamily="34" charset="0"/>
              </a:rPr>
              <a:t>᾽</a:t>
            </a:r>
            <a:r>
              <a:rPr lang="en-US"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ὁποῖον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οὐ</a:t>
            </a:r>
            <a:br>
              <a:rPr lang="en-US" sz="1900" dirty="0">
                <a:solidFill>
                  <a:schemeClr val="tx1"/>
                </a:solidFill>
                <a:effectLst/>
                <a:latin typeface="Times New Roman" panose="02020603050405020304" pitchFamily="18" charset="0"/>
                <a:ea typeface="Calibri" panose="020F0502020204030204" pitchFamily="34" charset="0"/>
              </a:rPr>
            </a:br>
            <a:r>
              <a:rPr lang="el-GR" sz="1900" dirty="0" err="1">
                <a:solidFill>
                  <a:schemeClr val="tx1"/>
                </a:solidFill>
                <a:effectLst/>
                <a:latin typeface="Times New Roman" panose="02020603050405020304" pitchFamily="18" charset="0"/>
                <a:ea typeface="Calibri" panose="020F0502020204030204" pitchFamily="34" charset="0"/>
              </a:rPr>
              <a:t>τῶν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σῶν</a:t>
            </a:r>
            <a:r>
              <a:rPr lang="el-GR" sz="1900" dirty="0">
                <a:solidFill>
                  <a:schemeClr val="tx1"/>
                </a:solidFill>
                <a:effectLst/>
                <a:latin typeface="Times New Roman" panose="02020603050405020304" pitchFamily="18" charset="0"/>
                <a:ea typeface="Calibri" panose="020F0502020204030204" pitchFamily="34" charset="0"/>
              </a:rPr>
              <a:t> τε </a:t>
            </a:r>
            <a:r>
              <a:rPr lang="el-GR" sz="1900" dirty="0" err="1">
                <a:solidFill>
                  <a:schemeClr val="tx1"/>
                </a:solidFill>
                <a:effectLst/>
                <a:latin typeface="Times New Roman" panose="02020603050405020304" pitchFamily="18" charset="0"/>
                <a:ea typeface="Calibri" panose="020F0502020204030204" pitchFamily="34" charset="0"/>
              </a:rPr>
              <a:t>κἀμῶν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οὐκ</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ὄπωπ</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ἐγὼ</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κακῶν</a:t>
            </a:r>
            <a:r>
              <a:rPr lang="en-US" sz="1900" dirty="0">
                <a:solidFill>
                  <a:schemeClr val="tx1"/>
                </a:solidFill>
                <a:effectLst/>
                <a:latin typeface="Times New Roman" panose="02020603050405020304" pitchFamily="18" charset="0"/>
                <a:ea typeface="Calibri" panose="020F0502020204030204" pitchFamily="34" charset="0"/>
              </a:rPr>
              <a:t>.</a:t>
            </a:r>
            <a:br>
              <a:rPr lang="en-US" sz="1900" dirty="0">
                <a:solidFill>
                  <a:schemeClr val="tx1"/>
                </a:solidFill>
                <a:effectLst/>
                <a:latin typeface="Times New Roman" panose="02020603050405020304" pitchFamily="18" charset="0"/>
                <a:ea typeface="Calibri" panose="020F0502020204030204" pitchFamily="34" charset="0"/>
              </a:rPr>
            </a:br>
            <a:r>
              <a:rPr lang="el-GR" sz="1900" dirty="0" err="1">
                <a:solidFill>
                  <a:schemeClr val="tx1"/>
                </a:solidFill>
                <a:effectLst/>
                <a:latin typeface="Times New Roman" panose="02020603050405020304" pitchFamily="18" charset="0"/>
                <a:ea typeface="Calibri" panose="020F0502020204030204" pitchFamily="34" charset="0"/>
              </a:rPr>
              <a:t>καὶ</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νῦν</a:t>
            </a:r>
            <a:r>
              <a:rPr lang="el-GR" sz="1900" dirty="0">
                <a:solidFill>
                  <a:schemeClr val="tx1"/>
                </a:solidFill>
                <a:effectLst/>
                <a:latin typeface="Times New Roman" panose="02020603050405020304" pitchFamily="18" charset="0"/>
                <a:ea typeface="Calibri" panose="020F0502020204030204" pitchFamily="34" charset="0"/>
              </a:rPr>
              <a:t> τί </a:t>
            </a:r>
            <a:r>
              <a:rPr lang="el-GR" sz="1900" dirty="0" err="1">
                <a:solidFill>
                  <a:schemeClr val="tx1"/>
                </a:solidFill>
                <a:effectLst/>
                <a:latin typeface="Times New Roman" panose="02020603050405020304" pitchFamily="18" charset="0"/>
                <a:ea typeface="Calibri" panose="020F0502020204030204" pitchFamily="34" charset="0"/>
              </a:rPr>
              <a:t>τοῦτ</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αὖ</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φασι</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πανδήμῳ</a:t>
            </a:r>
            <a:r>
              <a:rPr lang="el-GR" sz="1900" dirty="0">
                <a:solidFill>
                  <a:schemeClr val="tx1"/>
                </a:solidFill>
                <a:effectLst/>
                <a:latin typeface="Times New Roman" panose="02020603050405020304" pitchFamily="18" charset="0"/>
                <a:ea typeface="Calibri" panose="020F0502020204030204" pitchFamily="34" charset="0"/>
              </a:rPr>
              <a:t> πόλει</a:t>
            </a:r>
            <a:br>
              <a:rPr lang="en-US" sz="1900" dirty="0">
                <a:solidFill>
                  <a:schemeClr val="tx1"/>
                </a:solidFill>
                <a:effectLst/>
                <a:latin typeface="Times New Roman" panose="02020603050405020304" pitchFamily="18" charset="0"/>
                <a:ea typeface="Calibri" panose="020F0502020204030204" pitchFamily="34" charset="0"/>
              </a:rPr>
            </a:br>
            <a:r>
              <a:rPr lang="el-GR" sz="1900" dirty="0">
                <a:solidFill>
                  <a:schemeClr val="tx1"/>
                </a:solidFill>
                <a:effectLst/>
                <a:latin typeface="Times New Roman" panose="02020603050405020304" pitchFamily="18" charset="0"/>
                <a:ea typeface="Calibri" panose="020F0502020204030204" pitchFamily="34" charset="0"/>
              </a:rPr>
              <a:t>κήρυγμα </a:t>
            </a:r>
            <a:r>
              <a:rPr lang="el-GR" sz="1900" dirty="0" err="1">
                <a:solidFill>
                  <a:schemeClr val="tx1"/>
                </a:solidFill>
                <a:effectLst/>
                <a:latin typeface="Times New Roman" panose="02020603050405020304" pitchFamily="18" charset="0"/>
                <a:ea typeface="Calibri" panose="020F0502020204030204" pitchFamily="34" charset="0"/>
              </a:rPr>
              <a:t>θεῖναι</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τὸν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στρατηγὸν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ἀρτίως</a:t>
            </a:r>
            <a:r>
              <a:rPr lang="en-US" sz="1900" dirty="0">
                <a:solidFill>
                  <a:schemeClr val="tx1"/>
                </a:solidFill>
                <a:effectLst/>
                <a:latin typeface="Times New Roman" panose="02020603050405020304" pitchFamily="18" charset="0"/>
                <a:ea typeface="Calibri" panose="020F0502020204030204" pitchFamily="34" charset="0"/>
              </a:rPr>
              <a:t>;</a:t>
            </a:r>
            <a:br>
              <a:rPr lang="en-US" sz="1900" dirty="0">
                <a:solidFill>
                  <a:schemeClr val="tx1"/>
                </a:solidFill>
                <a:effectLst/>
                <a:latin typeface="Times New Roman" panose="02020603050405020304" pitchFamily="18" charset="0"/>
                <a:ea typeface="Calibri" panose="020F0502020204030204" pitchFamily="34" charset="0"/>
              </a:rPr>
            </a:br>
            <a:r>
              <a:rPr lang="el-GR" sz="1900" dirty="0" err="1">
                <a:solidFill>
                  <a:schemeClr val="tx1"/>
                </a:solidFill>
                <a:effectLst/>
                <a:latin typeface="Times New Roman" panose="02020603050405020304" pitchFamily="18" charset="0"/>
                <a:ea typeface="Calibri" panose="020F0502020204030204" pitchFamily="34" charset="0"/>
              </a:rPr>
              <a:t>ἔχεις</a:t>
            </a:r>
            <a:r>
              <a:rPr lang="el-GR" sz="1900" dirty="0">
                <a:solidFill>
                  <a:schemeClr val="tx1"/>
                </a:solidFill>
                <a:effectLst/>
                <a:latin typeface="Times New Roman" panose="02020603050405020304" pitchFamily="18" charset="0"/>
                <a:ea typeface="Calibri" panose="020F0502020204030204" pitchFamily="34" charset="0"/>
              </a:rPr>
              <a:t> τι </a:t>
            </a:r>
            <a:r>
              <a:rPr lang="el-GR" sz="1900" dirty="0" err="1">
                <a:solidFill>
                  <a:schemeClr val="tx1"/>
                </a:solidFill>
                <a:effectLst/>
                <a:latin typeface="Times New Roman" panose="02020603050405020304" pitchFamily="18" charset="0"/>
                <a:ea typeface="Calibri" panose="020F0502020204030204" pitchFamily="34" charset="0"/>
              </a:rPr>
              <a:t>κεἰσήκουσας</a:t>
            </a:r>
            <a:r>
              <a:rPr lang="en-US" sz="1900" dirty="0">
                <a:solidFill>
                  <a:schemeClr val="tx1"/>
                </a:solidFill>
                <a:effectLst/>
                <a:latin typeface="Times New Roman" panose="02020603050405020304" pitchFamily="18" charset="0"/>
                <a:ea typeface="Calibri" panose="020F0502020204030204" pitchFamily="34" charset="0"/>
              </a:rPr>
              <a:t>; </a:t>
            </a:r>
            <a:r>
              <a:rPr lang="el-GR" sz="1900" dirty="0">
                <a:solidFill>
                  <a:schemeClr val="tx1"/>
                </a:solidFill>
                <a:effectLst/>
                <a:latin typeface="Times New Roman" panose="02020603050405020304" pitchFamily="18" charset="0"/>
                <a:ea typeface="Calibri" panose="020F0502020204030204" pitchFamily="34" charset="0"/>
              </a:rPr>
              <a:t>ἤ σε λανθάνει</a:t>
            </a:r>
            <a:br>
              <a:rPr lang="en-US" sz="1900" dirty="0">
                <a:solidFill>
                  <a:schemeClr val="tx1"/>
                </a:solidFill>
                <a:effectLst/>
                <a:latin typeface="Times New Roman" panose="02020603050405020304" pitchFamily="18" charset="0"/>
                <a:ea typeface="Calibri" panose="020F0502020204030204" pitchFamily="34" charset="0"/>
              </a:rPr>
            </a:br>
            <a:r>
              <a:rPr lang="el-GR" sz="1900" dirty="0" err="1">
                <a:solidFill>
                  <a:schemeClr val="tx1"/>
                </a:solidFill>
                <a:effectLst/>
                <a:latin typeface="Times New Roman" panose="02020603050405020304" pitchFamily="18" charset="0"/>
                <a:ea typeface="Calibri" panose="020F0502020204030204" pitchFamily="34" charset="0"/>
              </a:rPr>
              <a:t>πρὸς</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τοὺς</a:t>
            </a:r>
            <a:r>
              <a:rPr lang="el-GR" sz="1900" dirty="0">
                <a:solidFill>
                  <a:schemeClr val="tx1"/>
                </a:solidFill>
                <a:effectLst/>
                <a:latin typeface="Times New Roman" panose="02020603050405020304" pitchFamily="18" charset="0"/>
                <a:ea typeface="Calibri" panose="020F0502020204030204" pitchFamily="34" charset="0"/>
              </a:rPr>
              <a:t> φίλους </a:t>
            </a:r>
            <a:r>
              <a:rPr lang="el-GR" sz="1900" dirty="0" err="1">
                <a:solidFill>
                  <a:schemeClr val="tx1"/>
                </a:solidFill>
                <a:effectLst/>
                <a:latin typeface="Times New Roman" panose="02020603050405020304" pitchFamily="18" charset="0"/>
                <a:ea typeface="Calibri" panose="020F0502020204030204" pitchFamily="34" charset="0"/>
              </a:rPr>
              <a:t>στείχοντα</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τῶν</a:t>
            </a:r>
            <a:r>
              <a:rPr lang="el-GR" sz="1900" dirty="0">
                <a:solidFill>
                  <a:schemeClr val="tx1"/>
                </a:solidFill>
                <a:effectLst/>
                <a:latin typeface="Times New Roman" panose="02020603050405020304" pitchFamily="18" charset="0"/>
                <a:ea typeface="Calibri" panose="020F0502020204030204" pitchFamily="34" charset="0"/>
              </a:rPr>
              <a:t> </a:t>
            </a:r>
            <a:r>
              <a:rPr lang="el-GR" sz="1900" dirty="0" err="1">
                <a:solidFill>
                  <a:schemeClr val="tx1"/>
                </a:solidFill>
                <a:effectLst/>
                <a:latin typeface="Times New Roman" panose="02020603050405020304" pitchFamily="18" charset="0"/>
                <a:ea typeface="Calibri" panose="020F0502020204030204" pitchFamily="34" charset="0"/>
              </a:rPr>
              <a:t>ἐχθρῶν</a:t>
            </a:r>
            <a:r>
              <a:rPr lang="el-GR" sz="1900" dirty="0">
                <a:solidFill>
                  <a:schemeClr val="tx1"/>
                </a:solidFill>
                <a:effectLst/>
                <a:latin typeface="Times New Roman" panose="02020603050405020304" pitchFamily="18" charset="0"/>
                <a:ea typeface="Calibri" panose="020F0502020204030204" pitchFamily="34" charset="0"/>
              </a:rPr>
              <a:t> κακά</a:t>
            </a:r>
            <a:r>
              <a:rPr lang="en-US" sz="1900" dirty="0">
                <a:solidFill>
                  <a:schemeClr val="tx1"/>
                </a:solidFill>
                <a:effectLst/>
                <a:latin typeface="Times New Roman" panose="02020603050405020304" pitchFamily="18" charset="0"/>
                <a:ea typeface="Calibri" panose="020F0502020204030204" pitchFamily="34" charset="0"/>
              </a:rPr>
              <a:t>;</a:t>
            </a:r>
            <a:endParaRPr lang="el-GR" sz="1900" dirty="0">
              <a:solidFill>
                <a:schemeClr val="tx1"/>
              </a:solidFill>
              <a:effectLst/>
              <a:latin typeface="Times New Roman" panose="02020603050405020304" pitchFamily="18" charset="0"/>
              <a:ea typeface="Calibri" panose="020F0502020204030204" pitchFamily="34" charset="0"/>
            </a:endParaRPr>
          </a:p>
          <a:p>
            <a:pPr>
              <a:buFont typeface="Arial" panose="020B0604020202020204" pitchFamily="34" charset="0"/>
              <a:buChar char="•"/>
            </a:pPr>
            <a:br>
              <a:rPr lang="el-GR" sz="1900" kern="1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O my beloved sister Ismene,</a:t>
            </a:r>
            <a:b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you know which of the evils Oedipus</a:t>
            </a:r>
            <a:b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He left us a legacy, to stay</a:t>
            </a:r>
            <a:b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that Zeus did not send to the two of us</a:t>
            </a:r>
            <a:b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Where are we still alive? Because</a:t>
            </a:r>
            <a:b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no pain and no curse,</a:t>
            </a:r>
            <a:r>
              <a:rPr lang="el-GR"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no shame and no dishonesty I didn't see him missing yours</a:t>
            </a:r>
            <a:b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and by my own misfortunes. And now</a:t>
            </a:r>
            <a:b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What is this command again, which they say?</a:t>
            </a:r>
            <a:b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How come he trumpeted in the country</a:t>
            </a:r>
            <a:b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And to all citizens our ruler?</a:t>
            </a:r>
            <a:b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Do you know and hear anything? or you don't have</a:t>
            </a:r>
            <a:r>
              <a:rPr lang="el-GR"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a:t>
            </a: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news get how bad they are preparing</a:t>
            </a:r>
            <a:b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b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For our beloved enemies?</a:t>
            </a:r>
            <a:endParaRPr lang="el-GR"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a:p>
            <a:pPr>
              <a:buFont typeface="Arial" panose="020B0604020202020204" pitchFamily="34" charset="0"/>
              <a:buChar char="•"/>
            </a:pP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Translated by </a:t>
            </a:r>
            <a:r>
              <a:rPr lang="en-US" sz="1800" kern="100" dirty="0" err="1">
                <a:solidFill>
                  <a:schemeClr val="tx1"/>
                </a:solidFill>
                <a:latin typeface="Times New Roman" panose="02020603050405020304" pitchFamily="18" charset="0"/>
                <a:ea typeface="Calibri" panose="020F0502020204030204" pitchFamily="34" charset="0"/>
                <a:cs typeface="Times New Roman" panose="02020603050405020304" pitchFamily="18" charset="0"/>
              </a:rPr>
              <a:t>Gryparis</a:t>
            </a:r>
            <a:r>
              <a:rPr lang="en-US" sz="1800" kern="1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rPr>
              <a:t> I.</a:t>
            </a:r>
            <a:endParaRPr lang="el-GR" dirty="0"/>
          </a:p>
        </p:txBody>
      </p:sp>
    </p:spTree>
    <p:extLst>
      <p:ext uri="{BB962C8B-B14F-4D97-AF65-F5344CB8AC3E}">
        <p14:creationId xmlns:p14="http://schemas.microsoft.com/office/powerpoint/2010/main" val="3189039569"/>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774092B7-7994-BCD1-330A-2CF8B2E15440}"/>
              </a:ext>
            </a:extLst>
          </p:cNvPr>
          <p:cNvSpPr>
            <a:spLocks noGrp="1"/>
          </p:cNvSpPr>
          <p:nvPr>
            <p:ph type="title"/>
          </p:nvPr>
        </p:nvSpPr>
        <p:spPr/>
        <p:txBody>
          <a:bodyPr/>
          <a:lstStyle/>
          <a:p>
            <a:pPr algn="ctr"/>
            <a:r>
              <a:rPr lang="en-US" dirty="0" err="1"/>
              <a:t>PROLOGOS</a:t>
            </a:r>
            <a:br>
              <a:rPr lang="en-US" dirty="0"/>
            </a:br>
            <a:r>
              <a:rPr lang="en-US" dirty="0" err="1"/>
              <a:t>col.45</a:t>
            </a:r>
            <a:r>
              <a:rPr lang="en-US" dirty="0"/>
              <a:t>-47</a:t>
            </a:r>
            <a:endParaRPr lang="el-GR" dirty="0"/>
          </a:p>
        </p:txBody>
      </p:sp>
      <p:graphicFrame>
        <p:nvGraphicFramePr>
          <p:cNvPr id="5" name="Θέση περιεχομένου 4">
            <a:extLst>
              <a:ext uri="{FF2B5EF4-FFF2-40B4-BE49-F238E27FC236}">
                <a16:creationId xmlns:a16="http://schemas.microsoft.com/office/drawing/2014/main" id="{36EF301A-DB17-04FD-F0E5-7453D683AF97}"/>
              </a:ext>
            </a:extLst>
          </p:cNvPr>
          <p:cNvGraphicFramePr>
            <a:graphicFrameLocks noGrp="1"/>
          </p:cNvGraphicFramePr>
          <p:nvPr>
            <p:ph sz="half" idx="1"/>
            <p:extLst>
              <p:ext uri="{D42A27DB-BD31-4B8C-83A1-F6EECF244321}">
                <p14:modId xmlns:p14="http://schemas.microsoft.com/office/powerpoint/2010/main" val="1547906348"/>
              </p:ext>
            </p:extLst>
          </p:nvPr>
        </p:nvGraphicFramePr>
        <p:xfrm>
          <a:off x="1914525" y="1524000"/>
          <a:ext cx="4876800" cy="370840"/>
        </p:xfrm>
        <a:graphic>
          <a:graphicData uri="http://schemas.openxmlformats.org/drawingml/2006/table">
            <a:tbl>
              <a:tblPr firstRow="1" bandRow="1">
                <a:tableStyleId>{5C22544A-7EE6-4342-B048-85BDC9FD1C3A}</a:tableStyleId>
              </a:tblPr>
              <a:tblGrid>
                <a:gridCol w="4876800">
                  <a:extLst>
                    <a:ext uri="{9D8B030D-6E8A-4147-A177-3AD203B41FA5}">
                      <a16:colId xmlns:a16="http://schemas.microsoft.com/office/drawing/2014/main" val="3176123459"/>
                    </a:ext>
                  </a:extLst>
                </a:gridCol>
              </a:tblGrid>
              <a:tr h="370840">
                <a:tc>
                  <a:txBody>
                    <a:bodyPr/>
                    <a:lstStyle/>
                    <a:p>
                      <a:endParaRPr lang="el-GR" dirty="0"/>
                    </a:p>
                  </a:txBody>
                  <a:tcPr/>
                </a:tc>
                <a:extLst>
                  <a:ext uri="{0D108BD9-81ED-4DB2-BD59-A6C34878D82A}">
                    <a16:rowId xmlns:a16="http://schemas.microsoft.com/office/drawing/2014/main" val="2898944216"/>
                  </a:ext>
                </a:extLst>
              </a:tr>
            </a:tbl>
          </a:graphicData>
        </a:graphic>
      </p:graphicFrame>
      <p:sp>
        <p:nvSpPr>
          <p:cNvPr id="4" name="Θέση περιεχομένου 3">
            <a:extLst>
              <a:ext uri="{FF2B5EF4-FFF2-40B4-BE49-F238E27FC236}">
                <a16:creationId xmlns:a16="http://schemas.microsoft.com/office/drawing/2014/main" id="{90E04392-881D-571F-3E2D-707CDD0976B0}"/>
              </a:ext>
            </a:extLst>
          </p:cNvPr>
          <p:cNvSpPr>
            <a:spLocks noGrp="1"/>
          </p:cNvSpPr>
          <p:nvPr>
            <p:ph sz="half" idx="2"/>
          </p:nvPr>
        </p:nvSpPr>
        <p:spPr/>
        <p:txBody>
          <a:bodyPr>
            <a:normAutofit/>
          </a:bodyPr>
          <a:lstStyle/>
          <a:p>
            <a:r>
              <a:rPr lang="el-GR" sz="1800" b="1" dirty="0">
                <a:solidFill>
                  <a:schemeClr val="tx1"/>
                </a:solidFill>
                <a:effectLst/>
                <a:ea typeface="Calibri" panose="020F0502020204030204" pitchFamily="34" charset="0"/>
              </a:rPr>
              <a:t>ΑΝ.</a:t>
            </a:r>
            <a:r>
              <a:rPr lang="en-US"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τὸν</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γοῦν</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ἐμὸν</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καὶ</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τὸν</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σόν</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ἢν</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σὺ</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μὴ</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θέλῃς</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ἀδελφόν</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οὐ</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γὰρ</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δὴ</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προδοῦσ</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ἁλώσομαι</a:t>
            </a:r>
            <a:r>
              <a:rPr lang="el-GR" sz="1800" dirty="0">
                <a:solidFill>
                  <a:schemeClr val="tx1"/>
                </a:solidFill>
                <a:effectLst/>
                <a:ea typeface="Calibri" panose="020F0502020204030204" pitchFamily="34" charset="0"/>
              </a:rPr>
              <a:t>.</a:t>
            </a:r>
            <a:br>
              <a:rPr lang="el-GR" sz="1800" dirty="0">
                <a:solidFill>
                  <a:schemeClr val="tx1"/>
                </a:solidFill>
                <a:effectLst/>
                <a:ea typeface="Calibri" panose="020F0502020204030204" pitchFamily="34" charset="0"/>
              </a:rPr>
            </a:br>
            <a:r>
              <a:rPr lang="el-GR" sz="1800" b="1" dirty="0" err="1">
                <a:solidFill>
                  <a:schemeClr val="tx1"/>
                </a:solidFill>
                <a:effectLst/>
                <a:ea typeface="Calibri" panose="020F0502020204030204" pitchFamily="34" charset="0"/>
              </a:rPr>
              <a:t>ΙΣ</a:t>
            </a:r>
            <a:r>
              <a:rPr lang="el-GR" sz="1800" b="1" dirty="0">
                <a:solidFill>
                  <a:schemeClr val="tx1"/>
                </a:solidFill>
                <a:effectLst/>
                <a:ea typeface="Calibri" panose="020F0502020204030204" pitchFamily="34" charset="0"/>
              </a:rPr>
              <a:t>.</a:t>
            </a:r>
            <a:r>
              <a:rPr lang="el-GR" sz="1800" dirty="0">
                <a:solidFill>
                  <a:schemeClr val="tx1"/>
                </a:solidFill>
                <a:effectLst/>
                <a:ea typeface="Calibri" panose="020F0502020204030204" pitchFamily="34" charset="0"/>
              </a:rPr>
              <a:t> </a:t>
            </a:r>
            <a:r>
              <a:rPr lang="el-GR" sz="1800" b="1" dirty="0">
                <a:solidFill>
                  <a:schemeClr val="tx1"/>
                </a:solidFill>
                <a:effectLst/>
                <a:ea typeface="Calibri" panose="020F0502020204030204" pitchFamily="34" charset="0"/>
              </a:rPr>
              <a:t>ὦ </a:t>
            </a:r>
            <a:r>
              <a:rPr lang="el-GR" sz="1800" b="1" dirty="0" err="1">
                <a:solidFill>
                  <a:schemeClr val="tx1"/>
                </a:solidFill>
                <a:effectLst/>
                <a:ea typeface="Calibri" panose="020F0502020204030204" pitchFamily="34" charset="0"/>
              </a:rPr>
              <a:t>σχετλία</a:t>
            </a:r>
            <a:r>
              <a:rPr lang="el-GR" sz="1800" b="1" dirty="0">
                <a:solidFill>
                  <a:schemeClr val="tx1"/>
                </a:solidFill>
                <a:effectLst/>
                <a:ea typeface="Calibri" panose="020F0502020204030204" pitchFamily="34" charset="0"/>
              </a:rPr>
              <a:t>,</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Κρέοντος</a:t>
            </a:r>
            <a:r>
              <a:rPr lang="el-GR" sz="1800" dirty="0">
                <a:solidFill>
                  <a:schemeClr val="tx1"/>
                </a:solidFill>
                <a:effectLst/>
                <a:ea typeface="Calibri" panose="020F0502020204030204" pitchFamily="34" charset="0"/>
              </a:rPr>
              <a:t> </a:t>
            </a:r>
            <a:r>
              <a:rPr lang="el-GR" sz="1800" dirty="0" err="1">
                <a:solidFill>
                  <a:schemeClr val="tx1"/>
                </a:solidFill>
                <a:effectLst/>
                <a:ea typeface="Calibri" panose="020F0502020204030204" pitchFamily="34" charset="0"/>
              </a:rPr>
              <a:t>ἀντειρηκότος</a:t>
            </a:r>
            <a:r>
              <a:rPr lang="el-GR" sz="1800" dirty="0">
                <a:solidFill>
                  <a:schemeClr val="tx1"/>
                </a:solidFill>
                <a:effectLst/>
                <a:ea typeface="Calibri" panose="020F0502020204030204" pitchFamily="34" charset="0"/>
              </a:rPr>
              <a:t>; </a:t>
            </a:r>
          </a:p>
          <a:p>
            <a:pPr marL="82296" indent="0">
              <a:buNone/>
            </a:pPr>
            <a:endParaRPr lang="el-GR" sz="1800" dirty="0">
              <a:solidFill>
                <a:schemeClr val="tx1"/>
              </a:solidFill>
              <a:effectLst/>
              <a:ea typeface="Calibri" panose="020F0502020204030204" pitchFamily="34" charset="0"/>
            </a:endParaRPr>
          </a:p>
          <a:p>
            <a:pPr>
              <a:lnSpc>
                <a:spcPct val="150000"/>
              </a:lnSpc>
              <a:spcAft>
                <a:spcPts val="800"/>
              </a:spcAft>
            </a:pPr>
            <a:r>
              <a:rPr lang="en-US" sz="1800" b="1" kern="100" dirty="0">
                <a:solidFill>
                  <a:schemeClr val="tx1"/>
                </a:solidFill>
                <a:ea typeface="Calibri" panose="020F0502020204030204" pitchFamily="34" charset="0"/>
                <a:cs typeface="Times New Roman" panose="02020603050405020304" pitchFamily="18" charset="0"/>
              </a:rPr>
              <a:t>ANT. Yes, my brother</a:t>
            </a:r>
            <a:br>
              <a:rPr lang="en-US" sz="1800" b="1" kern="100" dirty="0">
                <a:solidFill>
                  <a:schemeClr val="tx1"/>
                </a:solidFill>
                <a:ea typeface="Calibri" panose="020F0502020204030204" pitchFamily="34" charset="0"/>
                <a:cs typeface="Times New Roman" panose="02020603050405020304" pitchFamily="18" charset="0"/>
              </a:rPr>
            </a:br>
            <a:r>
              <a:rPr lang="en-US" sz="1800" b="1" kern="100" dirty="0">
                <a:solidFill>
                  <a:schemeClr val="tx1"/>
                </a:solidFill>
                <a:ea typeface="Calibri" panose="020F0502020204030204" pitchFamily="34" charset="0"/>
                <a:cs typeface="Times New Roman" panose="02020603050405020304" pitchFamily="18" charset="0"/>
              </a:rPr>
              <a:t>and yours, if thou wilt not;</a:t>
            </a:r>
            <a:br>
              <a:rPr lang="en-US" sz="1800" b="1" kern="100" dirty="0">
                <a:solidFill>
                  <a:schemeClr val="tx1"/>
                </a:solidFill>
                <a:ea typeface="Calibri" panose="020F0502020204030204" pitchFamily="34" charset="0"/>
                <a:cs typeface="Times New Roman" panose="02020603050405020304" pitchFamily="18" charset="0"/>
              </a:rPr>
            </a:br>
            <a:r>
              <a:rPr lang="en-US" sz="1800" b="1" kern="100" dirty="0">
                <a:solidFill>
                  <a:schemeClr val="tx1"/>
                </a:solidFill>
                <a:ea typeface="Calibri" panose="020F0502020204030204" pitchFamily="34" charset="0"/>
                <a:cs typeface="Times New Roman" panose="02020603050405020304" pitchFamily="18" charset="0"/>
              </a:rPr>
              <a:t>because no one will say about me</a:t>
            </a:r>
            <a:br>
              <a:rPr lang="en-US" sz="1800" b="1" kern="100" dirty="0">
                <a:solidFill>
                  <a:schemeClr val="tx1"/>
                </a:solidFill>
                <a:ea typeface="Calibri" panose="020F0502020204030204" pitchFamily="34" charset="0"/>
                <a:cs typeface="Times New Roman" panose="02020603050405020304" pitchFamily="18" charset="0"/>
              </a:rPr>
            </a:br>
            <a:r>
              <a:rPr lang="en-US" sz="1800" b="1" kern="100" dirty="0">
                <a:solidFill>
                  <a:schemeClr val="tx1"/>
                </a:solidFill>
                <a:ea typeface="Calibri" panose="020F0502020204030204" pitchFamily="34" charset="0"/>
                <a:cs typeface="Times New Roman" panose="02020603050405020304" pitchFamily="18" charset="0"/>
              </a:rPr>
              <a:t>how I betrayed him.
     ISM. Unhappy, though Creon has prevented it</a:t>
            </a:r>
            <a:r>
              <a:rPr lang="el-GR" sz="1800" dirty="0">
                <a:solidFill>
                  <a:schemeClr val="tx1"/>
                </a:solidFill>
                <a:effectLst/>
                <a:latin typeface="Times New Roman" panose="02020603050405020304" pitchFamily="18" charset="0"/>
                <a:ea typeface="Calibri" panose="020F0502020204030204" pitchFamily="34" charset="0"/>
              </a:rPr>
              <a:t>;</a:t>
            </a:r>
          </a:p>
        </p:txBody>
      </p:sp>
      <p:pic>
        <p:nvPicPr>
          <p:cNvPr id="6" name="Εικόνα 5">
            <a:extLst>
              <a:ext uri="{FF2B5EF4-FFF2-40B4-BE49-F238E27FC236}">
                <a16:creationId xmlns:a16="http://schemas.microsoft.com/office/drawing/2014/main" id="{7963BA15-FA24-0103-C189-3B076054DEA1}"/>
              </a:ext>
            </a:extLst>
          </p:cNvPr>
          <p:cNvPicPr>
            <a:picLocks noChangeAspect="1"/>
          </p:cNvPicPr>
          <p:nvPr/>
        </p:nvPicPr>
        <p:blipFill>
          <a:blip r:embed="rId2"/>
          <a:stretch>
            <a:fillRect/>
          </a:stretch>
        </p:blipFill>
        <p:spPr>
          <a:xfrm>
            <a:off x="1914144" y="1524000"/>
            <a:ext cx="4943856" cy="4663440"/>
          </a:xfrm>
          <a:prstGeom prst="rect">
            <a:avLst/>
          </a:prstGeom>
        </p:spPr>
      </p:pic>
    </p:spTree>
    <p:extLst>
      <p:ext uri="{BB962C8B-B14F-4D97-AF65-F5344CB8AC3E}">
        <p14:creationId xmlns:p14="http://schemas.microsoft.com/office/powerpoint/2010/main" val="5684882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B94AA500-CD15-D6BB-C7E0-8018ED42BCA8}"/>
              </a:ext>
            </a:extLst>
          </p:cNvPr>
          <p:cNvSpPr>
            <a:spLocks noGrp="1"/>
          </p:cNvSpPr>
          <p:nvPr>
            <p:ph type="title"/>
          </p:nvPr>
        </p:nvSpPr>
        <p:spPr/>
        <p:txBody>
          <a:bodyPr/>
          <a:lstStyle/>
          <a:p>
            <a:pPr algn="ctr"/>
            <a:r>
              <a:rPr lang="en-US" dirty="0" err="1"/>
              <a:t>PROLOGOS</a:t>
            </a:r>
            <a:br>
              <a:rPr lang="en-US" dirty="0"/>
            </a:br>
            <a:r>
              <a:rPr lang="en-US" dirty="0" err="1"/>
              <a:t>col.73</a:t>
            </a:r>
            <a:r>
              <a:rPr lang="en-US" dirty="0"/>
              <a:t>-74</a:t>
            </a:r>
            <a:endParaRPr lang="el-GR" dirty="0"/>
          </a:p>
        </p:txBody>
      </p:sp>
      <p:sp>
        <p:nvSpPr>
          <p:cNvPr id="3" name="Θέση περιεχομένου 2">
            <a:extLst>
              <a:ext uri="{FF2B5EF4-FFF2-40B4-BE49-F238E27FC236}">
                <a16:creationId xmlns:a16="http://schemas.microsoft.com/office/drawing/2014/main" id="{7B44892A-ECD9-F51F-938C-F27DAFB0B523}"/>
              </a:ext>
            </a:extLst>
          </p:cNvPr>
          <p:cNvSpPr>
            <a:spLocks noGrp="1"/>
          </p:cNvSpPr>
          <p:nvPr>
            <p:ph sz="half" idx="1"/>
          </p:nvPr>
        </p:nvSpPr>
        <p:spPr/>
        <p:txBody>
          <a:bodyPr>
            <a:normAutofit/>
          </a:bodyPr>
          <a:lstStyle/>
          <a:p>
            <a:pPr>
              <a:lnSpc>
                <a:spcPct val="150000"/>
              </a:lnSpc>
              <a:spcAft>
                <a:spcPts val="800"/>
              </a:spcAft>
            </a:pPr>
            <a:r>
              <a:rPr lang="el-GR" sz="2000" b="1" i="1" kern="100" dirty="0">
                <a:solidFill>
                  <a:schemeClr val="tx1"/>
                </a:solidFill>
                <a:effectLst/>
                <a:ea typeface="Calibri" panose="020F0502020204030204" pitchFamily="34" charset="0"/>
                <a:cs typeface="Times New Roman" panose="02020603050405020304" pitchFamily="18" charset="0"/>
              </a:rPr>
              <a:t>φίλη</a:t>
            </a:r>
            <a:r>
              <a:rPr lang="el-GR" sz="2000" i="1" kern="100" dirty="0">
                <a:solidFill>
                  <a:schemeClr val="tx1"/>
                </a:solidFill>
                <a:effectLst/>
                <a:ea typeface="Calibri" panose="020F0502020204030204" pitchFamily="34" charset="0"/>
                <a:cs typeface="Times New Roman" panose="02020603050405020304" pitchFamily="18" charset="0"/>
              </a:rPr>
              <a:t> </a:t>
            </a:r>
            <a:r>
              <a:rPr lang="el-GR" sz="2000" i="1" kern="100" dirty="0" err="1">
                <a:solidFill>
                  <a:schemeClr val="tx1"/>
                </a:solidFill>
                <a:effectLst/>
                <a:ea typeface="Calibri" panose="020F0502020204030204" pitchFamily="34" charset="0"/>
                <a:cs typeface="Times New Roman" panose="02020603050405020304" pitchFamily="18" charset="0"/>
              </a:rPr>
              <a:t>μετ</a:t>
            </a:r>
            <a:r>
              <a:rPr lang="el-GR" sz="2000" i="1" kern="100" dirty="0">
                <a:solidFill>
                  <a:schemeClr val="tx1"/>
                </a:solidFill>
                <a:effectLst/>
                <a:ea typeface="Calibri" panose="020F0502020204030204" pitchFamily="34" charset="0"/>
                <a:cs typeface="Times New Roman" panose="02020603050405020304" pitchFamily="18" charset="0"/>
              </a:rPr>
              <a:t>᾽ </a:t>
            </a:r>
            <a:r>
              <a:rPr lang="el-GR" sz="2000" i="1" kern="100" dirty="0" err="1">
                <a:solidFill>
                  <a:schemeClr val="tx1"/>
                </a:solidFill>
                <a:effectLst/>
                <a:ea typeface="Calibri" panose="020F0502020204030204" pitchFamily="34" charset="0"/>
                <a:cs typeface="Times New Roman" panose="02020603050405020304" pitchFamily="18" charset="0"/>
              </a:rPr>
              <a:t>αὐτοῦ</a:t>
            </a:r>
            <a:r>
              <a:rPr lang="el-GR" sz="2000" i="1" kern="100" dirty="0">
                <a:solidFill>
                  <a:schemeClr val="tx1"/>
                </a:solidFill>
                <a:effectLst/>
                <a:ea typeface="Calibri" panose="020F0502020204030204" pitchFamily="34" charset="0"/>
                <a:cs typeface="Times New Roman" panose="02020603050405020304" pitchFamily="18" charset="0"/>
              </a:rPr>
              <a:t> </a:t>
            </a:r>
            <a:r>
              <a:rPr lang="el-GR" sz="2000" b="1" i="1" kern="100" dirty="0" err="1">
                <a:solidFill>
                  <a:schemeClr val="tx1"/>
                </a:solidFill>
                <a:effectLst/>
                <a:ea typeface="Calibri" panose="020F0502020204030204" pitchFamily="34" charset="0"/>
                <a:cs typeface="Times New Roman" panose="02020603050405020304" pitchFamily="18" charset="0"/>
              </a:rPr>
              <a:t>κείσομαι</a:t>
            </a:r>
            <a:r>
              <a:rPr lang="el-GR" sz="2000" b="1" i="1" kern="100" dirty="0">
                <a:solidFill>
                  <a:schemeClr val="tx1"/>
                </a:solidFill>
                <a:effectLst/>
                <a:ea typeface="Calibri" panose="020F0502020204030204" pitchFamily="34" charset="0"/>
                <a:cs typeface="Times New Roman" panose="02020603050405020304" pitchFamily="18" charset="0"/>
              </a:rPr>
              <a:t>,</a:t>
            </a:r>
            <a:r>
              <a:rPr lang="el-GR" sz="2000" i="1" kern="100" dirty="0">
                <a:solidFill>
                  <a:schemeClr val="tx1"/>
                </a:solidFill>
                <a:effectLst/>
                <a:ea typeface="Calibri" panose="020F0502020204030204" pitchFamily="34" charset="0"/>
                <a:cs typeface="Times New Roman" panose="02020603050405020304" pitchFamily="18" charset="0"/>
              </a:rPr>
              <a:t> </a:t>
            </a:r>
            <a:r>
              <a:rPr lang="el-GR" sz="2000" b="1" i="1" kern="100" dirty="0">
                <a:solidFill>
                  <a:schemeClr val="tx1"/>
                </a:solidFill>
                <a:effectLst/>
                <a:ea typeface="Calibri" panose="020F0502020204030204" pitchFamily="34" charset="0"/>
                <a:cs typeface="Times New Roman" panose="02020603050405020304" pitchFamily="18" charset="0"/>
              </a:rPr>
              <a:t>φίλου</a:t>
            </a:r>
            <a:r>
              <a:rPr lang="el-GR" sz="2000" i="1" kern="100" dirty="0">
                <a:solidFill>
                  <a:schemeClr val="tx1"/>
                </a:solidFill>
                <a:effectLst/>
                <a:ea typeface="Calibri" panose="020F0502020204030204" pitchFamily="34" charset="0"/>
                <a:cs typeface="Times New Roman" panose="02020603050405020304" pitchFamily="18" charset="0"/>
              </a:rPr>
              <a:t> </a:t>
            </a:r>
            <a:r>
              <a:rPr lang="el-GR" sz="2000" i="1" kern="100" dirty="0" err="1">
                <a:solidFill>
                  <a:schemeClr val="tx1"/>
                </a:solidFill>
                <a:effectLst/>
                <a:ea typeface="Calibri" panose="020F0502020204030204" pitchFamily="34" charset="0"/>
                <a:cs typeface="Times New Roman" panose="02020603050405020304" pitchFamily="18" charset="0"/>
              </a:rPr>
              <a:t>μέτα</a:t>
            </a:r>
            <a:r>
              <a:rPr lang="el-GR" sz="2000" i="1" kern="100" dirty="0">
                <a:solidFill>
                  <a:schemeClr val="tx1"/>
                </a:solidFill>
                <a:effectLst/>
                <a:ea typeface="Calibri" panose="020F0502020204030204" pitchFamily="34" charset="0"/>
                <a:cs typeface="Times New Roman" panose="02020603050405020304" pitchFamily="18" charset="0"/>
              </a:rPr>
              <a:t>,</a:t>
            </a:r>
            <a:r>
              <a:rPr lang="el-GR" sz="2000" i="1" kern="100" dirty="0">
                <a:solidFill>
                  <a:schemeClr val="tx1"/>
                </a:solidFill>
                <a:effectLst/>
                <a:ea typeface="Calibri" panose="020F0502020204030204" pitchFamily="34" charset="0"/>
                <a:cs typeface="Calibri" panose="020F0502020204030204" pitchFamily="34" charset="0"/>
              </a:rPr>
              <a:t> </a:t>
            </a:r>
            <a:r>
              <a:rPr lang="el-GR" sz="2000" i="1" kern="100" dirty="0" err="1">
                <a:solidFill>
                  <a:schemeClr val="tx1"/>
                </a:solidFill>
                <a:effectLst/>
                <a:ea typeface="Calibri" panose="020F0502020204030204" pitchFamily="34" charset="0"/>
                <a:cs typeface="Times New Roman" panose="02020603050405020304" pitchFamily="18" charset="0"/>
              </a:rPr>
              <a:t>ὅσια</a:t>
            </a:r>
            <a:r>
              <a:rPr lang="el-GR" sz="2000" i="1" kern="100" dirty="0">
                <a:solidFill>
                  <a:schemeClr val="tx1"/>
                </a:solidFill>
                <a:effectLst/>
                <a:ea typeface="Calibri" panose="020F0502020204030204" pitchFamily="34" charset="0"/>
                <a:cs typeface="Times New Roman" panose="02020603050405020304" pitchFamily="18" charset="0"/>
              </a:rPr>
              <a:t> </a:t>
            </a:r>
            <a:r>
              <a:rPr lang="el-GR" sz="2000" i="1" kern="100" dirty="0" err="1">
                <a:solidFill>
                  <a:schemeClr val="tx1"/>
                </a:solidFill>
                <a:effectLst/>
                <a:ea typeface="Calibri" panose="020F0502020204030204" pitchFamily="34" charset="0"/>
                <a:cs typeface="Times New Roman" panose="02020603050405020304" pitchFamily="18" charset="0"/>
              </a:rPr>
              <a:t>πανουργήσασ</a:t>
            </a:r>
            <a:r>
              <a:rPr lang="el-GR" sz="2000" i="1" kern="100" dirty="0">
                <a:solidFill>
                  <a:schemeClr val="tx1"/>
                </a:solidFill>
                <a:effectLst/>
                <a:ea typeface="Calibri" panose="020F0502020204030204" pitchFamily="34" charset="0"/>
                <a:cs typeface="Calibri" panose="020F0502020204030204" pitchFamily="34" charset="0"/>
              </a:rPr>
              <a:t>᾽</a:t>
            </a:r>
            <a:r>
              <a:rPr lang="el-GR" sz="2000" i="1" kern="100" dirty="0">
                <a:solidFill>
                  <a:schemeClr val="tx1"/>
                </a:solidFill>
                <a:effectLst/>
                <a:ea typeface="Calibri" panose="020F0502020204030204" pitchFamily="34" charset="0"/>
                <a:cs typeface="Times New Roman" panose="02020603050405020304" pitchFamily="18" charset="0"/>
              </a:rPr>
              <a:t>   ( </a:t>
            </a:r>
            <a:r>
              <a:rPr lang="en-US" sz="2000" i="1" kern="100" dirty="0">
                <a:solidFill>
                  <a:schemeClr val="tx1"/>
                </a:solidFill>
                <a:ea typeface="Calibri" panose="020F0502020204030204" pitchFamily="34" charset="0"/>
                <a:cs typeface="Times New Roman" panose="02020603050405020304" pitchFamily="18" charset="0"/>
              </a:rPr>
              <a:t>With him, beloved, beloved, I will lie, for this holy pity of mine;)</a:t>
            </a:r>
            <a:r>
              <a:rPr lang="en-US" sz="2000" b="1" i="1" dirty="0">
                <a:solidFill>
                  <a:schemeClr val="tx1"/>
                </a:solidFill>
                <a:effectLst/>
                <a:ea typeface="Calibri" panose="020F0502020204030204" pitchFamily="34" charset="0"/>
              </a:rPr>
              <a:t>Lieb </a:t>
            </a:r>
            <a:r>
              <a:rPr lang="en-US" sz="2000" i="1" dirty="0" err="1">
                <a:solidFill>
                  <a:schemeClr val="tx1"/>
                </a:solidFill>
                <a:effectLst/>
                <a:ea typeface="Calibri" panose="020F0502020204030204" pitchFamily="34" charset="0"/>
              </a:rPr>
              <a:t>werd</a:t>
            </a:r>
            <a:r>
              <a:rPr lang="en-US" sz="2000" i="1" dirty="0">
                <a:solidFill>
                  <a:schemeClr val="tx1"/>
                </a:solidFill>
                <a:effectLst/>
                <a:ea typeface="Calibri" panose="020F0502020204030204" pitchFamily="34" charset="0"/>
              </a:rPr>
              <a:t> ich </a:t>
            </a:r>
            <a:r>
              <a:rPr lang="en-US" sz="2000" b="1" i="1" dirty="0" err="1">
                <a:solidFill>
                  <a:schemeClr val="tx1"/>
                </a:solidFill>
                <a:effectLst/>
                <a:ea typeface="Calibri" panose="020F0502020204030204" pitchFamily="34" charset="0"/>
              </a:rPr>
              <a:t>bei</a:t>
            </a:r>
            <a:r>
              <a:rPr lang="en-US" sz="2000" b="1" i="1" dirty="0">
                <a:solidFill>
                  <a:schemeClr val="tx1"/>
                </a:solidFill>
                <a:effectLst/>
                <a:ea typeface="Calibri" panose="020F0502020204030204" pitchFamily="34" charset="0"/>
              </a:rPr>
              <a:t> </a:t>
            </a:r>
            <a:r>
              <a:rPr lang="en-US" sz="2000" b="1" i="1" dirty="0" err="1">
                <a:solidFill>
                  <a:schemeClr val="tx1"/>
                </a:solidFill>
                <a:effectLst/>
                <a:ea typeface="Calibri" panose="020F0502020204030204" pitchFamily="34" charset="0"/>
              </a:rPr>
              <a:t>ihm</a:t>
            </a:r>
            <a:r>
              <a:rPr lang="en-US" sz="2000" b="1" i="1" dirty="0">
                <a:solidFill>
                  <a:schemeClr val="tx1"/>
                </a:solidFill>
                <a:effectLst/>
                <a:ea typeface="Calibri" panose="020F0502020204030204" pitchFamily="34" charset="0"/>
              </a:rPr>
              <a:t> </a:t>
            </a:r>
            <a:r>
              <a:rPr lang="en-US" sz="2000" b="1" i="1" dirty="0" err="1">
                <a:solidFill>
                  <a:schemeClr val="tx1"/>
                </a:solidFill>
                <a:effectLst/>
                <a:ea typeface="Calibri" panose="020F0502020204030204" pitchFamily="34" charset="0"/>
              </a:rPr>
              <a:t>liegen</a:t>
            </a:r>
            <a:r>
              <a:rPr lang="el-GR" sz="2000" i="1" dirty="0">
                <a:solidFill>
                  <a:schemeClr val="tx1"/>
                </a:solidFill>
                <a:effectLst/>
                <a:ea typeface="Calibri" panose="020F0502020204030204" pitchFamily="34" charset="0"/>
              </a:rPr>
              <a:t>, </a:t>
            </a:r>
            <a:r>
              <a:rPr lang="en-US" sz="2000" i="1" dirty="0" err="1">
                <a:solidFill>
                  <a:schemeClr val="tx1"/>
                </a:solidFill>
                <a:effectLst/>
                <a:ea typeface="Calibri" panose="020F0502020204030204" pitchFamily="34" charset="0"/>
              </a:rPr>
              <a:t>bei</a:t>
            </a:r>
            <a:r>
              <a:rPr lang="en-US" sz="2000" i="1" dirty="0">
                <a:solidFill>
                  <a:schemeClr val="tx1"/>
                </a:solidFill>
                <a:effectLst/>
                <a:ea typeface="Calibri" panose="020F0502020204030204" pitchFamily="34" charset="0"/>
              </a:rPr>
              <a:t> dem </a:t>
            </a:r>
            <a:r>
              <a:rPr lang="en-US" sz="2000" b="1" i="1" dirty="0" err="1">
                <a:solidFill>
                  <a:schemeClr val="tx1"/>
                </a:solidFill>
                <a:effectLst/>
                <a:ea typeface="Calibri" panose="020F0502020204030204" pitchFamily="34" charset="0"/>
              </a:rPr>
              <a:t>Lieben</a:t>
            </a:r>
            <a:r>
              <a:rPr lang="el-GR" sz="2000" i="1" dirty="0">
                <a:solidFill>
                  <a:schemeClr val="tx1"/>
                </a:solidFill>
                <a:effectLst/>
                <a:ea typeface="Calibri" panose="020F0502020204030204" pitchFamily="34" charset="0"/>
              </a:rPr>
              <a:t>(</a:t>
            </a:r>
            <a:r>
              <a:rPr lang="en-US" sz="2000" i="1" dirty="0">
                <a:solidFill>
                  <a:schemeClr val="tx1"/>
                </a:solidFill>
                <a:ea typeface="Calibri" panose="020F0502020204030204" pitchFamily="34" charset="0"/>
              </a:rPr>
              <a:t>Full of love I will lie beside him, by the side of my beloved</a:t>
            </a:r>
            <a:r>
              <a:rPr lang="el-GR" sz="2000" i="1" dirty="0">
                <a:solidFill>
                  <a:schemeClr val="tx1"/>
                </a:solidFill>
                <a:effectLst/>
                <a:ea typeface="Calibri" panose="020F0502020204030204" pitchFamily="34" charset="0"/>
              </a:rPr>
              <a:t>),</a:t>
            </a:r>
            <a:r>
              <a:rPr lang="el-GR" sz="2000" i="1" dirty="0">
                <a:solidFill>
                  <a:schemeClr val="tx1"/>
                </a:solidFill>
                <a:effectLst/>
                <a:ea typeface="Calibri" panose="020F0502020204030204" pitchFamily="34" charset="0"/>
                <a:cs typeface="Times New Roman" panose="02020603050405020304" pitchFamily="18" charset="0"/>
              </a:rPr>
              <a:t> </a:t>
            </a:r>
            <a:r>
              <a:rPr lang="en-US" sz="2000" b="1" i="1" dirty="0" err="1">
                <a:solidFill>
                  <a:schemeClr val="tx1"/>
                </a:solidFill>
                <a:effectLst/>
                <a:ea typeface="Calibri" panose="020F0502020204030204" pitchFamily="34" charset="0"/>
              </a:rPr>
              <a:t>wenn</a:t>
            </a:r>
            <a:r>
              <a:rPr lang="en-US" sz="2000" b="1" i="1" dirty="0">
                <a:solidFill>
                  <a:schemeClr val="tx1"/>
                </a:solidFill>
                <a:effectLst/>
                <a:ea typeface="Calibri" panose="020F0502020204030204" pitchFamily="34" charset="0"/>
              </a:rPr>
              <a:t> </a:t>
            </a:r>
            <a:r>
              <a:rPr lang="el-GR" sz="2000" b="1" i="1" dirty="0">
                <a:solidFill>
                  <a:schemeClr val="tx1"/>
                </a:solidFill>
                <a:effectLst/>
                <a:ea typeface="Calibri" panose="020F0502020204030204" pitchFamily="34" charset="0"/>
              </a:rPr>
              <a:t>H</a:t>
            </a:r>
            <a:r>
              <a:rPr lang="en-US" sz="2000" b="1" i="1" dirty="0" err="1">
                <a:solidFill>
                  <a:schemeClr val="tx1"/>
                </a:solidFill>
                <a:effectLst/>
                <a:ea typeface="Calibri" panose="020F0502020204030204" pitchFamily="34" charset="0"/>
              </a:rPr>
              <a:t>eiligs</a:t>
            </a:r>
            <a:r>
              <a:rPr lang="en-US" sz="2000" b="1" i="1" dirty="0">
                <a:solidFill>
                  <a:schemeClr val="tx1"/>
                </a:solidFill>
                <a:effectLst/>
                <a:ea typeface="Calibri" panose="020F0502020204030204" pitchFamily="34" charset="0"/>
              </a:rPr>
              <a:t> ich </a:t>
            </a:r>
            <a:r>
              <a:rPr lang="en-US" sz="2000" b="1" i="1" dirty="0" err="1">
                <a:solidFill>
                  <a:schemeClr val="tx1"/>
                </a:solidFill>
                <a:effectLst/>
                <a:ea typeface="Calibri" panose="020F0502020204030204" pitchFamily="34" charset="0"/>
              </a:rPr>
              <a:t>vollbracht</a:t>
            </a:r>
            <a:r>
              <a:rPr lang="en-US" sz="2000" b="1" i="1" dirty="0">
                <a:solidFill>
                  <a:schemeClr val="tx1"/>
                </a:solidFill>
                <a:effectLst/>
                <a:ea typeface="Calibri" panose="020F0502020204030204" pitchFamily="34" charset="0"/>
              </a:rPr>
              <a:t> </a:t>
            </a:r>
            <a:r>
              <a:rPr lang="en-US" sz="2000" i="1" dirty="0">
                <a:solidFill>
                  <a:schemeClr val="tx1"/>
                </a:solidFill>
                <a:ea typeface="Calibri" panose="020F0502020204030204" pitchFamily="34" charset="0"/>
              </a:rPr>
              <a:t>( when in sanctity I will have fulfilled it</a:t>
            </a:r>
            <a:r>
              <a:rPr lang="el-GR" sz="2000" i="1" dirty="0">
                <a:solidFill>
                  <a:schemeClr val="tx1"/>
                </a:solidFill>
                <a:effectLst/>
                <a:ea typeface="Calibri" panose="020F0502020204030204" pitchFamily="34" charset="0"/>
              </a:rPr>
              <a:t>)</a:t>
            </a:r>
            <a:endParaRPr lang="el-GR" sz="2000" i="1" dirty="0">
              <a:solidFill>
                <a:schemeClr val="tx1"/>
              </a:solidFill>
            </a:endParaRPr>
          </a:p>
        </p:txBody>
      </p:sp>
      <p:pic>
        <p:nvPicPr>
          <p:cNvPr id="6" name="Θέση περιεχομένου 5">
            <a:extLst>
              <a:ext uri="{FF2B5EF4-FFF2-40B4-BE49-F238E27FC236}">
                <a16:creationId xmlns:a16="http://schemas.microsoft.com/office/drawing/2014/main" id="{3788A58E-5B51-3402-B7B9-3E6F5E315815}"/>
              </a:ext>
            </a:extLst>
          </p:cNvPr>
          <p:cNvPicPr>
            <a:picLocks noGrp="1" noChangeAspect="1"/>
          </p:cNvPicPr>
          <p:nvPr>
            <p:ph sz="half" idx="2"/>
          </p:nvPr>
        </p:nvPicPr>
        <p:blipFill>
          <a:blip r:embed="rId2"/>
          <a:stretch>
            <a:fillRect/>
          </a:stretch>
        </p:blipFill>
        <p:spPr>
          <a:xfrm>
            <a:off x="7034213" y="1932749"/>
            <a:ext cx="4876800" cy="3846576"/>
          </a:xfrm>
        </p:spPr>
      </p:pic>
    </p:spTree>
    <p:extLst>
      <p:ext uri="{BB962C8B-B14F-4D97-AF65-F5344CB8AC3E}">
        <p14:creationId xmlns:p14="http://schemas.microsoft.com/office/powerpoint/2010/main" val="6384805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D466F6D-EF81-0968-46AB-562B6B8945C6}"/>
              </a:ext>
            </a:extLst>
          </p:cNvPr>
          <p:cNvSpPr>
            <a:spLocks noGrp="1"/>
          </p:cNvSpPr>
          <p:nvPr>
            <p:ph type="title"/>
          </p:nvPr>
        </p:nvSpPr>
        <p:spPr>
          <a:xfrm>
            <a:off x="1914144" y="274319"/>
            <a:ext cx="9997440" cy="599621"/>
          </a:xfrm>
        </p:spPr>
        <p:txBody>
          <a:bodyPr/>
          <a:lstStyle/>
          <a:p>
            <a:pPr algn="ctr"/>
            <a:r>
              <a:rPr lang="en-US" dirty="0"/>
              <a:t>DANCE</a:t>
            </a:r>
            <a:r>
              <a:rPr lang="el-GR" dirty="0"/>
              <a:t>          </a:t>
            </a:r>
            <a:r>
              <a:rPr lang="en-US" dirty="0"/>
              <a:t>A Stationary</a:t>
            </a:r>
            <a:endParaRPr lang="el-GR" dirty="0"/>
          </a:p>
        </p:txBody>
      </p:sp>
      <p:sp>
        <p:nvSpPr>
          <p:cNvPr id="4" name="Θέση περιεχομένου 3">
            <a:extLst>
              <a:ext uri="{FF2B5EF4-FFF2-40B4-BE49-F238E27FC236}">
                <a16:creationId xmlns:a16="http://schemas.microsoft.com/office/drawing/2014/main" id="{4DBDD828-37C4-7FBC-8AFE-06E2A5DB0CF8}"/>
              </a:ext>
            </a:extLst>
          </p:cNvPr>
          <p:cNvSpPr>
            <a:spLocks noGrp="1"/>
          </p:cNvSpPr>
          <p:nvPr>
            <p:ph sz="half" idx="2"/>
          </p:nvPr>
        </p:nvSpPr>
        <p:spPr>
          <a:xfrm>
            <a:off x="1586039" y="873940"/>
            <a:ext cx="5729055" cy="5984059"/>
          </a:xfrm>
          <a:solidFill>
            <a:schemeClr val="bg2">
              <a:lumMod val="75000"/>
            </a:schemeClr>
          </a:solidFill>
        </p:spPr>
        <p:txBody>
          <a:bodyPr>
            <a:noAutofit/>
          </a:bodyPr>
          <a:lstStyle/>
          <a:p>
            <a:pPr marL="82296" marR="421005" indent="0">
              <a:lnSpc>
                <a:spcPct val="150000"/>
              </a:lnSpc>
              <a:spcAft>
                <a:spcPts val="800"/>
              </a:spcAft>
              <a:buNone/>
              <a:tabLst>
                <a:tab pos="5356225" algn="l"/>
              </a:tabLst>
            </a:pPr>
            <a:r>
              <a:rPr lang="el-GR" sz="1600" kern="100" dirty="0" err="1">
                <a:solidFill>
                  <a:schemeClr val="tx1"/>
                </a:solidFill>
                <a:effectLst/>
                <a:ea typeface="Calibri" panose="020F0502020204030204" pitchFamily="34" charset="0"/>
                <a:cs typeface="Times New Roman" panose="02020603050405020304" pitchFamily="18" charset="0"/>
              </a:rPr>
              <a:t>πολλὰ</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τὰ</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b="1" kern="100" dirty="0" err="1">
                <a:solidFill>
                  <a:schemeClr val="tx1"/>
                </a:solidFill>
                <a:effectLst/>
                <a:ea typeface="Calibri" panose="020F0502020204030204" pitchFamily="34" charset="0"/>
                <a:cs typeface="Times New Roman" panose="02020603050405020304" pitchFamily="18" charset="0"/>
              </a:rPr>
              <a:t>δεινὰ</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κοὐδὲν</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ἀν</a:t>
            </a:r>
            <a:r>
              <a:rPr lang="el-GR" sz="1600" kern="100" dirty="0">
                <a:solidFill>
                  <a:schemeClr val="tx1"/>
                </a:solidFill>
                <a:effectLst/>
                <a:ea typeface="Calibri" panose="020F0502020204030204" pitchFamily="34" charset="0"/>
                <a:cs typeface="Times New Roman" panose="02020603050405020304" pitchFamily="18" charset="0"/>
              </a:rPr>
              <a:t>-</a:t>
            </a:r>
            <a:br>
              <a:rPr lang="el-GR" sz="1600" kern="100" dirty="0">
                <a:solidFill>
                  <a:schemeClr val="tx1"/>
                </a:solidFill>
                <a:effectLst/>
                <a:ea typeface="Calibri" panose="020F0502020204030204" pitchFamily="34" charset="0"/>
                <a:cs typeface="Times New Roman" panose="02020603050405020304" pitchFamily="18" charset="0"/>
              </a:rPr>
            </a:br>
            <a:r>
              <a:rPr lang="el-GR" sz="1600" kern="100" dirty="0" err="1">
                <a:solidFill>
                  <a:schemeClr val="tx1"/>
                </a:solidFill>
                <a:effectLst/>
                <a:ea typeface="Calibri" panose="020F0502020204030204" pitchFamily="34" charset="0"/>
                <a:cs typeface="Times New Roman" panose="02020603050405020304" pitchFamily="18" charset="0"/>
              </a:rPr>
              <a:t>θρώπου</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δεινότερον</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πέλει</a:t>
            </a:r>
            <a:r>
              <a:rPr lang="el-GR" sz="1600" kern="100" dirty="0">
                <a:solidFill>
                  <a:schemeClr val="tx1"/>
                </a:solidFill>
                <a:effectLst/>
                <a:ea typeface="Calibri" panose="020F0502020204030204" pitchFamily="34" charset="0"/>
                <a:cs typeface="Times New Roman" panose="02020603050405020304" pitchFamily="18" charset="0"/>
              </a:rPr>
              <a:t>·</a:t>
            </a:r>
            <a:br>
              <a:rPr lang="el-GR" sz="1600" kern="100" dirty="0">
                <a:solidFill>
                  <a:schemeClr val="tx1"/>
                </a:solidFill>
                <a:effectLst/>
                <a:ea typeface="Calibri" panose="020F0502020204030204" pitchFamily="34" charset="0"/>
                <a:cs typeface="Times New Roman" panose="02020603050405020304" pitchFamily="18" charset="0"/>
              </a:rPr>
            </a:br>
            <a:r>
              <a:rPr lang="el-GR" sz="1600" kern="100" dirty="0" err="1">
                <a:solidFill>
                  <a:schemeClr val="tx1"/>
                </a:solidFill>
                <a:effectLst/>
                <a:ea typeface="Calibri" panose="020F0502020204030204" pitchFamily="34" charset="0"/>
                <a:cs typeface="Times New Roman" panose="02020603050405020304" pitchFamily="18" charset="0"/>
              </a:rPr>
              <a:t>τοῦτο</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καὶ</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πολιοῦ</a:t>
            </a:r>
            <a:r>
              <a:rPr lang="el-GR" sz="1600" kern="100" dirty="0">
                <a:solidFill>
                  <a:schemeClr val="tx1"/>
                </a:solidFill>
                <a:effectLst/>
                <a:ea typeface="Calibri" panose="020F0502020204030204" pitchFamily="34" charset="0"/>
                <a:cs typeface="Times New Roman" panose="02020603050405020304" pitchFamily="18" charset="0"/>
              </a:rPr>
              <a:t> πέραν</a:t>
            </a:r>
            <a:br>
              <a:rPr lang="el-GR" sz="1600" kern="100" dirty="0">
                <a:solidFill>
                  <a:schemeClr val="tx1"/>
                </a:solidFill>
                <a:effectLst/>
                <a:ea typeface="Calibri" panose="020F0502020204030204" pitchFamily="34" charset="0"/>
                <a:cs typeface="Times New Roman" panose="02020603050405020304" pitchFamily="18" charset="0"/>
              </a:rPr>
            </a:br>
            <a:r>
              <a:rPr lang="el-GR" sz="1600" kern="100" dirty="0">
                <a:solidFill>
                  <a:schemeClr val="tx1"/>
                </a:solidFill>
                <a:effectLst/>
                <a:ea typeface="Calibri" panose="020F0502020204030204" pitchFamily="34" charset="0"/>
                <a:cs typeface="Times New Roman" panose="02020603050405020304" pitchFamily="18" charset="0"/>
              </a:rPr>
              <a:t>πόντου </a:t>
            </a:r>
            <a:r>
              <a:rPr lang="el-GR" sz="1600" kern="100" dirty="0" err="1">
                <a:solidFill>
                  <a:schemeClr val="tx1"/>
                </a:solidFill>
                <a:effectLst/>
                <a:ea typeface="Calibri" panose="020F0502020204030204" pitchFamily="34" charset="0"/>
                <a:cs typeface="Times New Roman" panose="02020603050405020304" pitchFamily="18" charset="0"/>
              </a:rPr>
              <a:t>χειμερίῳ</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νότῳ</a:t>
            </a:r>
            <a:br>
              <a:rPr lang="el-GR" sz="1600" kern="100" dirty="0">
                <a:solidFill>
                  <a:schemeClr val="tx1"/>
                </a:solidFill>
                <a:effectLst/>
                <a:ea typeface="Calibri" panose="020F0502020204030204" pitchFamily="34" charset="0"/>
                <a:cs typeface="Times New Roman" panose="02020603050405020304" pitchFamily="18" charset="0"/>
              </a:rPr>
            </a:br>
            <a:r>
              <a:rPr lang="el-GR" sz="1600" kern="100" dirty="0" err="1">
                <a:solidFill>
                  <a:schemeClr val="tx1"/>
                </a:solidFill>
                <a:effectLst/>
                <a:ea typeface="Calibri" panose="020F0502020204030204" pitchFamily="34" charset="0"/>
                <a:cs typeface="Times New Roman" panose="02020603050405020304" pitchFamily="18" charset="0"/>
              </a:rPr>
              <a:t>χωρεῖ</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περιβρυχίοισιν</a:t>
            </a:r>
            <a:br>
              <a:rPr lang="el-GR" sz="1600" kern="100" dirty="0">
                <a:solidFill>
                  <a:schemeClr val="tx1"/>
                </a:solidFill>
                <a:effectLst/>
                <a:ea typeface="Calibri" panose="020F0502020204030204" pitchFamily="34" charset="0"/>
                <a:cs typeface="Times New Roman" panose="02020603050405020304" pitchFamily="18" charset="0"/>
              </a:rPr>
            </a:br>
            <a:r>
              <a:rPr lang="el-GR" sz="1600" kern="100" dirty="0" err="1">
                <a:solidFill>
                  <a:schemeClr val="tx1"/>
                </a:solidFill>
                <a:effectLst/>
                <a:ea typeface="Calibri" panose="020F0502020204030204" pitchFamily="34" charset="0"/>
                <a:cs typeface="Times New Roman" panose="02020603050405020304" pitchFamily="18" charset="0"/>
              </a:rPr>
              <a:t>περῶν</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ὑπ</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οἴδμασιν</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θεῶν</a:t>
            </a:r>
            <a:br>
              <a:rPr lang="el-GR" sz="1600" kern="100" dirty="0">
                <a:solidFill>
                  <a:schemeClr val="tx1"/>
                </a:solidFill>
                <a:effectLst/>
                <a:ea typeface="Calibri" panose="020F0502020204030204" pitchFamily="34" charset="0"/>
                <a:cs typeface="Times New Roman" panose="02020603050405020304" pitchFamily="18" charset="0"/>
              </a:rPr>
            </a:br>
            <a:r>
              <a:rPr lang="el-GR" sz="1600" kern="100" dirty="0">
                <a:solidFill>
                  <a:schemeClr val="tx1"/>
                </a:solidFill>
                <a:effectLst/>
                <a:ea typeface="Calibri" panose="020F0502020204030204" pitchFamily="34" charset="0"/>
                <a:cs typeface="Times New Roman" panose="02020603050405020304" pitchFamily="18" charset="0"/>
              </a:rPr>
              <a:t>τε </a:t>
            </a:r>
            <a:r>
              <a:rPr lang="el-GR" sz="1600" kern="100" dirty="0" err="1">
                <a:solidFill>
                  <a:schemeClr val="tx1"/>
                </a:solidFill>
                <a:effectLst/>
                <a:ea typeface="Calibri" panose="020F0502020204030204" pitchFamily="34" charset="0"/>
                <a:cs typeface="Times New Roman" panose="02020603050405020304" pitchFamily="18" charset="0"/>
              </a:rPr>
              <a:t>τὰν</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ὑπερτάταν</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Γᾶν</a:t>
            </a:r>
            <a:br>
              <a:rPr lang="el-GR" sz="1600" kern="100" dirty="0">
                <a:solidFill>
                  <a:schemeClr val="tx1"/>
                </a:solidFill>
                <a:effectLst/>
                <a:ea typeface="Calibri" panose="020F0502020204030204" pitchFamily="34" charset="0"/>
                <a:cs typeface="Times New Roman" panose="02020603050405020304" pitchFamily="18" charset="0"/>
              </a:rPr>
            </a:br>
            <a:r>
              <a:rPr lang="el-GR" sz="1600" kern="100" dirty="0" err="1">
                <a:solidFill>
                  <a:schemeClr val="tx1"/>
                </a:solidFill>
                <a:effectLst/>
                <a:ea typeface="Calibri" panose="020F0502020204030204" pitchFamily="34" charset="0"/>
                <a:cs typeface="Times New Roman" panose="02020603050405020304" pitchFamily="18" charset="0"/>
              </a:rPr>
              <a:t>ἄφθιτον</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ἀκαμάταν</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ἀποτρύεται</a:t>
            </a:r>
            <a:r>
              <a:rPr lang="el-GR" sz="1600" kern="100" dirty="0">
                <a:solidFill>
                  <a:schemeClr val="tx1"/>
                </a:solidFill>
                <a:effectLst/>
                <a:ea typeface="Calibri" panose="020F0502020204030204" pitchFamily="34" charset="0"/>
                <a:cs typeface="Times New Roman" panose="02020603050405020304" pitchFamily="18" charset="0"/>
              </a:rPr>
              <a:t>,</a:t>
            </a:r>
            <a:br>
              <a:rPr lang="el-GR" sz="1600" kern="100" dirty="0">
                <a:solidFill>
                  <a:schemeClr val="tx1"/>
                </a:solidFill>
                <a:effectLst/>
                <a:ea typeface="Calibri" panose="020F0502020204030204" pitchFamily="34" charset="0"/>
                <a:cs typeface="Times New Roman" panose="02020603050405020304" pitchFamily="18" charset="0"/>
              </a:rPr>
            </a:br>
            <a:r>
              <a:rPr lang="el-GR" sz="1600" kern="100" dirty="0" err="1">
                <a:solidFill>
                  <a:schemeClr val="tx1"/>
                </a:solidFill>
                <a:effectLst/>
                <a:ea typeface="Calibri" panose="020F0502020204030204" pitchFamily="34" charset="0"/>
                <a:cs typeface="Times New Roman" panose="02020603050405020304" pitchFamily="18" charset="0"/>
              </a:rPr>
              <a:t>ἰλλομένων</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ἀρότρων</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ἔτος</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εἰς</a:t>
            </a:r>
            <a:r>
              <a:rPr lang="el-GR" sz="1600" kern="100" dirty="0">
                <a:solidFill>
                  <a:schemeClr val="tx1"/>
                </a:solidFill>
                <a:effectLst/>
                <a:ea typeface="Calibri" panose="020F0502020204030204" pitchFamily="34" charset="0"/>
                <a:cs typeface="Times New Roman" panose="02020603050405020304" pitchFamily="18" charset="0"/>
              </a:rPr>
              <a:t> </a:t>
            </a:r>
            <a:r>
              <a:rPr lang="el-GR" sz="1600" kern="100" dirty="0" err="1">
                <a:solidFill>
                  <a:schemeClr val="tx1"/>
                </a:solidFill>
                <a:effectLst/>
                <a:ea typeface="Calibri" panose="020F0502020204030204" pitchFamily="34" charset="0"/>
                <a:cs typeface="Times New Roman" panose="02020603050405020304" pitchFamily="18" charset="0"/>
              </a:rPr>
              <a:t>ἔτος,ἱππείῳ</a:t>
            </a:r>
            <a:r>
              <a:rPr lang="el-GR" sz="1600" kern="100" dirty="0">
                <a:solidFill>
                  <a:schemeClr val="tx1"/>
                </a:solidFill>
                <a:effectLst/>
                <a:ea typeface="Calibri" panose="020F0502020204030204" pitchFamily="34" charset="0"/>
                <a:cs typeface="Times New Roman" panose="02020603050405020304" pitchFamily="18" charset="0"/>
              </a:rPr>
              <a:t> γένει </a:t>
            </a:r>
            <a:r>
              <a:rPr lang="el-GR" sz="1600" kern="100" dirty="0" err="1">
                <a:solidFill>
                  <a:schemeClr val="tx1"/>
                </a:solidFill>
                <a:effectLst/>
                <a:ea typeface="Calibri" panose="020F0502020204030204" pitchFamily="34" charset="0"/>
                <a:cs typeface="Times New Roman" panose="02020603050405020304" pitchFamily="18" charset="0"/>
              </a:rPr>
              <a:t>πολεύων</a:t>
            </a:r>
            <a:r>
              <a:rPr lang="el-GR" sz="1600" kern="100" dirty="0">
                <a:solidFill>
                  <a:schemeClr val="tx1"/>
                </a:solidFill>
                <a:effectLst/>
                <a:ea typeface="Calibri" panose="020F0502020204030204" pitchFamily="34" charset="0"/>
                <a:cs typeface="Times New Roman" panose="02020603050405020304" pitchFamily="18" charset="0"/>
              </a:rPr>
              <a:t>.</a:t>
            </a:r>
          </a:p>
          <a:p>
            <a:pPr marL="82296" marR="421005" indent="0">
              <a:lnSpc>
                <a:spcPct val="150000"/>
              </a:lnSpc>
              <a:spcAft>
                <a:spcPts val="800"/>
              </a:spcAft>
              <a:buNone/>
              <a:tabLst>
                <a:tab pos="5356225" algn="l"/>
              </a:tabLst>
            </a:pPr>
            <a:r>
              <a:rPr lang="el-GR" sz="1600" dirty="0">
                <a:solidFill>
                  <a:schemeClr val="tx1"/>
                </a:solidFill>
                <a:effectLst/>
                <a:ea typeface="Calibri" panose="020F0502020204030204" pitchFamily="34" charset="0"/>
              </a:rPr>
              <a:t>σοφόν τι </a:t>
            </a:r>
            <a:r>
              <a:rPr lang="el-GR" sz="1600" dirty="0" err="1">
                <a:solidFill>
                  <a:schemeClr val="tx1"/>
                </a:solidFill>
                <a:effectLst/>
                <a:ea typeface="Calibri" panose="020F0502020204030204" pitchFamily="34" charset="0"/>
              </a:rPr>
              <a:t>τὸ</a:t>
            </a:r>
            <a:r>
              <a:rPr lang="el-GR" sz="1600" dirty="0">
                <a:solidFill>
                  <a:schemeClr val="tx1"/>
                </a:solidFill>
                <a:effectLst/>
                <a:ea typeface="Calibri" panose="020F0502020204030204" pitchFamily="34" charset="0"/>
              </a:rPr>
              <a:t> </a:t>
            </a:r>
            <a:r>
              <a:rPr lang="el-GR" sz="1600" dirty="0" err="1">
                <a:solidFill>
                  <a:schemeClr val="tx1"/>
                </a:solidFill>
                <a:effectLst/>
                <a:ea typeface="Calibri" panose="020F0502020204030204" pitchFamily="34" charset="0"/>
              </a:rPr>
              <a:t>μηχανόεν</a:t>
            </a:r>
            <a:r>
              <a:rPr lang="el-GR" sz="1600" dirty="0">
                <a:solidFill>
                  <a:schemeClr val="tx1"/>
                </a:solidFill>
                <a:effectLst/>
                <a:ea typeface="Calibri" panose="020F0502020204030204" pitchFamily="34" charset="0"/>
              </a:rPr>
              <a:t> </a:t>
            </a:r>
            <a:r>
              <a:rPr lang="el-GR" sz="1600" dirty="0" err="1">
                <a:solidFill>
                  <a:schemeClr val="tx1"/>
                </a:solidFill>
                <a:effectLst/>
                <a:ea typeface="Calibri" panose="020F0502020204030204" pitchFamily="34" charset="0"/>
              </a:rPr>
              <a:t>τέχνας</a:t>
            </a:r>
            <a:r>
              <a:rPr lang="el-GR" sz="1600" dirty="0">
                <a:solidFill>
                  <a:schemeClr val="tx1"/>
                </a:solidFill>
                <a:effectLst/>
                <a:ea typeface="Calibri" panose="020F0502020204030204" pitchFamily="34" charset="0"/>
              </a:rPr>
              <a:t> </a:t>
            </a:r>
            <a:r>
              <a:rPr lang="el-GR" sz="1600" dirty="0" err="1">
                <a:solidFill>
                  <a:schemeClr val="tx1"/>
                </a:solidFill>
                <a:effectLst/>
                <a:ea typeface="Calibri" panose="020F0502020204030204" pitchFamily="34" charset="0"/>
              </a:rPr>
              <a:t>ὑπὲρ</a:t>
            </a:r>
            <a:r>
              <a:rPr lang="el-GR" sz="1600" dirty="0">
                <a:solidFill>
                  <a:schemeClr val="tx1"/>
                </a:solidFill>
                <a:effectLst/>
                <a:ea typeface="Calibri" panose="020F0502020204030204" pitchFamily="34" charset="0"/>
              </a:rPr>
              <a:t> </a:t>
            </a:r>
            <a:r>
              <a:rPr lang="el-GR" sz="1600" dirty="0" err="1">
                <a:solidFill>
                  <a:schemeClr val="tx1"/>
                </a:solidFill>
                <a:effectLst/>
                <a:ea typeface="Calibri" panose="020F0502020204030204" pitchFamily="34" charset="0"/>
              </a:rPr>
              <a:t>ἐλπίδ</a:t>
            </a:r>
            <a:r>
              <a:rPr lang="el-GR" sz="1600" dirty="0">
                <a:solidFill>
                  <a:schemeClr val="tx1"/>
                </a:solidFill>
                <a:effectLst/>
                <a:ea typeface="Calibri" panose="020F0502020204030204" pitchFamily="34" charset="0"/>
              </a:rPr>
              <a:t>᾽ </a:t>
            </a:r>
            <a:r>
              <a:rPr lang="el-GR" sz="1600" dirty="0" err="1">
                <a:solidFill>
                  <a:schemeClr val="tx1"/>
                </a:solidFill>
                <a:effectLst/>
                <a:ea typeface="Calibri" panose="020F0502020204030204" pitchFamily="34" charset="0"/>
              </a:rPr>
              <a:t>ἔχων</a:t>
            </a:r>
            <a:br>
              <a:rPr lang="el-GR" sz="1600" dirty="0">
                <a:solidFill>
                  <a:schemeClr val="tx1"/>
                </a:solidFill>
                <a:effectLst/>
                <a:ea typeface="Calibri" panose="020F0502020204030204" pitchFamily="34" charset="0"/>
              </a:rPr>
            </a:br>
            <a:r>
              <a:rPr lang="el-GR" sz="1600" dirty="0" err="1">
                <a:solidFill>
                  <a:schemeClr val="tx1"/>
                </a:solidFill>
                <a:effectLst/>
                <a:ea typeface="Calibri" panose="020F0502020204030204" pitchFamily="34" charset="0"/>
              </a:rPr>
              <a:t>τοτὲ</a:t>
            </a:r>
            <a:r>
              <a:rPr lang="el-GR" sz="1600" dirty="0">
                <a:solidFill>
                  <a:schemeClr val="tx1"/>
                </a:solidFill>
                <a:effectLst/>
                <a:ea typeface="Calibri" panose="020F0502020204030204" pitchFamily="34" charset="0"/>
              </a:rPr>
              <a:t> </a:t>
            </a:r>
            <a:r>
              <a:rPr lang="el-GR" sz="1600" dirty="0" err="1">
                <a:solidFill>
                  <a:schemeClr val="tx1"/>
                </a:solidFill>
                <a:effectLst/>
                <a:ea typeface="Calibri" panose="020F0502020204030204" pitchFamily="34" charset="0"/>
              </a:rPr>
              <a:t>μὲν</a:t>
            </a:r>
            <a:r>
              <a:rPr lang="el-GR" sz="1600" dirty="0">
                <a:solidFill>
                  <a:schemeClr val="tx1"/>
                </a:solidFill>
                <a:effectLst/>
                <a:ea typeface="Calibri" panose="020F0502020204030204" pitchFamily="34" charset="0"/>
              </a:rPr>
              <a:t> κακόν, </a:t>
            </a:r>
            <a:r>
              <a:rPr lang="el-GR" sz="1600" dirty="0" err="1">
                <a:solidFill>
                  <a:schemeClr val="tx1"/>
                </a:solidFill>
                <a:effectLst/>
                <a:ea typeface="Calibri" panose="020F0502020204030204" pitchFamily="34" charset="0"/>
              </a:rPr>
              <a:t>ἄλλοτ</a:t>
            </a:r>
            <a:r>
              <a:rPr lang="el-GR" sz="1600" dirty="0">
                <a:solidFill>
                  <a:schemeClr val="tx1"/>
                </a:solidFill>
                <a:effectLst/>
                <a:ea typeface="Calibri" panose="020F0502020204030204" pitchFamily="34" charset="0"/>
              </a:rPr>
              <a:t>᾽ </a:t>
            </a:r>
            <a:r>
              <a:rPr lang="el-GR" sz="1600" dirty="0" err="1">
                <a:solidFill>
                  <a:schemeClr val="tx1"/>
                </a:solidFill>
                <a:effectLst/>
                <a:ea typeface="Calibri" panose="020F0502020204030204" pitchFamily="34" charset="0"/>
              </a:rPr>
              <a:t>ἐπ</a:t>
            </a:r>
            <a:r>
              <a:rPr lang="el-GR" sz="1600" dirty="0">
                <a:solidFill>
                  <a:schemeClr val="tx1"/>
                </a:solidFill>
                <a:effectLst/>
                <a:ea typeface="Calibri" panose="020F0502020204030204" pitchFamily="34" charset="0"/>
              </a:rPr>
              <a:t>᾽ </a:t>
            </a:r>
            <a:r>
              <a:rPr lang="el-GR" sz="1600" dirty="0" err="1">
                <a:solidFill>
                  <a:schemeClr val="tx1"/>
                </a:solidFill>
                <a:effectLst/>
                <a:ea typeface="Calibri" panose="020F0502020204030204" pitchFamily="34" charset="0"/>
              </a:rPr>
              <a:t>ἐσθλὸν</a:t>
            </a:r>
            <a:r>
              <a:rPr lang="el-GR" sz="1600" dirty="0">
                <a:solidFill>
                  <a:schemeClr val="tx1"/>
                </a:solidFill>
                <a:effectLst/>
                <a:ea typeface="Calibri" panose="020F0502020204030204" pitchFamily="34" charset="0"/>
              </a:rPr>
              <a:t> </a:t>
            </a:r>
            <a:r>
              <a:rPr lang="el-GR" sz="1600" dirty="0" err="1">
                <a:solidFill>
                  <a:schemeClr val="tx1"/>
                </a:solidFill>
                <a:effectLst/>
                <a:ea typeface="Calibri" panose="020F0502020204030204" pitchFamily="34" charset="0"/>
              </a:rPr>
              <a:t>ἕρπει</a:t>
            </a:r>
            <a:r>
              <a:rPr lang="el-GR" sz="1600" dirty="0">
                <a:solidFill>
                  <a:schemeClr val="tx1"/>
                </a:solidFill>
                <a:effectLst/>
                <a:ea typeface="Calibri" panose="020F0502020204030204" pitchFamily="34" charset="0"/>
              </a:rPr>
              <a:t>.</a:t>
            </a:r>
            <a:br>
              <a:rPr lang="el-GR" sz="1600" dirty="0">
                <a:solidFill>
                  <a:schemeClr val="tx1"/>
                </a:solidFill>
                <a:effectLst/>
                <a:ea typeface="Calibri" panose="020F0502020204030204" pitchFamily="34" charset="0"/>
              </a:rPr>
            </a:br>
            <a:r>
              <a:rPr lang="en-US" sz="1600" b="1" dirty="0">
                <a:solidFill>
                  <a:schemeClr val="tx1"/>
                </a:solidFill>
                <a:ea typeface="Calibri" panose="020F0502020204030204" pitchFamily="34" charset="0"/>
              </a:rPr>
              <a:t>Laws of </a:t>
            </a:r>
            <a:r>
              <a:rPr lang="en-US" sz="1600" b="1" dirty="0" err="1">
                <a:solidFill>
                  <a:schemeClr val="tx1"/>
                </a:solidFill>
                <a:ea typeface="Calibri" panose="020F0502020204030204" pitchFamily="34" charset="0"/>
              </a:rPr>
              <a:t>Pareiros</a:t>
            </a:r>
            <a:r>
              <a:rPr lang="en-US" sz="1600" b="1" dirty="0">
                <a:solidFill>
                  <a:schemeClr val="tx1"/>
                </a:solidFill>
                <a:ea typeface="Calibri" panose="020F0502020204030204" pitchFamily="34" charset="0"/>
              </a:rPr>
              <a:t> </a:t>
            </a:r>
            <a:r>
              <a:rPr lang="en-US" sz="1600" b="1" dirty="0" err="1">
                <a:solidFill>
                  <a:schemeClr val="tx1"/>
                </a:solidFill>
                <a:ea typeface="Calibri" panose="020F0502020204030204" pitchFamily="34" charset="0"/>
              </a:rPr>
              <a:t>chthonas</a:t>
            </a:r>
            <a:br>
              <a:rPr lang="en-US" sz="1600" b="1" dirty="0">
                <a:solidFill>
                  <a:schemeClr val="tx1"/>
                </a:solidFill>
                <a:ea typeface="Calibri" panose="020F0502020204030204" pitchFamily="34" charset="0"/>
              </a:rPr>
            </a:br>
            <a:r>
              <a:rPr lang="en-US" sz="1600" b="1" dirty="0">
                <a:solidFill>
                  <a:schemeClr val="tx1"/>
                </a:solidFill>
                <a:ea typeface="Calibri" panose="020F0502020204030204" pitchFamily="34" charset="0"/>
              </a:rPr>
              <a:t>God of the Sworn Trial</a:t>
            </a:r>
            <a:br>
              <a:rPr lang="en-US" sz="1600" b="1" dirty="0">
                <a:solidFill>
                  <a:schemeClr val="tx1"/>
                </a:solidFill>
                <a:ea typeface="Calibri" panose="020F0502020204030204" pitchFamily="34" charset="0"/>
              </a:rPr>
            </a:br>
            <a:r>
              <a:rPr lang="en-US" sz="1600" b="1" dirty="0" err="1">
                <a:solidFill>
                  <a:schemeClr val="tx1"/>
                </a:solidFill>
                <a:ea typeface="Calibri" panose="020F0502020204030204" pitchFamily="34" charset="0"/>
              </a:rPr>
              <a:t>Opsipolis</a:t>
            </a:r>
            <a:r>
              <a:rPr lang="en-US" sz="1600" b="1" dirty="0">
                <a:solidFill>
                  <a:schemeClr val="tx1"/>
                </a:solidFill>
                <a:ea typeface="Calibri" panose="020F0502020204030204" pitchFamily="34" charset="0"/>
              </a:rPr>
              <a:t>;</a:t>
            </a:r>
            <a:endParaRPr lang="el-GR" sz="1600" dirty="0">
              <a:solidFill>
                <a:schemeClr val="tx1"/>
              </a:solidFill>
            </a:endParaRPr>
          </a:p>
        </p:txBody>
      </p:sp>
      <p:sp>
        <p:nvSpPr>
          <p:cNvPr id="5" name="Θέση περιεχομένου 2">
            <a:extLst>
              <a:ext uri="{FF2B5EF4-FFF2-40B4-BE49-F238E27FC236}">
                <a16:creationId xmlns:a16="http://schemas.microsoft.com/office/drawing/2014/main" id="{F8372B61-7561-EE6D-0DD5-2553061F5346}"/>
              </a:ext>
            </a:extLst>
          </p:cNvPr>
          <p:cNvSpPr>
            <a:spLocks noGrp="1"/>
          </p:cNvSpPr>
          <p:nvPr>
            <p:ph sz="half" idx="1"/>
          </p:nvPr>
        </p:nvSpPr>
        <p:spPr>
          <a:xfrm>
            <a:off x="7371844" y="1345677"/>
            <a:ext cx="4586768" cy="5414128"/>
          </a:xfrm>
        </p:spPr>
        <p:txBody>
          <a:bodyPr>
            <a:normAutofit/>
          </a:bodyPr>
          <a:lstStyle/>
          <a:p>
            <a:endParaRPr lang="el-GR" dirty="0"/>
          </a:p>
        </p:txBody>
      </p:sp>
      <p:pic>
        <p:nvPicPr>
          <p:cNvPr id="7" name="Εικόνα 6">
            <a:extLst>
              <a:ext uri="{FF2B5EF4-FFF2-40B4-BE49-F238E27FC236}">
                <a16:creationId xmlns:a16="http://schemas.microsoft.com/office/drawing/2014/main" id="{E54444E9-594E-C5C8-7559-047E10D29261}"/>
              </a:ext>
            </a:extLst>
          </p:cNvPr>
          <p:cNvPicPr>
            <a:picLocks noChangeAspect="1"/>
          </p:cNvPicPr>
          <p:nvPr/>
        </p:nvPicPr>
        <p:blipFill>
          <a:blip r:embed="rId2"/>
          <a:stretch>
            <a:fillRect/>
          </a:stretch>
        </p:blipFill>
        <p:spPr>
          <a:xfrm>
            <a:off x="7371844" y="873940"/>
            <a:ext cx="4671370" cy="6117578"/>
          </a:xfrm>
          <a:prstGeom prst="rect">
            <a:avLst/>
          </a:prstGeom>
        </p:spPr>
      </p:pic>
    </p:spTree>
    <p:extLst>
      <p:ext uri="{BB962C8B-B14F-4D97-AF65-F5344CB8AC3E}">
        <p14:creationId xmlns:p14="http://schemas.microsoft.com/office/powerpoint/2010/main" val="137858380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0082B4F-0365-E173-5BF9-4864DDB2C89A}"/>
              </a:ext>
            </a:extLst>
          </p:cNvPr>
          <p:cNvSpPr>
            <a:spLocks noGrp="1"/>
          </p:cNvSpPr>
          <p:nvPr>
            <p:ph type="title"/>
          </p:nvPr>
        </p:nvSpPr>
        <p:spPr/>
        <p:txBody>
          <a:bodyPr/>
          <a:lstStyle/>
          <a:p>
            <a:pPr algn="ctr"/>
            <a:r>
              <a:rPr lang="en-US" sz="2400" dirty="0"/>
              <a:t>EPISODE B</a:t>
            </a:r>
            <a:br>
              <a:rPr lang="el-GR" sz="2400" dirty="0"/>
            </a:br>
            <a:r>
              <a:rPr lang="en-US" sz="2400" dirty="0" err="1"/>
              <a:t>v.449</a:t>
            </a:r>
            <a:r>
              <a:rPr lang="en-US" sz="2400" dirty="0"/>
              <a:t>-457 Antigone admits her act to Creon</a:t>
            </a:r>
            <a:endParaRPr lang="el-GR" sz="2400" dirty="0"/>
          </a:p>
        </p:txBody>
      </p:sp>
      <p:sp>
        <p:nvSpPr>
          <p:cNvPr id="3" name="Θέση περιεχομένου 2">
            <a:extLst>
              <a:ext uri="{FF2B5EF4-FFF2-40B4-BE49-F238E27FC236}">
                <a16:creationId xmlns:a16="http://schemas.microsoft.com/office/drawing/2014/main" id="{B38C2883-7D78-6BF2-D686-8852D601D7C9}"/>
              </a:ext>
            </a:extLst>
          </p:cNvPr>
          <p:cNvSpPr>
            <a:spLocks noGrp="1"/>
          </p:cNvSpPr>
          <p:nvPr>
            <p:ph sz="half" idx="1"/>
          </p:nvPr>
        </p:nvSpPr>
        <p:spPr>
          <a:xfrm>
            <a:off x="1914144" y="1523999"/>
            <a:ext cx="5240800" cy="5404701"/>
          </a:xfrm>
          <a:solidFill>
            <a:schemeClr val="bg2">
              <a:lumMod val="75000"/>
            </a:schemeClr>
          </a:solidFill>
        </p:spPr>
        <p:txBody>
          <a:bodyPr>
            <a:noAutofit/>
          </a:bodyPr>
          <a:lstStyle/>
          <a:p>
            <a:pPr marR="822325">
              <a:lnSpc>
                <a:spcPct val="150000"/>
              </a:lnSpc>
              <a:spcAft>
                <a:spcPts val="800"/>
              </a:spcAft>
              <a:tabLst>
                <a:tab pos="5356225" algn="l"/>
              </a:tabLst>
            </a:pPr>
            <a:r>
              <a:rPr lang="en-US" sz="1600" b="1" kern="0" dirty="0">
                <a:solidFill>
                  <a:schemeClr val="tx1"/>
                </a:solidFill>
                <a:effectLst/>
                <a:ea typeface="Calibri" panose="020F0502020204030204" pitchFamily="34" charset="0"/>
                <a:cs typeface="Times New Roman" panose="02020603050405020304" pitchFamily="18" charset="0"/>
              </a:rPr>
              <a:t>Kreon:</a:t>
            </a:r>
            <a:r>
              <a:rPr lang="el-GR" sz="1600" b="1" kern="100" dirty="0">
                <a:solidFill>
                  <a:schemeClr val="tx1"/>
                </a:solidFill>
                <a:ea typeface="Calibri" panose="020F0502020204030204" pitchFamily="34" charset="0"/>
                <a:cs typeface="Times New Roman" panose="02020603050405020304" pitchFamily="18" charset="0"/>
              </a:rPr>
              <a:t>  </a:t>
            </a:r>
            <a:r>
              <a:rPr lang="en-US" sz="1600" kern="0" dirty="0">
                <a:solidFill>
                  <a:schemeClr val="tx1"/>
                </a:solidFill>
                <a:effectLst/>
                <a:ea typeface="Calibri" panose="020F0502020204030204" pitchFamily="34" charset="0"/>
                <a:cs typeface="Times New Roman" panose="02020603050405020304" pitchFamily="18" charset="0"/>
              </a:rPr>
              <a:t>Was </a:t>
            </a:r>
            <a:r>
              <a:rPr lang="en-US" sz="1600" kern="0" dirty="0" err="1">
                <a:solidFill>
                  <a:schemeClr val="tx1"/>
                </a:solidFill>
                <a:effectLst/>
                <a:ea typeface="Calibri" panose="020F0502020204030204" pitchFamily="34" charset="0"/>
                <a:cs typeface="Times New Roman" panose="02020603050405020304" pitchFamily="18" charset="0"/>
              </a:rPr>
              <a:t>wagtest</a:t>
            </a:r>
            <a:r>
              <a:rPr lang="en-US" sz="1600" kern="0" dirty="0">
                <a:solidFill>
                  <a:schemeClr val="tx1"/>
                </a:solidFill>
                <a:effectLst/>
                <a:ea typeface="Calibri" panose="020F0502020204030204" pitchFamily="34" charset="0"/>
                <a:cs typeface="Times New Roman" panose="02020603050405020304" pitchFamily="18" charset="0"/>
              </a:rPr>
              <a:t> du, </a:t>
            </a:r>
            <a:r>
              <a:rPr lang="en-US" sz="1600" kern="0" dirty="0" err="1">
                <a:solidFill>
                  <a:schemeClr val="tx1"/>
                </a:solidFill>
                <a:effectLst/>
                <a:ea typeface="Calibri" panose="020F0502020204030204" pitchFamily="34" charset="0"/>
                <a:cs typeface="Times New Roman" panose="02020603050405020304" pitchFamily="18" charset="0"/>
              </a:rPr>
              <a:t>ein</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solch</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Gesez</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zu</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brechen</a:t>
            </a:r>
            <a:r>
              <a:rPr lang="en-US" sz="1600" kern="0" dirty="0">
                <a:solidFill>
                  <a:schemeClr val="tx1"/>
                </a:solidFill>
                <a:effectLst/>
                <a:ea typeface="Calibri" panose="020F0502020204030204" pitchFamily="34" charset="0"/>
                <a:cs typeface="Times New Roman" panose="02020603050405020304" pitchFamily="18" charset="0"/>
              </a:rPr>
              <a:t>?</a:t>
            </a:r>
            <a:endParaRPr lang="el-GR" sz="1600" kern="100" dirty="0">
              <a:solidFill>
                <a:schemeClr val="tx1"/>
              </a:solidFill>
              <a:effectLst/>
              <a:ea typeface="Calibri" panose="020F0502020204030204" pitchFamily="34" charset="0"/>
              <a:cs typeface="Times New Roman" panose="02020603050405020304" pitchFamily="18" charset="0"/>
            </a:endParaRPr>
          </a:p>
          <a:p>
            <a:pPr marR="822325">
              <a:lnSpc>
                <a:spcPct val="150000"/>
              </a:lnSpc>
              <a:spcAft>
                <a:spcPts val="800"/>
              </a:spcAft>
              <a:tabLst>
                <a:tab pos="5356225" algn="l"/>
              </a:tabLst>
            </a:pPr>
            <a:r>
              <a:rPr lang="en-US" sz="1600" b="1" kern="0" dirty="0" err="1">
                <a:solidFill>
                  <a:schemeClr val="tx1"/>
                </a:solidFill>
                <a:effectLst/>
                <a:ea typeface="Calibri" panose="020F0502020204030204" pitchFamily="34" charset="0"/>
                <a:cs typeface="Times New Roman" panose="02020603050405020304" pitchFamily="18" charset="0"/>
              </a:rPr>
              <a:t>Antigonä</a:t>
            </a:r>
            <a:r>
              <a:rPr lang="en-US" sz="1600" b="1" kern="0" dirty="0">
                <a:solidFill>
                  <a:schemeClr val="tx1"/>
                </a:solidFill>
                <a:effectLst/>
                <a:ea typeface="Calibri" panose="020F0502020204030204" pitchFamily="34" charset="0"/>
                <a:cs typeface="Times New Roman" panose="02020603050405020304" pitchFamily="18" charset="0"/>
              </a:rPr>
              <a:t>:</a:t>
            </a:r>
            <a:r>
              <a:rPr lang="el-GR" sz="1600" b="1" kern="100" dirty="0">
                <a:solidFill>
                  <a:schemeClr val="tx1"/>
                </a:solidFill>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Darum</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b="1" i="1" kern="0" dirty="0">
                <a:solidFill>
                  <a:schemeClr val="tx1"/>
                </a:solidFill>
                <a:effectLst/>
                <a:ea typeface="Calibri" panose="020F0502020204030204" pitchFamily="34" charset="0"/>
                <a:cs typeface="Times New Roman" panose="02020603050405020304" pitchFamily="18" charset="0"/>
              </a:rPr>
              <a:t>Mein Zeus</a:t>
            </a:r>
            <a:r>
              <a:rPr lang="en-US" sz="1600" i="1"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berichtete</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mirs</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nicht</a:t>
            </a:r>
            <a:r>
              <a:rPr lang="en-US" sz="1600" kern="0" dirty="0">
                <a:solidFill>
                  <a:schemeClr val="tx1"/>
                </a:solidFill>
                <a:effectLst/>
                <a:ea typeface="Calibri" panose="020F0502020204030204" pitchFamily="34" charset="0"/>
                <a:cs typeface="Times New Roman" panose="02020603050405020304" pitchFamily="18" charset="0"/>
              </a:rPr>
              <a:t>;</a:t>
            </a:r>
            <a:r>
              <a:rPr lang="el-GR" sz="1600" kern="100" dirty="0">
                <a:solidFill>
                  <a:schemeClr val="tx1"/>
                </a:solidFill>
                <a:ea typeface="Calibri" panose="020F0502020204030204" pitchFamily="34" charset="0"/>
                <a:cs typeface="Times New Roman" panose="02020603050405020304" pitchFamily="18" charset="0"/>
              </a:rPr>
              <a:t> </a:t>
            </a:r>
            <a:r>
              <a:rPr lang="en-US" sz="1600" kern="0" dirty="0">
                <a:solidFill>
                  <a:schemeClr val="tx1"/>
                </a:solidFill>
                <a:effectLst/>
                <a:ea typeface="Calibri" panose="020F0502020204030204" pitchFamily="34" charset="0"/>
                <a:cs typeface="Times New Roman" panose="02020603050405020304" pitchFamily="18" charset="0"/>
              </a:rPr>
              <a:t>Noch </a:t>
            </a:r>
            <a:r>
              <a:rPr lang="en-US" sz="1600" kern="0" dirty="0" err="1">
                <a:solidFill>
                  <a:schemeClr val="tx1"/>
                </a:solidFill>
                <a:effectLst/>
                <a:ea typeface="Calibri" panose="020F0502020204030204" pitchFamily="34" charset="0"/>
                <a:cs typeface="Times New Roman" panose="02020603050405020304" pitchFamily="18" charset="0"/>
              </a:rPr>
              <a:t>hier</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im</a:t>
            </a:r>
            <a:r>
              <a:rPr lang="en-US" sz="1600" kern="0" dirty="0">
                <a:solidFill>
                  <a:schemeClr val="tx1"/>
                </a:solidFill>
                <a:effectLst/>
                <a:ea typeface="Calibri" panose="020F0502020204030204" pitchFamily="34" charset="0"/>
                <a:cs typeface="Times New Roman" panose="02020603050405020304" pitchFamily="18" charset="0"/>
              </a:rPr>
              <a:t> Haus das </a:t>
            </a:r>
            <a:r>
              <a:rPr lang="en-US" sz="1600" kern="0" dirty="0" err="1">
                <a:solidFill>
                  <a:schemeClr val="tx1"/>
                </a:solidFill>
                <a:effectLst/>
                <a:ea typeface="Calibri" panose="020F0502020204030204" pitchFamily="34" charset="0"/>
                <a:cs typeface="Times New Roman" panose="02020603050405020304" pitchFamily="18" charset="0"/>
              </a:rPr>
              <a:t>Recht</a:t>
            </a:r>
            <a:r>
              <a:rPr lang="en-US" sz="1600" kern="0" dirty="0">
                <a:solidFill>
                  <a:schemeClr val="tx1"/>
                </a:solidFill>
                <a:effectLst/>
                <a:ea typeface="Calibri" panose="020F0502020204030204" pitchFamily="34" charset="0"/>
                <a:cs typeface="Times New Roman" panose="02020603050405020304" pitchFamily="18" charset="0"/>
              </a:rPr>
              <a:t> der </a:t>
            </a:r>
            <a:r>
              <a:rPr lang="en-US" sz="1600" b="1" kern="0" dirty="0" err="1">
                <a:solidFill>
                  <a:schemeClr val="tx1"/>
                </a:solidFill>
                <a:effectLst/>
                <a:ea typeface="Calibri" panose="020F0502020204030204" pitchFamily="34" charset="0"/>
                <a:cs typeface="Times New Roman" panose="02020603050405020304" pitchFamily="18" charset="0"/>
              </a:rPr>
              <a:t>Todesgötter</a:t>
            </a:r>
            <a:r>
              <a:rPr lang="en-US" sz="1600" b="1" kern="0" dirty="0">
                <a:solidFill>
                  <a:schemeClr val="tx1"/>
                </a:solidFill>
                <a:effectLst/>
                <a:ea typeface="Calibri" panose="020F0502020204030204" pitchFamily="34" charset="0"/>
                <a:cs typeface="Times New Roman" panose="02020603050405020304" pitchFamily="18" charset="0"/>
              </a:rPr>
              <a:t>,</a:t>
            </a:r>
            <a:r>
              <a:rPr lang="el-GR" sz="1600" b="1" kern="100" dirty="0">
                <a:solidFill>
                  <a:schemeClr val="tx1"/>
                </a:solidFill>
                <a:ea typeface="Calibri" panose="020F0502020204030204" pitchFamily="34" charset="0"/>
                <a:cs typeface="Times New Roman" panose="02020603050405020304" pitchFamily="18" charset="0"/>
              </a:rPr>
              <a:t> </a:t>
            </a:r>
            <a:r>
              <a:rPr lang="en-US" sz="1600" kern="0" dirty="0">
                <a:solidFill>
                  <a:schemeClr val="tx1"/>
                </a:solidFill>
                <a:effectLst/>
                <a:ea typeface="Calibri" panose="020F0502020204030204" pitchFamily="34" charset="0"/>
                <a:cs typeface="Times New Roman" panose="02020603050405020304" pitchFamily="18" charset="0"/>
              </a:rPr>
              <a:t>Die </a:t>
            </a:r>
            <a:r>
              <a:rPr lang="en-US" sz="1600" kern="0" dirty="0" err="1">
                <a:solidFill>
                  <a:schemeClr val="tx1"/>
                </a:solidFill>
                <a:effectLst/>
                <a:ea typeface="Calibri" panose="020F0502020204030204" pitchFamily="34" charset="0"/>
                <a:cs typeface="Times New Roman" panose="02020603050405020304" pitchFamily="18" charset="0"/>
              </a:rPr>
              <a:t>unter</a:t>
            </a:r>
            <a:r>
              <a:rPr lang="en-US" sz="1600" kern="0" dirty="0">
                <a:solidFill>
                  <a:schemeClr val="tx1"/>
                </a:solidFill>
                <a:effectLst/>
                <a:ea typeface="Calibri" panose="020F0502020204030204" pitchFamily="34" charset="0"/>
                <a:cs typeface="Times New Roman" panose="02020603050405020304" pitchFamily="18" charset="0"/>
              </a:rPr>
              <a:t> Menschen das </a:t>
            </a:r>
            <a:r>
              <a:rPr lang="en-US" sz="1600" kern="0" dirty="0" err="1">
                <a:solidFill>
                  <a:schemeClr val="tx1"/>
                </a:solidFill>
                <a:effectLst/>
                <a:ea typeface="Calibri" panose="020F0502020204030204" pitchFamily="34" charset="0"/>
                <a:cs typeface="Times New Roman" panose="02020603050405020304" pitchFamily="18" charset="0"/>
              </a:rPr>
              <a:t>Gesez</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begränzet</a:t>
            </a:r>
            <a:r>
              <a:rPr lang="en-US" sz="1600" kern="0" dirty="0">
                <a:solidFill>
                  <a:schemeClr val="tx1"/>
                </a:solidFill>
                <a:effectLst/>
                <a:ea typeface="Calibri" panose="020F0502020204030204" pitchFamily="34" charset="0"/>
                <a:cs typeface="Times New Roman" panose="02020603050405020304" pitchFamily="18" charset="0"/>
              </a:rPr>
              <a:t>;</a:t>
            </a:r>
            <a:r>
              <a:rPr lang="el-GR" sz="1600" kern="100" dirty="0">
                <a:solidFill>
                  <a:schemeClr val="tx1"/>
                </a:solidFill>
                <a:ea typeface="Calibri" panose="020F0502020204030204" pitchFamily="34" charset="0"/>
                <a:cs typeface="Times New Roman" panose="02020603050405020304" pitchFamily="18" charset="0"/>
              </a:rPr>
              <a:t> </a:t>
            </a:r>
            <a:r>
              <a:rPr lang="en-US" sz="1600" kern="0" dirty="0">
                <a:solidFill>
                  <a:schemeClr val="tx1"/>
                </a:solidFill>
                <a:effectLst/>
                <a:ea typeface="Calibri" panose="020F0502020204030204" pitchFamily="34" charset="0"/>
                <a:cs typeface="Times New Roman" panose="02020603050405020304" pitchFamily="18" charset="0"/>
              </a:rPr>
              <a:t>Auch </a:t>
            </a:r>
            <a:r>
              <a:rPr lang="en-US" sz="1600" kern="0" dirty="0" err="1">
                <a:solidFill>
                  <a:schemeClr val="tx1"/>
                </a:solidFill>
                <a:effectLst/>
                <a:ea typeface="Calibri" panose="020F0502020204030204" pitchFamily="34" charset="0"/>
                <a:cs typeface="Times New Roman" panose="02020603050405020304" pitchFamily="18" charset="0"/>
              </a:rPr>
              <a:t>dacht</a:t>
            </a:r>
            <a:r>
              <a:rPr lang="en-US" sz="1600" kern="0" dirty="0">
                <a:solidFill>
                  <a:schemeClr val="tx1"/>
                </a:solidFill>
                <a:effectLst/>
                <a:ea typeface="Calibri" panose="020F0502020204030204" pitchFamily="34" charset="0"/>
                <a:cs typeface="Times New Roman" panose="02020603050405020304" pitchFamily="18" charset="0"/>
              </a:rPr>
              <a:t>' ich </a:t>
            </a:r>
            <a:r>
              <a:rPr lang="en-US" sz="1600" kern="0" dirty="0" err="1">
                <a:solidFill>
                  <a:schemeClr val="tx1"/>
                </a:solidFill>
                <a:effectLst/>
                <a:ea typeface="Calibri" panose="020F0502020204030204" pitchFamily="34" charset="0"/>
                <a:cs typeface="Times New Roman" panose="02020603050405020304" pitchFamily="18" charset="0"/>
              </a:rPr>
              <a:t>nicht</a:t>
            </a:r>
            <a:r>
              <a:rPr lang="en-US" sz="1600" kern="0" dirty="0">
                <a:solidFill>
                  <a:schemeClr val="tx1"/>
                </a:solidFill>
                <a:effectLst/>
                <a:ea typeface="Calibri" panose="020F0502020204030204" pitchFamily="34" charset="0"/>
                <a:cs typeface="Times New Roman" panose="02020603050405020304" pitchFamily="18" charset="0"/>
              </a:rPr>
              <a:t>, es sei </a:t>
            </a:r>
            <a:r>
              <a:rPr lang="en-US" sz="1600" kern="0" dirty="0" err="1">
                <a:solidFill>
                  <a:schemeClr val="tx1"/>
                </a:solidFill>
                <a:effectLst/>
                <a:ea typeface="Calibri" panose="020F0502020204030204" pitchFamily="34" charset="0"/>
                <a:cs typeface="Times New Roman" panose="02020603050405020304" pitchFamily="18" charset="0"/>
              </a:rPr>
              <a:t>dein</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Ausgebot</a:t>
            </a:r>
            <a:r>
              <a:rPr lang="en-US" sz="1600" kern="0" dirty="0">
                <a:solidFill>
                  <a:schemeClr val="tx1"/>
                </a:solidFill>
                <a:effectLst/>
                <a:ea typeface="Calibri" panose="020F0502020204030204" pitchFamily="34" charset="0"/>
                <a:cs typeface="Times New Roman" panose="02020603050405020304" pitchFamily="18" charset="0"/>
              </a:rPr>
              <a:t>  so </a:t>
            </a:r>
            <a:r>
              <a:rPr lang="en-US" sz="1600" kern="0" dirty="0" err="1">
                <a:solidFill>
                  <a:schemeClr val="tx1"/>
                </a:solidFill>
                <a:effectLst/>
                <a:ea typeface="Calibri" panose="020F0502020204030204" pitchFamily="34" charset="0"/>
                <a:cs typeface="Times New Roman" panose="02020603050405020304" pitchFamily="18" charset="0"/>
              </a:rPr>
              <a:t>sehr</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viel</a:t>
            </a:r>
            <a:r>
              <a:rPr lang="en-US" sz="1600" kern="0" dirty="0">
                <a:solidFill>
                  <a:schemeClr val="tx1"/>
                </a:solidFill>
                <a:effectLst/>
                <a:ea typeface="Calibri" panose="020F0502020204030204" pitchFamily="34" charset="0"/>
                <a:cs typeface="Times New Roman" panose="02020603050405020304" pitchFamily="18" charset="0"/>
              </a:rPr>
              <a:t>,</a:t>
            </a:r>
            <a:r>
              <a:rPr lang="el-GR" sz="1600" kern="100" dirty="0">
                <a:solidFill>
                  <a:schemeClr val="tx1"/>
                </a:solidFill>
                <a:ea typeface="Calibri" panose="020F0502020204030204" pitchFamily="34" charset="0"/>
                <a:cs typeface="Times New Roman" panose="02020603050405020304" pitchFamily="18" charset="0"/>
              </a:rPr>
              <a:t> </a:t>
            </a:r>
            <a:r>
              <a:rPr lang="en-US" sz="1600" b="1" i="1" kern="0" dirty="0" err="1">
                <a:solidFill>
                  <a:schemeClr val="tx1"/>
                </a:solidFill>
                <a:effectLst/>
                <a:ea typeface="Calibri" panose="020F0502020204030204" pitchFamily="34" charset="0"/>
                <a:cs typeface="Times New Roman" panose="02020603050405020304" pitchFamily="18" charset="0"/>
              </a:rPr>
              <a:t>Daß</a:t>
            </a:r>
            <a:r>
              <a:rPr lang="en-US" sz="1600" b="1" i="1" kern="0" dirty="0">
                <a:solidFill>
                  <a:schemeClr val="tx1"/>
                </a:solidFill>
                <a:effectLst/>
                <a:ea typeface="Calibri" panose="020F0502020204030204" pitchFamily="34" charset="0"/>
                <a:cs typeface="Times New Roman" panose="02020603050405020304" pitchFamily="18" charset="0"/>
              </a:rPr>
              <a:t> </a:t>
            </a:r>
            <a:r>
              <a:rPr lang="en-US" sz="1600" b="1" i="1" kern="0" dirty="0" err="1">
                <a:solidFill>
                  <a:schemeClr val="tx1"/>
                </a:solidFill>
                <a:effectLst/>
                <a:ea typeface="Calibri" panose="020F0502020204030204" pitchFamily="34" charset="0"/>
                <a:cs typeface="Times New Roman" panose="02020603050405020304" pitchFamily="18" charset="0"/>
              </a:rPr>
              <a:t>eins</a:t>
            </a:r>
            <a:r>
              <a:rPr lang="en-US" sz="1600" b="1" i="1" kern="0" dirty="0">
                <a:solidFill>
                  <a:schemeClr val="tx1"/>
                </a:solidFill>
                <a:effectLst/>
                <a:ea typeface="Calibri" panose="020F0502020204030204" pitchFamily="34" charset="0"/>
                <a:cs typeface="Times New Roman" panose="02020603050405020304" pitchFamily="18" charset="0"/>
              </a:rPr>
              <a:t>, das </a:t>
            </a:r>
            <a:r>
              <a:rPr lang="en-US" sz="1600" b="1" i="1" kern="0" dirty="0" err="1">
                <a:solidFill>
                  <a:schemeClr val="tx1"/>
                </a:solidFill>
                <a:effectLst/>
                <a:ea typeface="Calibri" panose="020F0502020204030204" pitchFamily="34" charset="0"/>
                <a:cs typeface="Times New Roman" panose="02020603050405020304" pitchFamily="18" charset="0"/>
              </a:rPr>
              <a:t>sterben</a:t>
            </a:r>
            <a:r>
              <a:rPr lang="en-US" sz="1600" b="1" i="1" kern="0" dirty="0">
                <a:solidFill>
                  <a:schemeClr val="tx1"/>
                </a:solidFill>
                <a:effectLst/>
                <a:ea typeface="Calibri" panose="020F0502020204030204" pitchFamily="34" charset="0"/>
                <a:cs typeface="Times New Roman" panose="02020603050405020304" pitchFamily="18" charset="0"/>
              </a:rPr>
              <a:t> </a:t>
            </a:r>
            <a:r>
              <a:rPr lang="en-US" sz="1600" b="1" i="1" kern="0" dirty="0" err="1">
                <a:solidFill>
                  <a:schemeClr val="tx1"/>
                </a:solidFill>
                <a:effectLst/>
                <a:ea typeface="Calibri" panose="020F0502020204030204" pitchFamily="34" charset="0"/>
                <a:cs typeface="Times New Roman" panose="02020603050405020304" pitchFamily="18" charset="0"/>
              </a:rPr>
              <a:t>muß</a:t>
            </a:r>
            <a:r>
              <a:rPr lang="en-US" sz="1600" i="1" kern="0" dirty="0">
                <a:solidFill>
                  <a:schemeClr val="tx1"/>
                </a:solidFill>
                <a:effectLst/>
                <a:ea typeface="Calibri" panose="020F0502020204030204" pitchFamily="34" charset="0"/>
                <a:cs typeface="Times New Roman" panose="02020603050405020304" pitchFamily="18" charset="0"/>
              </a:rPr>
              <a:t>,</a:t>
            </a:r>
            <a:r>
              <a:rPr lang="en-US" sz="1600" kern="0" dirty="0">
                <a:solidFill>
                  <a:schemeClr val="tx1"/>
                </a:solidFill>
                <a:effectLst/>
                <a:ea typeface="Calibri" panose="020F0502020204030204" pitchFamily="34" charset="0"/>
                <a:cs typeface="Times New Roman" panose="02020603050405020304" pitchFamily="18" charset="0"/>
              </a:rPr>
              <a:t> die </a:t>
            </a:r>
            <a:r>
              <a:rPr lang="en-US" sz="1600" i="1" kern="0" dirty="0" err="1">
                <a:solidFill>
                  <a:schemeClr val="tx1"/>
                </a:solidFill>
                <a:effectLst/>
                <a:ea typeface="Calibri" panose="020F0502020204030204" pitchFamily="34" charset="0"/>
                <a:cs typeface="Times New Roman" panose="02020603050405020304" pitchFamily="18" charset="0"/>
              </a:rPr>
              <a:t>ungeschriebnen</a:t>
            </a:r>
            <a:r>
              <a:rPr lang="en-US" sz="1600" i="1" kern="0" dirty="0">
                <a:solidFill>
                  <a:schemeClr val="tx1"/>
                </a:solidFill>
                <a:effectLst/>
                <a:ea typeface="Calibri" panose="020F0502020204030204" pitchFamily="34" charset="0"/>
                <a:cs typeface="Times New Roman" panose="02020603050405020304" pitchFamily="18" charset="0"/>
              </a:rPr>
              <a:t> </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drüber</a:t>
            </a:r>
            <a:r>
              <a:rPr lang="el-GR" sz="1600" kern="100" dirty="0">
                <a:solidFill>
                  <a:schemeClr val="tx1"/>
                </a:solidFill>
                <a:ea typeface="Calibri" panose="020F0502020204030204" pitchFamily="34" charset="0"/>
                <a:cs typeface="Times New Roman" panose="02020603050405020304" pitchFamily="18" charset="0"/>
              </a:rPr>
              <a:t> </a:t>
            </a:r>
            <a:r>
              <a:rPr lang="en-US" sz="1600" kern="0" dirty="0">
                <a:solidFill>
                  <a:schemeClr val="tx1"/>
                </a:solidFill>
                <a:effectLst/>
                <a:ea typeface="Calibri" panose="020F0502020204030204" pitchFamily="34" charset="0"/>
                <a:cs typeface="Times New Roman" panose="02020603050405020304" pitchFamily="18" charset="0"/>
              </a:rPr>
              <a:t>Die </a:t>
            </a:r>
            <a:r>
              <a:rPr lang="en-US" sz="1600" kern="0" dirty="0" err="1">
                <a:solidFill>
                  <a:schemeClr val="tx1"/>
                </a:solidFill>
                <a:effectLst/>
                <a:ea typeface="Calibri" panose="020F0502020204030204" pitchFamily="34" charset="0"/>
                <a:cs typeface="Times New Roman" panose="02020603050405020304" pitchFamily="18" charset="0"/>
              </a:rPr>
              <a:t>festen</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Sazungen</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im</a:t>
            </a:r>
            <a:r>
              <a:rPr lang="en-US" sz="1600" kern="0" dirty="0">
                <a:solidFill>
                  <a:schemeClr val="tx1"/>
                </a:solidFill>
                <a:effectLst/>
                <a:ea typeface="Calibri" panose="020F0502020204030204" pitchFamily="34" charset="0"/>
                <a:cs typeface="Times New Roman" panose="02020603050405020304" pitchFamily="18" charset="0"/>
              </a:rPr>
              <a:t> Himmel </a:t>
            </a:r>
            <a:r>
              <a:rPr lang="en-US" sz="1600" kern="0" dirty="0" err="1">
                <a:solidFill>
                  <a:schemeClr val="tx1"/>
                </a:solidFill>
                <a:effectLst/>
                <a:ea typeface="Calibri" panose="020F0502020204030204" pitchFamily="34" charset="0"/>
                <a:cs typeface="Times New Roman" panose="02020603050405020304" pitchFamily="18" charset="0"/>
              </a:rPr>
              <a:t>brechen</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sollte</a:t>
            </a:r>
            <a:r>
              <a:rPr lang="en-US" sz="1600" kern="0" dirty="0">
                <a:solidFill>
                  <a:schemeClr val="tx1"/>
                </a:solidFill>
                <a:effectLst/>
                <a:ea typeface="Calibri" panose="020F0502020204030204" pitchFamily="34" charset="0"/>
                <a:cs typeface="Times New Roman" panose="02020603050405020304" pitchFamily="18" charset="0"/>
              </a:rPr>
              <a:t>.</a:t>
            </a:r>
            <a:r>
              <a:rPr lang="el-GR" sz="1600" kern="100" dirty="0">
                <a:solidFill>
                  <a:schemeClr val="tx1"/>
                </a:solidFill>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Nicht</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heut</a:t>
            </a:r>
            <a:r>
              <a:rPr lang="en-US" sz="1600" kern="0" dirty="0">
                <a:solidFill>
                  <a:schemeClr val="tx1"/>
                </a:solidFill>
                <a:effectLst/>
                <a:ea typeface="Calibri" panose="020F0502020204030204" pitchFamily="34" charset="0"/>
                <a:cs typeface="Times New Roman" panose="02020603050405020304" pitchFamily="18" charset="0"/>
              </a:rPr>
              <a:t>' und </a:t>
            </a:r>
            <a:r>
              <a:rPr lang="en-US" sz="1600" kern="0" dirty="0" err="1">
                <a:solidFill>
                  <a:schemeClr val="tx1"/>
                </a:solidFill>
                <a:effectLst/>
                <a:ea typeface="Calibri" panose="020F0502020204030204" pitchFamily="34" charset="0"/>
                <a:cs typeface="Times New Roman" panose="02020603050405020304" pitchFamily="18" charset="0"/>
              </a:rPr>
              <a:t>gestern</a:t>
            </a:r>
            <a:r>
              <a:rPr lang="en-US" sz="1600" kern="0" dirty="0">
                <a:solidFill>
                  <a:schemeClr val="tx1"/>
                </a:solidFill>
                <a:effectLst/>
                <a:ea typeface="Calibri" panose="020F0502020204030204" pitchFamily="34" charset="0"/>
                <a:cs typeface="Times New Roman" panose="02020603050405020304" pitchFamily="18" charset="0"/>
              </a:rPr>
              <a:t> </a:t>
            </a:r>
            <a:r>
              <a:rPr lang="en-US" sz="1600" kern="0" dirty="0" err="1">
                <a:solidFill>
                  <a:schemeClr val="tx1"/>
                </a:solidFill>
                <a:effectLst/>
                <a:ea typeface="Calibri" panose="020F0502020204030204" pitchFamily="34" charset="0"/>
                <a:cs typeface="Times New Roman" panose="02020603050405020304" pitchFamily="18" charset="0"/>
              </a:rPr>
              <a:t>nur</a:t>
            </a:r>
            <a:r>
              <a:rPr lang="en-US" sz="1600" kern="0" dirty="0">
                <a:solidFill>
                  <a:schemeClr val="tx1"/>
                </a:solidFill>
                <a:effectLst/>
                <a:ea typeface="Calibri" panose="020F0502020204030204" pitchFamily="34" charset="0"/>
                <a:cs typeface="Times New Roman" panose="02020603050405020304" pitchFamily="18" charset="0"/>
              </a:rPr>
              <a:t>, die leben </a:t>
            </a:r>
            <a:r>
              <a:rPr lang="en-US" sz="1600" kern="0" dirty="0" err="1">
                <a:solidFill>
                  <a:schemeClr val="tx1"/>
                </a:solidFill>
                <a:effectLst/>
                <a:ea typeface="Calibri" panose="020F0502020204030204" pitchFamily="34" charset="0"/>
                <a:cs typeface="Times New Roman" panose="02020603050405020304" pitchFamily="18" charset="0"/>
              </a:rPr>
              <a:t>immer</a:t>
            </a:r>
            <a:r>
              <a:rPr lang="en-US" sz="1600" kern="0" dirty="0">
                <a:solidFill>
                  <a:schemeClr val="tx1"/>
                </a:solidFill>
                <a:effectLst/>
                <a:ea typeface="Calibri" panose="020F0502020204030204" pitchFamily="34" charset="0"/>
                <a:cs typeface="Times New Roman" panose="02020603050405020304" pitchFamily="18" charset="0"/>
              </a:rPr>
              <a:t>,</a:t>
            </a:r>
            <a:r>
              <a:rPr lang="el-GR" sz="1600" kern="100" dirty="0">
                <a:solidFill>
                  <a:schemeClr val="tx1"/>
                </a:solidFill>
                <a:ea typeface="Calibri" panose="020F0502020204030204" pitchFamily="34" charset="0"/>
                <a:cs typeface="Times New Roman" panose="02020603050405020304" pitchFamily="18" charset="0"/>
              </a:rPr>
              <a:t> </a:t>
            </a:r>
            <a:r>
              <a:rPr lang="en-US" sz="1600" kern="0" dirty="0">
                <a:solidFill>
                  <a:schemeClr val="tx1"/>
                </a:solidFill>
                <a:effectLst/>
                <a:ea typeface="Calibri" panose="020F0502020204030204" pitchFamily="34" charset="0"/>
              </a:rPr>
              <a:t>Und </a:t>
            </a:r>
            <a:r>
              <a:rPr lang="en-US" sz="1600" kern="0" dirty="0" err="1">
                <a:solidFill>
                  <a:schemeClr val="tx1"/>
                </a:solidFill>
                <a:effectLst/>
                <a:ea typeface="Calibri" panose="020F0502020204030204" pitchFamily="34" charset="0"/>
              </a:rPr>
              <a:t>niemand</a:t>
            </a:r>
            <a:r>
              <a:rPr lang="en-US" sz="1600" kern="0" dirty="0">
                <a:solidFill>
                  <a:schemeClr val="tx1"/>
                </a:solidFill>
                <a:effectLst/>
                <a:ea typeface="Calibri" panose="020F0502020204030204" pitchFamily="34" charset="0"/>
              </a:rPr>
              <a:t> </a:t>
            </a:r>
            <a:r>
              <a:rPr lang="en-US" sz="1600" kern="0" dirty="0" err="1">
                <a:solidFill>
                  <a:schemeClr val="tx1"/>
                </a:solidFill>
                <a:effectLst/>
                <a:ea typeface="Calibri" panose="020F0502020204030204" pitchFamily="34" charset="0"/>
              </a:rPr>
              <a:t>weiß</a:t>
            </a:r>
            <a:r>
              <a:rPr lang="en-US" sz="1600" kern="0" dirty="0">
                <a:solidFill>
                  <a:schemeClr val="tx1"/>
                </a:solidFill>
                <a:effectLst/>
                <a:ea typeface="Calibri" panose="020F0502020204030204" pitchFamily="34" charset="0"/>
              </a:rPr>
              <a:t>, </a:t>
            </a:r>
            <a:r>
              <a:rPr lang="en-US" sz="1600" kern="0" dirty="0" err="1">
                <a:solidFill>
                  <a:schemeClr val="tx1"/>
                </a:solidFill>
                <a:effectLst/>
                <a:ea typeface="Calibri" panose="020F0502020204030204" pitchFamily="34" charset="0"/>
              </a:rPr>
              <a:t>woher</a:t>
            </a:r>
            <a:r>
              <a:rPr lang="en-US" sz="1600" kern="0" dirty="0">
                <a:solidFill>
                  <a:schemeClr val="tx1"/>
                </a:solidFill>
                <a:effectLst/>
                <a:ea typeface="Calibri" panose="020F0502020204030204" pitchFamily="34" charset="0"/>
              </a:rPr>
              <a:t> </a:t>
            </a:r>
            <a:r>
              <a:rPr lang="en-US" sz="1600" kern="0" dirty="0" err="1">
                <a:solidFill>
                  <a:schemeClr val="tx1"/>
                </a:solidFill>
                <a:effectLst/>
                <a:ea typeface="Calibri" panose="020F0502020204030204" pitchFamily="34" charset="0"/>
              </a:rPr>
              <a:t>sie</a:t>
            </a:r>
            <a:r>
              <a:rPr lang="en-US" sz="1600" kern="0" dirty="0">
                <a:solidFill>
                  <a:schemeClr val="tx1"/>
                </a:solidFill>
                <a:effectLst/>
                <a:ea typeface="Calibri" panose="020F0502020204030204" pitchFamily="34" charset="0"/>
              </a:rPr>
              <a:t> </a:t>
            </a:r>
            <a:r>
              <a:rPr lang="en-US" sz="1600" kern="0" dirty="0" err="1">
                <a:solidFill>
                  <a:schemeClr val="tx1"/>
                </a:solidFill>
                <a:effectLst/>
                <a:ea typeface="Calibri" panose="020F0502020204030204" pitchFamily="34" charset="0"/>
              </a:rPr>
              <a:t>sind</a:t>
            </a:r>
            <a:r>
              <a:rPr lang="en-US" sz="1600" kern="0" dirty="0">
                <a:solidFill>
                  <a:schemeClr val="tx1"/>
                </a:solidFill>
                <a:effectLst/>
                <a:ea typeface="Calibri" panose="020F0502020204030204" pitchFamily="34" charset="0"/>
              </a:rPr>
              <a:t> </a:t>
            </a:r>
            <a:r>
              <a:rPr lang="en-US" sz="1600" kern="0" dirty="0" err="1">
                <a:solidFill>
                  <a:schemeClr val="tx1"/>
                </a:solidFill>
                <a:effectLst/>
                <a:ea typeface="Calibri" panose="020F0502020204030204" pitchFamily="34" charset="0"/>
              </a:rPr>
              <a:t>gekommen</a:t>
            </a:r>
            <a:r>
              <a:rPr lang="en-US" sz="1600" kern="0" dirty="0">
                <a:solidFill>
                  <a:schemeClr val="tx1"/>
                </a:solidFill>
                <a:effectLst/>
                <a:ea typeface="Calibri" panose="020F0502020204030204" pitchFamily="34" charset="0"/>
              </a:rPr>
              <a:t>.</a:t>
            </a:r>
            <a:endParaRPr lang="el-GR" sz="1600" dirty="0">
              <a:solidFill>
                <a:schemeClr val="tx1"/>
              </a:solidFill>
            </a:endParaRPr>
          </a:p>
        </p:txBody>
      </p:sp>
      <p:sp>
        <p:nvSpPr>
          <p:cNvPr id="4" name="Θέση περιεχομένου 3">
            <a:extLst>
              <a:ext uri="{FF2B5EF4-FFF2-40B4-BE49-F238E27FC236}">
                <a16:creationId xmlns:a16="http://schemas.microsoft.com/office/drawing/2014/main" id="{807FCDA9-1ED0-FAE3-2486-C78BCBD5D56F}"/>
              </a:ext>
            </a:extLst>
          </p:cNvPr>
          <p:cNvSpPr>
            <a:spLocks noGrp="1"/>
          </p:cNvSpPr>
          <p:nvPr>
            <p:ph sz="half" idx="2"/>
          </p:nvPr>
        </p:nvSpPr>
        <p:spPr>
          <a:xfrm>
            <a:off x="7230358" y="1523999"/>
            <a:ext cx="4681225" cy="5263299"/>
          </a:xfrm>
          <a:solidFill>
            <a:schemeClr val="bg2">
              <a:lumMod val="75000"/>
            </a:schemeClr>
          </a:solidFill>
        </p:spPr>
        <p:txBody>
          <a:bodyPr>
            <a:noAutofit/>
          </a:bodyPr>
          <a:lstStyle/>
          <a:p>
            <a:r>
              <a:rPr lang="el-GR" sz="1400" b="1" dirty="0" err="1">
                <a:solidFill>
                  <a:schemeClr val="tx1"/>
                </a:solidFill>
                <a:effectLst/>
                <a:ea typeface="Calibri" panose="020F0502020204030204" pitchFamily="34" charset="0"/>
              </a:rPr>
              <a:t>ΚΡ</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καὶ</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δῆτ</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ἐτόλμας</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τούσδ</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ὑπερβαίνειν</a:t>
            </a:r>
            <a:r>
              <a:rPr lang="el-GR" sz="1400" dirty="0">
                <a:solidFill>
                  <a:schemeClr val="tx1"/>
                </a:solidFill>
                <a:effectLst/>
                <a:ea typeface="Calibri" panose="020F0502020204030204" pitchFamily="34" charset="0"/>
              </a:rPr>
              <a:t> νόμους;</a:t>
            </a:r>
            <a:br>
              <a:rPr lang="el-GR" sz="1400" dirty="0">
                <a:solidFill>
                  <a:schemeClr val="tx1"/>
                </a:solidFill>
                <a:effectLst/>
                <a:ea typeface="Calibri" panose="020F0502020204030204" pitchFamily="34" charset="0"/>
              </a:rPr>
            </a:br>
            <a:r>
              <a:rPr lang="el-GR" sz="1400" b="1" dirty="0">
                <a:solidFill>
                  <a:schemeClr val="tx1"/>
                </a:solidFill>
                <a:effectLst/>
                <a:ea typeface="Calibri" panose="020F0502020204030204" pitchFamily="34" charset="0"/>
              </a:rPr>
              <a:t>ΑΝ</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οὐ</a:t>
            </a:r>
            <a:r>
              <a:rPr lang="el-GR" sz="1400" dirty="0">
                <a:solidFill>
                  <a:schemeClr val="tx1"/>
                </a:solidFill>
                <a:effectLst/>
                <a:ea typeface="Calibri" panose="020F0502020204030204" pitchFamily="34" charset="0"/>
              </a:rPr>
              <a:t> γάρ τί μοι </a:t>
            </a:r>
            <a:r>
              <a:rPr lang="el-GR" sz="1400" dirty="0" err="1">
                <a:solidFill>
                  <a:schemeClr val="tx1"/>
                </a:solidFill>
                <a:effectLst/>
                <a:ea typeface="Calibri" panose="020F0502020204030204" pitchFamily="34" charset="0"/>
              </a:rPr>
              <a:t>Ζεὺς</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ἦν</a:t>
            </a:r>
            <a:r>
              <a:rPr lang="el-GR" sz="1400" dirty="0">
                <a:solidFill>
                  <a:schemeClr val="tx1"/>
                </a:solidFill>
                <a:effectLst/>
                <a:ea typeface="Calibri" panose="020F0502020204030204" pitchFamily="34" charset="0"/>
              </a:rPr>
              <a:t> ὁ </a:t>
            </a:r>
            <a:r>
              <a:rPr lang="el-GR" sz="1400" dirty="0" err="1">
                <a:solidFill>
                  <a:schemeClr val="tx1"/>
                </a:solidFill>
                <a:effectLst/>
                <a:ea typeface="Calibri" panose="020F0502020204030204" pitchFamily="34" charset="0"/>
              </a:rPr>
              <a:t>κηρύξας</a:t>
            </a:r>
            <a:r>
              <a:rPr lang="el-GR" sz="1400" dirty="0">
                <a:solidFill>
                  <a:schemeClr val="tx1"/>
                </a:solidFill>
                <a:effectLst/>
                <a:ea typeface="Calibri" panose="020F0502020204030204" pitchFamily="34" charset="0"/>
              </a:rPr>
              <a:t> τάδε,</a:t>
            </a:r>
            <a:br>
              <a:rPr lang="el-GR" sz="1400" dirty="0">
                <a:solidFill>
                  <a:schemeClr val="tx1"/>
                </a:solidFill>
                <a:effectLst/>
                <a:ea typeface="Calibri" panose="020F0502020204030204" pitchFamily="34" charset="0"/>
              </a:rPr>
            </a:br>
            <a:r>
              <a:rPr lang="el-GR" sz="1400" dirty="0" err="1">
                <a:solidFill>
                  <a:schemeClr val="tx1"/>
                </a:solidFill>
                <a:effectLst/>
                <a:ea typeface="Calibri" panose="020F0502020204030204" pitchFamily="34" charset="0"/>
              </a:rPr>
              <a:t>οὐδ</a:t>
            </a:r>
            <a:r>
              <a:rPr lang="el-GR" sz="1400" dirty="0">
                <a:solidFill>
                  <a:schemeClr val="tx1"/>
                </a:solidFill>
                <a:effectLst/>
                <a:ea typeface="Calibri" panose="020F0502020204030204" pitchFamily="34" charset="0"/>
              </a:rPr>
              <a:t>᾽ ἡ </a:t>
            </a:r>
            <a:r>
              <a:rPr lang="el-GR" sz="1400" dirty="0" err="1">
                <a:solidFill>
                  <a:schemeClr val="tx1"/>
                </a:solidFill>
                <a:effectLst/>
                <a:ea typeface="Calibri" panose="020F0502020204030204" pitchFamily="34" charset="0"/>
              </a:rPr>
              <a:t>ξύνοικος</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τῶν</a:t>
            </a:r>
            <a:r>
              <a:rPr lang="el-GR" sz="1400" dirty="0">
                <a:solidFill>
                  <a:schemeClr val="tx1"/>
                </a:solidFill>
                <a:effectLst/>
                <a:ea typeface="Calibri" panose="020F0502020204030204" pitchFamily="34" charset="0"/>
              </a:rPr>
              <a:t> κάτω </a:t>
            </a:r>
            <a:r>
              <a:rPr lang="el-GR" sz="1400" dirty="0" err="1">
                <a:solidFill>
                  <a:schemeClr val="tx1"/>
                </a:solidFill>
                <a:effectLst/>
                <a:ea typeface="Calibri" panose="020F0502020204030204" pitchFamily="34" charset="0"/>
              </a:rPr>
              <a:t>θεῶν</a:t>
            </a:r>
            <a:r>
              <a:rPr lang="el-GR" sz="1400" dirty="0">
                <a:solidFill>
                  <a:schemeClr val="tx1"/>
                </a:solidFill>
                <a:effectLst/>
                <a:ea typeface="Calibri" panose="020F0502020204030204" pitchFamily="34" charset="0"/>
              </a:rPr>
              <a:t> Δίκη</a:t>
            </a:r>
            <a:br>
              <a:rPr lang="el-GR" sz="1400" dirty="0">
                <a:solidFill>
                  <a:schemeClr val="tx1"/>
                </a:solidFill>
                <a:effectLst/>
                <a:ea typeface="Calibri" panose="020F0502020204030204" pitchFamily="34" charset="0"/>
              </a:rPr>
            </a:br>
            <a:r>
              <a:rPr lang="el-GR" sz="1400" dirty="0" err="1">
                <a:solidFill>
                  <a:schemeClr val="tx1"/>
                </a:solidFill>
                <a:effectLst/>
                <a:ea typeface="Calibri" panose="020F0502020204030204" pitchFamily="34" charset="0"/>
              </a:rPr>
              <a:t>τοιούσδ</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ἐν</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ἀνθρώποισιν</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ὥρισεν</a:t>
            </a:r>
            <a:r>
              <a:rPr lang="el-GR" sz="1400" dirty="0">
                <a:solidFill>
                  <a:schemeClr val="tx1"/>
                </a:solidFill>
                <a:effectLst/>
                <a:ea typeface="Calibri" panose="020F0502020204030204" pitchFamily="34" charset="0"/>
              </a:rPr>
              <a:t> νόμους,</a:t>
            </a:r>
            <a:br>
              <a:rPr lang="el-GR" sz="1400" dirty="0">
                <a:solidFill>
                  <a:schemeClr val="tx1"/>
                </a:solidFill>
                <a:effectLst/>
                <a:ea typeface="Calibri" panose="020F0502020204030204" pitchFamily="34" charset="0"/>
              </a:rPr>
            </a:br>
            <a:r>
              <a:rPr lang="el-GR" sz="1400" dirty="0" err="1">
                <a:solidFill>
                  <a:schemeClr val="tx1"/>
                </a:solidFill>
                <a:effectLst/>
                <a:ea typeface="Calibri" panose="020F0502020204030204" pitchFamily="34" charset="0"/>
              </a:rPr>
              <a:t>οὐδὲ</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σθένειν</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τοσοῦτον</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ᾠόμην</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τὰ</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σὰ</a:t>
            </a:r>
            <a:br>
              <a:rPr lang="el-GR" sz="1400" dirty="0">
                <a:solidFill>
                  <a:schemeClr val="tx1"/>
                </a:solidFill>
                <a:effectLst/>
                <a:ea typeface="Calibri" panose="020F0502020204030204" pitchFamily="34" charset="0"/>
              </a:rPr>
            </a:br>
            <a:r>
              <a:rPr lang="el-GR" sz="1400" dirty="0" err="1">
                <a:solidFill>
                  <a:schemeClr val="tx1"/>
                </a:solidFill>
                <a:effectLst/>
                <a:ea typeface="Calibri" panose="020F0502020204030204" pitchFamily="34" charset="0"/>
              </a:rPr>
              <a:t>κηρύγμαθ</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ὥστ</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ἄγραπτα</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κἀσφαλῆ</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θεῶν</a:t>
            </a:r>
            <a:br>
              <a:rPr lang="el-GR" sz="1400" dirty="0">
                <a:solidFill>
                  <a:schemeClr val="tx1"/>
                </a:solidFill>
                <a:effectLst/>
                <a:ea typeface="Calibri" panose="020F0502020204030204" pitchFamily="34" charset="0"/>
              </a:rPr>
            </a:br>
            <a:r>
              <a:rPr lang="el-GR" sz="1400" dirty="0">
                <a:solidFill>
                  <a:schemeClr val="tx1"/>
                </a:solidFill>
                <a:effectLst/>
                <a:ea typeface="Calibri" panose="020F0502020204030204" pitchFamily="34" charset="0"/>
              </a:rPr>
              <a:t>νόμιμα </a:t>
            </a:r>
            <a:r>
              <a:rPr lang="el-GR" sz="1400" dirty="0" err="1">
                <a:solidFill>
                  <a:schemeClr val="tx1"/>
                </a:solidFill>
                <a:effectLst/>
                <a:ea typeface="Calibri" panose="020F0502020204030204" pitchFamily="34" charset="0"/>
              </a:rPr>
              <a:t>δύνασθαι</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θνητὸν</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ὄνθ</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ὑπερδραμεῖν</a:t>
            </a:r>
            <a:r>
              <a:rPr lang="el-GR" sz="1400" dirty="0">
                <a:solidFill>
                  <a:schemeClr val="tx1"/>
                </a:solidFill>
                <a:effectLst/>
                <a:ea typeface="Calibri" panose="020F0502020204030204" pitchFamily="34" charset="0"/>
              </a:rPr>
              <a:t>.</a:t>
            </a:r>
            <a:br>
              <a:rPr lang="el-GR" sz="1400" dirty="0">
                <a:solidFill>
                  <a:schemeClr val="tx1"/>
                </a:solidFill>
                <a:effectLst/>
                <a:ea typeface="Calibri" panose="020F0502020204030204" pitchFamily="34" charset="0"/>
              </a:rPr>
            </a:br>
            <a:r>
              <a:rPr lang="el-GR" sz="1400" dirty="0" err="1">
                <a:solidFill>
                  <a:schemeClr val="tx1"/>
                </a:solidFill>
                <a:effectLst/>
                <a:ea typeface="Calibri" panose="020F0502020204030204" pitchFamily="34" charset="0"/>
              </a:rPr>
              <a:t>οὐ</a:t>
            </a:r>
            <a:r>
              <a:rPr lang="el-GR" sz="1400" dirty="0">
                <a:solidFill>
                  <a:schemeClr val="tx1"/>
                </a:solidFill>
                <a:effectLst/>
                <a:ea typeface="Calibri" panose="020F0502020204030204" pitchFamily="34" charset="0"/>
              </a:rPr>
              <a:t> γάρ τι </a:t>
            </a:r>
            <a:r>
              <a:rPr lang="el-GR" sz="1400" dirty="0" err="1">
                <a:solidFill>
                  <a:schemeClr val="tx1"/>
                </a:solidFill>
                <a:effectLst/>
                <a:ea typeface="Calibri" panose="020F0502020204030204" pitchFamily="34" charset="0"/>
              </a:rPr>
              <a:t>νῦν</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γε</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κἀχθές</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ἀλλ</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ἀεί</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ποτε</a:t>
            </a:r>
            <a:br>
              <a:rPr lang="el-GR" sz="1400" dirty="0">
                <a:solidFill>
                  <a:schemeClr val="tx1"/>
                </a:solidFill>
                <a:effectLst/>
                <a:ea typeface="Calibri" panose="020F0502020204030204" pitchFamily="34" charset="0"/>
              </a:rPr>
            </a:br>
            <a:r>
              <a:rPr lang="el-GR" sz="1400" dirty="0" err="1">
                <a:solidFill>
                  <a:schemeClr val="tx1"/>
                </a:solidFill>
                <a:effectLst/>
                <a:ea typeface="Calibri" panose="020F0502020204030204" pitchFamily="34" charset="0"/>
              </a:rPr>
              <a:t>ζῇ</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ταῦτα</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κοὐδεὶς</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οἶδεν</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ἐξ</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ὅτου</a:t>
            </a:r>
            <a:r>
              <a:rPr lang="el-GR" sz="1400" dirty="0">
                <a:solidFill>
                  <a:schemeClr val="tx1"/>
                </a:solidFill>
                <a:effectLst/>
                <a:ea typeface="Calibri" panose="020F0502020204030204" pitchFamily="34" charset="0"/>
              </a:rPr>
              <a:t> ᾽</a:t>
            </a:r>
            <a:r>
              <a:rPr lang="el-GR" sz="1400" dirty="0" err="1">
                <a:solidFill>
                  <a:schemeClr val="tx1"/>
                </a:solidFill>
                <a:effectLst/>
                <a:ea typeface="Calibri" panose="020F0502020204030204" pitchFamily="34" charset="0"/>
              </a:rPr>
              <a:t>φάνη</a:t>
            </a:r>
            <a:r>
              <a:rPr lang="el-GR" sz="1400" dirty="0">
                <a:solidFill>
                  <a:schemeClr val="tx1"/>
                </a:solidFill>
                <a:effectLst/>
                <a:ea typeface="Calibri" panose="020F0502020204030204" pitchFamily="34" charset="0"/>
              </a:rPr>
              <a:t>.</a:t>
            </a:r>
          </a:p>
          <a:p>
            <a:endParaRPr lang="el-GR" sz="1400" dirty="0">
              <a:solidFill>
                <a:schemeClr val="tx1"/>
              </a:solidFill>
              <a:effectLst/>
              <a:ea typeface="Calibri" panose="020F0502020204030204" pitchFamily="34" charset="0"/>
            </a:endParaRPr>
          </a:p>
          <a:p>
            <a:r>
              <a:rPr lang="en-US" sz="1400" b="1" dirty="0">
                <a:solidFill>
                  <a:schemeClr val="tx1"/>
                </a:solidFill>
                <a:ea typeface="Calibri" panose="020F0502020204030204" pitchFamily="34" charset="0"/>
              </a:rPr>
              <a:t>CRE. So did you dare to transgress?</a:t>
            </a:r>
            <a:br>
              <a:rPr lang="en-US" sz="1400" b="1" dirty="0">
                <a:solidFill>
                  <a:schemeClr val="tx1"/>
                </a:solidFill>
                <a:ea typeface="Calibri" panose="020F0502020204030204" pitchFamily="34" charset="0"/>
              </a:rPr>
            </a:br>
            <a:r>
              <a:rPr lang="en-US" sz="1400" b="1" dirty="0">
                <a:solidFill>
                  <a:schemeClr val="tx1"/>
                </a:solidFill>
                <a:ea typeface="Calibri" panose="020F0502020204030204" pitchFamily="34" charset="0"/>
              </a:rPr>
              <a:t>this law? ANT. Yes, because it wasn't</a:t>
            </a:r>
            <a:br>
              <a:rPr lang="en-US" sz="1400" b="1" dirty="0">
                <a:solidFill>
                  <a:schemeClr val="tx1"/>
                </a:solidFill>
                <a:ea typeface="Calibri" panose="020F0502020204030204" pitchFamily="34" charset="0"/>
              </a:rPr>
            </a:br>
            <a:r>
              <a:rPr lang="en-US" sz="1400" b="1" dirty="0">
                <a:solidFill>
                  <a:schemeClr val="tx1"/>
                </a:solidFill>
                <a:ea typeface="Calibri" panose="020F0502020204030204" pitchFamily="34" charset="0"/>
              </a:rPr>
              <a:t>Zeus who had preached these things to me,</a:t>
            </a:r>
            <a:br>
              <a:rPr lang="en-US" sz="1400" b="1" dirty="0">
                <a:solidFill>
                  <a:schemeClr val="tx1"/>
                </a:solidFill>
                <a:ea typeface="Calibri" panose="020F0502020204030204" pitchFamily="34" charset="0"/>
              </a:rPr>
            </a:br>
            <a:r>
              <a:rPr lang="en-US" sz="1400" b="1" dirty="0">
                <a:solidFill>
                  <a:schemeClr val="tx1"/>
                </a:solidFill>
                <a:ea typeface="Calibri" panose="020F0502020204030204" pitchFamily="34" charset="0"/>
              </a:rPr>
              <a:t>Neither does the roommate with the gods</a:t>
            </a:r>
            <a:br>
              <a:rPr lang="en-US" sz="1400" b="1" dirty="0">
                <a:solidFill>
                  <a:schemeClr val="tx1"/>
                </a:solidFill>
                <a:ea typeface="Calibri" panose="020F0502020204030204" pitchFamily="34" charset="0"/>
              </a:rPr>
            </a:br>
            <a:r>
              <a:rPr lang="en-US" sz="1400" b="1" dirty="0">
                <a:solidFill>
                  <a:schemeClr val="tx1"/>
                </a:solidFill>
                <a:ea typeface="Calibri" panose="020F0502020204030204" pitchFamily="34" charset="0"/>
              </a:rPr>
              <a:t>of the Underworld, the Trial, these laws</a:t>
            </a:r>
            <a:br>
              <a:rPr lang="en-US" sz="1400" b="1" dirty="0">
                <a:solidFill>
                  <a:schemeClr val="tx1"/>
                </a:solidFill>
                <a:ea typeface="Calibri" panose="020F0502020204030204" pitchFamily="34" charset="0"/>
              </a:rPr>
            </a:br>
            <a:r>
              <a:rPr lang="en-US" sz="1400" b="1" dirty="0">
                <a:solidFill>
                  <a:schemeClr val="tx1"/>
                </a:solidFill>
                <a:ea typeface="Calibri" panose="020F0502020204030204" pitchFamily="34" charset="0"/>
              </a:rPr>
              <a:t>among men they ordained; and neither</a:t>
            </a:r>
            <a:br>
              <a:rPr lang="en-US" sz="1400" b="1" dirty="0">
                <a:solidFill>
                  <a:schemeClr val="tx1"/>
                </a:solidFill>
                <a:ea typeface="Calibri" panose="020F0502020204030204" pitchFamily="34" charset="0"/>
              </a:rPr>
            </a:br>
            <a:r>
              <a:rPr lang="en-US" sz="1400" b="1" dirty="0">
                <a:solidFill>
                  <a:schemeClr val="tx1"/>
                </a:solidFill>
                <a:ea typeface="Calibri" panose="020F0502020204030204" pitchFamily="34" charset="0"/>
              </a:rPr>
              <a:t>I believed so much power how to have</a:t>
            </a:r>
            <a:br>
              <a:rPr lang="en-US" sz="1400" b="1" dirty="0">
                <a:solidFill>
                  <a:schemeClr val="tx1"/>
                </a:solidFill>
                <a:ea typeface="Calibri" panose="020F0502020204030204" pitchFamily="34" charset="0"/>
              </a:rPr>
            </a:br>
            <a:r>
              <a:rPr lang="en-US" sz="1400" b="1" dirty="0">
                <a:solidFill>
                  <a:schemeClr val="tx1"/>
                </a:solidFill>
                <a:ea typeface="Calibri" panose="020F0502020204030204" pitchFamily="34" charset="0"/>
              </a:rPr>
              <a:t>your own sermons, till you are</a:t>
            </a:r>
            <a:br>
              <a:rPr lang="en-US" sz="1400" b="1" dirty="0">
                <a:solidFill>
                  <a:schemeClr val="tx1"/>
                </a:solidFill>
                <a:ea typeface="Calibri" panose="020F0502020204030204" pitchFamily="34" charset="0"/>
              </a:rPr>
            </a:br>
            <a:r>
              <a:rPr lang="en-US" sz="1400" b="1" dirty="0">
                <a:solidFill>
                  <a:schemeClr val="tx1"/>
                </a:solidFill>
                <a:ea typeface="Calibri" panose="020F0502020204030204" pitchFamily="34" charset="0"/>
              </a:rPr>
              <a:t>mortal to be able to laws of the gods</a:t>
            </a:r>
            <a:br>
              <a:rPr lang="en-US" sz="1400" b="1" dirty="0">
                <a:solidFill>
                  <a:schemeClr val="tx1"/>
                </a:solidFill>
                <a:ea typeface="Calibri" panose="020F0502020204030204" pitchFamily="34" charset="0"/>
              </a:rPr>
            </a:br>
            <a:r>
              <a:rPr lang="en-US" sz="1400" b="1" dirty="0">
                <a:solidFill>
                  <a:schemeClr val="tx1"/>
                </a:solidFill>
                <a:ea typeface="Calibri" panose="020F0502020204030204" pitchFamily="34" charset="0"/>
              </a:rPr>
              <a:t>the unwritten and unwavering to hurry;</a:t>
            </a:r>
            <a:br>
              <a:rPr lang="en-US" sz="1400" b="1" dirty="0">
                <a:solidFill>
                  <a:schemeClr val="tx1"/>
                </a:solidFill>
                <a:ea typeface="Calibri" panose="020F0502020204030204" pitchFamily="34" charset="0"/>
              </a:rPr>
            </a:br>
            <a:r>
              <a:rPr lang="en-US" sz="1400" b="1" dirty="0">
                <a:solidFill>
                  <a:schemeClr val="tx1"/>
                </a:solidFill>
                <a:ea typeface="Calibri" panose="020F0502020204030204" pitchFamily="34" charset="0"/>
              </a:rPr>
              <a:t>Why not today and yesterday, but eternally?</a:t>
            </a:r>
            <a:br>
              <a:rPr lang="en-US" sz="1400" b="1" dirty="0">
                <a:solidFill>
                  <a:schemeClr val="tx1"/>
                </a:solidFill>
                <a:ea typeface="Calibri" panose="020F0502020204030204" pitchFamily="34" charset="0"/>
              </a:rPr>
            </a:br>
            <a:r>
              <a:rPr lang="en-US" sz="1400" b="1" dirty="0">
                <a:solidFill>
                  <a:schemeClr val="tx1"/>
                </a:solidFill>
                <a:ea typeface="Calibri" panose="020F0502020204030204" pitchFamily="34" charset="0"/>
              </a:rPr>
              <a:t>They live, and no one knows it</a:t>
            </a:r>
            <a:br>
              <a:rPr lang="en-US" sz="1400" b="1" dirty="0">
                <a:solidFill>
                  <a:schemeClr val="tx1"/>
                </a:solidFill>
                <a:ea typeface="Calibri" panose="020F0502020204030204" pitchFamily="34" charset="0"/>
              </a:rPr>
            </a:br>
            <a:r>
              <a:rPr lang="en-US" sz="1400" b="1" dirty="0">
                <a:solidFill>
                  <a:schemeClr val="tx1"/>
                </a:solidFill>
                <a:ea typeface="Calibri" panose="020F0502020204030204" pitchFamily="34" charset="0"/>
              </a:rPr>
              <a:t>Since when did they appear?</a:t>
            </a:r>
            <a:endParaRPr lang="el-GR" sz="1400" dirty="0">
              <a:solidFill>
                <a:schemeClr val="tx1"/>
              </a:solidFill>
            </a:endParaRPr>
          </a:p>
        </p:txBody>
      </p:sp>
    </p:spTree>
    <p:extLst>
      <p:ext uri="{BB962C8B-B14F-4D97-AF65-F5344CB8AC3E}">
        <p14:creationId xmlns:p14="http://schemas.microsoft.com/office/powerpoint/2010/main" val="306626076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1462EDDE-78C9-5EF0-0308-1EAFC8A519E0}"/>
              </a:ext>
            </a:extLst>
          </p:cNvPr>
          <p:cNvSpPr>
            <a:spLocks noGrp="1"/>
          </p:cNvSpPr>
          <p:nvPr>
            <p:ph type="title"/>
          </p:nvPr>
        </p:nvSpPr>
        <p:spPr/>
        <p:txBody>
          <a:bodyPr/>
          <a:lstStyle/>
          <a:p>
            <a:pPr algn="ctr"/>
            <a:r>
              <a:rPr lang="en-US" dirty="0"/>
              <a:t>EPISODE C</a:t>
            </a:r>
            <a:br>
              <a:rPr lang="en-US" dirty="0"/>
            </a:br>
            <a:r>
              <a:rPr lang="en-US" dirty="0"/>
              <a:t>Dialogue between Creon and Haemon</a:t>
            </a:r>
            <a:endParaRPr lang="el-GR" dirty="0"/>
          </a:p>
        </p:txBody>
      </p:sp>
      <p:sp>
        <p:nvSpPr>
          <p:cNvPr id="3" name="Θέση περιεχομένου 2">
            <a:extLst>
              <a:ext uri="{FF2B5EF4-FFF2-40B4-BE49-F238E27FC236}">
                <a16:creationId xmlns:a16="http://schemas.microsoft.com/office/drawing/2014/main" id="{E4C140D4-3F85-134D-E287-C1078A7E543F}"/>
              </a:ext>
            </a:extLst>
          </p:cNvPr>
          <p:cNvSpPr>
            <a:spLocks noGrp="1"/>
          </p:cNvSpPr>
          <p:nvPr>
            <p:ph sz="half" idx="1"/>
          </p:nvPr>
        </p:nvSpPr>
        <p:spPr/>
        <p:txBody>
          <a:bodyPr>
            <a:normAutofit/>
          </a:bodyPr>
          <a:lstStyle/>
          <a:p>
            <a:pPr>
              <a:lnSpc>
                <a:spcPct val="150000"/>
              </a:lnSpc>
              <a:spcAft>
                <a:spcPts val="800"/>
              </a:spcAft>
              <a:tabLst>
                <a:tab pos="5437505" algn="l"/>
              </a:tabLst>
            </a:pPr>
            <a:r>
              <a:rPr lang="el-GR" sz="2200" i="1" kern="100" dirty="0" err="1">
                <a:solidFill>
                  <a:schemeClr val="tx1"/>
                </a:solidFill>
                <a:effectLst/>
                <a:ea typeface="Calibri" panose="020F0502020204030204" pitchFamily="34" charset="0"/>
                <a:cs typeface="Times New Roman" panose="02020603050405020304" pitchFamily="18" charset="0"/>
              </a:rPr>
              <a:t>ΚΡ</a:t>
            </a:r>
            <a:r>
              <a:rPr lang="el-GR" sz="2200" i="1" kern="100" dirty="0">
                <a:solidFill>
                  <a:schemeClr val="tx1"/>
                </a:solidFill>
                <a:effectLst/>
                <a:ea typeface="Calibri" panose="020F0502020204030204" pitchFamily="34" charset="0"/>
                <a:cs typeface="Times New Roman" panose="02020603050405020304" pitchFamily="18" charset="0"/>
              </a:rPr>
              <a:t>. </a:t>
            </a:r>
            <a:r>
              <a:rPr lang="el-GR" sz="2200" i="1" kern="100" dirty="0" err="1">
                <a:solidFill>
                  <a:schemeClr val="tx1"/>
                </a:solidFill>
                <a:effectLst/>
                <a:ea typeface="Calibri" panose="020F0502020204030204" pitchFamily="34" charset="0"/>
                <a:cs typeface="Times New Roman" panose="02020603050405020304" pitchFamily="18" charset="0"/>
              </a:rPr>
              <a:t>ἁμαρτάνω</a:t>
            </a:r>
            <a:r>
              <a:rPr lang="el-GR" sz="2200" i="1" kern="100" dirty="0">
                <a:solidFill>
                  <a:schemeClr val="tx1"/>
                </a:solidFill>
                <a:effectLst/>
                <a:ea typeface="Calibri" panose="020F0502020204030204" pitchFamily="34" charset="0"/>
                <a:cs typeface="Times New Roman" panose="02020603050405020304" pitchFamily="18" charset="0"/>
              </a:rPr>
              <a:t> </a:t>
            </a:r>
            <a:r>
              <a:rPr lang="el-GR" sz="2200" i="1" kern="100" dirty="0" err="1">
                <a:solidFill>
                  <a:schemeClr val="tx1"/>
                </a:solidFill>
                <a:effectLst/>
                <a:ea typeface="Calibri" panose="020F0502020204030204" pitchFamily="34" charset="0"/>
                <a:cs typeface="Times New Roman" panose="02020603050405020304" pitchFamily="18" charset="0"/>
              </a:rPr>
              <a:t>γὰρ</a:t>
            </a:r>
            <a:r>
              <a:rPr lang="el-GR" sz="2200" i="1" kern="100" dirty="0">
                <a:solidFill>
                  <a:schemeClr val="tx1"/>
                </a:solidFill>
                <a:effectLst/>
                <a:ea typeface="Calibri" panose="020F0502020204030204" pitchFamily="34" charset="0"/>
                <a:cs typeface="Times New Roman" panose="02020603050405020304" pitchFamily="18" charset="0"/>
              </a:rPr>
              <a:t> </a:t>
            </a:r>
            <a:r>
              <a:rPr lang="el-GR" sz="2200" i="1" kern="100" dirty="0" err="1">
                <a:solidFill>
                  <a:schemeClr val="tx1"/>
                </a:solidFill>
                <a:effectLst/>
                <a:ea typeface="Calibri" panose="020F0502020204030204" pitchFamily="34" charset="0"/>
                <a:cs typeface="Times New Roman" panose="02020603050405020304" pitchFamily="18" charset="0"/>
              </a:rPr>
              <a:t>τὰς</a:t>
            </a:r>
            <a:r>
              <a:rPr lang="el-GR" sz="2200" i="1" kern="100" dirty="0">
                <a:solidFill>
                  <a:schemeClr val="tx1"/>
                </a:solidFill>
                <a:effectLst/>
                <a:ea typeface="Calibri" panose="020F0502020204030204" pitchFamily="34" charset="0"/>
                <a:cs typeface="Times New Roman" panose="02020603050405020304" pitchFamily="18" charset="0"/>
              </a:rPr>
              <a:t> </a:t>
            </a:r>
            <a:r>
              <a:rPr lang="el-GR" sz="2200" i="1" kern="100" dirty="0" err="1">
                <a:solidFill>
                  <a:schemeClr val="tx1"/>
                </a:solidFill>
                <a:effectLst/>
                <a:ea typeface="Calibri" panose="020F0502020204030204" pitchFamily="34" charset="0"/>
                <a:cs typeface="Times New Roman" panose="02020603050405020304" pitchFamily="18" charset="0"/>
              </a:rPr>
              <a:t>ἐμὰς</a:t>
            </a:r>
            <a:r>
              <a:rPr lang="el-GR" sz="2200" i="1" kern="100" dirty="0">
                <a:solidFill>
                  <a:schemeClr val="tx1"/>
                </a:solidFill>
                <a:effectLst/>
                <a:ea typeface="Calibri" panose="020F0502020204030204" pitchFamily="34" charset="0"/>
                <a:cs typeface="Times New Roman" panose="02020603050405020304" pitchFamily="18" charset="0"/>
              </a:rPr>
              <a:t> </a:t>
            </a:r>
            <a:r>
              <a:rPr lang="el-GR" sz="2200" i="1" kern="100" dirty="0" err="1">
                <a:solidFill>
                  <a:schemeClr val="tx1"/>
                </a:solidFill>
                <a:effectLst/>
                <a:ea typeface="Calibri" panose="020F0502020204030204" pitchFamily="34" charset="0"/>
                <a:cs typeface="Times New Roman" panose="02020603050405020304" pitchFamily="18" charset="0"/>
              </a:rPr>
              <a:t>ἀρχὰς</a:t>
            </a:r>
            <a:r>
              <a:rPr lang="el-GR" sz="2200" i="1" kern="100" dirty="0">
                <a:solidFill>
                  <a:schemeClr val="tx1"/>
                </a:solidFill>
                <a:effectLst/>
                <a:ea typeface="Calibri" panose="020F0502020204030204" pitchFamily="34" charset="0"/>
                <a:cs typeface="Times New Roman" panose="02020603050405020304" pitchFamily="18" charset="0"/>
              </a:rPr>
              <a:t> </a:t>
            </a:r>
            <a:r>
              <a:rPr lang="el-GR" sz="2200" i="1" kern="100" dirty="0" err="1">
                <a:solidFill>
                  <a:schemeClr val="tx1"/>
                </a:solidFill>
                <a:effectLst/>
                <a:ea typeface="Calibri" panose="020F0502020204030204" pitchFamily="34" charset="0"/>
                <a:cs typeface="Times New Roman" panose="02020603050405020304" pitchFamily="18" charset="0"/>
              </a:rPr>
              <a:t>σέβων</a:t>
            </a:r>
            <a:r>
              <a:rPr lang="el-GR" sz="2200" i="1" kern="100" dirty="0">
                <a:solidFill>
                  <a:schemeClr val="tx1"/>
                </a:solidFill>
                <a:effectLst/>
                <a:ea typeface="Calibri" panose="020F0502020204030204" pitchFamily="34" charset="0"/>
                <a:cs typeface="Times New Roman" panose="02020603050405020304" pitchFamily="18" charset="0"/>
              </a:rPr>
              <a:t>;</a:t>
            </a:r>
            <a:br>
              <a:rPr lang="el-GR" sz="2200" i="1" kern="100" dirty="0">
                <a:solidFill>
                  <a:schemeClr val="tx1"/>
                </a:solidFill>
                <a:effectLst/>
                <a:ea typeface="Calibri" panose="020F0502020204030204" pitchFamily="34" charset="0"/>
                <a:cs typeface="Times New Roman" panose="02020603050405020304" pitchFamily="18" charset="0"/>
              </a:rPr>
            </a:br>
            <a:r>
              <a:rPr lang="el-GR" sz="2200" i="1" kern="100" dirty="0">
                <a:solidFill>
                  <a:schemeClr val="tx1"/>
                </a:solidFill>
                <a:effectLst/>
                <a:ea typeface="Calibri" panose="020F0502020204030204" pitchFamily="34" charset="0"/>
                <a:cs typeface="Times New Roman" panose="02020603050405020304" pitchFamily="18" charset="0"/>
              </a:rPr>
              <a:t>ΑΙ. </a:t>
            </a:r>
            <a:r>
              <a:rPr lang="el-GR" sz="2200" i="1" kern="100" dirty="0" err="1">
                <a:solidFill>
                  <a:schemeClr val="tx1"/>
                </a:solidFill>
                <a:effectLst/>
                <a:ea typeface="Calibri" panose="020F0502020204030204" pitchFamily="34" charset="0"/>
                <a:cs typeface="Times New Roman" panose="02020603050405020304" pitchFamily="18" charset="0"/>
              </a:rPr>
              <a:t>οὐ</a:t>
            </a:r>
            <a:r>
              <a:rPr lang="el-GR" sz="2200" i="1" kern="100" dirty="0">
                <a:solidFill>
                  <a:schemeClr val="tx1"/>
                </a:solidFill>
                <a:effectLst/>
                <a:ea typeface="Calibri" panose="020F0502020204030204" pitchFamily="34" charset="0"/>
                <a:cs typeface="Times New Roman" panose="02020603050405020304" pitchFamily="18" charset="0"/>
              </a:rPr>
              <a:t> </a:t>
            </a:r>
            <a:r>
              <a:rPr lang="el-GR" sz="2200" i="1" kern="100" dirty="0" err="1">
                <a:solidFill>
                  <a:schemeClr val="tx1"/>
                </a:solidFill>
                <a:effectLst/>
                <a:ea typeface="Calibri" panose="020F0502020204030204" pitchFamily="34" charset="0"/>
                <a:cs typeface="Times New Roman" panose="02020603050405020304" pitchFamily="18" charset="0"/>
              </a:rPr>
              <a:t>γὰρ</a:t>
            </a:r>
            <a:r>
              <a:rPr lang="el-GR" sz="2200" i="1" kern="100" dirty="0">
                <a:solidFill>
                  <a:schemeClr val="tx1"/>
                </a:solidFill>
                <a:effectLst/>
                <a:ea typeface="Calibri" panose="020F0502020204030204" pitchFamily="34" charset="0"/>
                <a:cs typeface="Times New Roman" panose="02020603050405020304" pitchFamily="18" charset="0"/>
              </a:rPr>
              <a:t> </a:t>
            </a:r>
            <a:r>
              <a:rPr lang="el-GR" sz="2200" i="1" kern="100" dirty="0" err="1">
                <a:solidFill>
                  <a:schemeClr val="tx1"/>
                </a:solidFill>
                <a:effectLst/>
                <a:ea typeface="Calibri" panose="020F0502020204030204" pitchFamily="34" charset="0"/>
                <a:cs typeface="Times New Roman" panose="02020603050405020304" pitchFamily="18" charset="0"/>
              </a:rPr>
              <a:t>σέβεις</a:t>
            </a:r>
            <a:r>
              <a:rPr lang="el-GR" sz="2200" i="1" kern="100" dirty="0">
                <a:solidFill>
                  <a:schemeClr val="tx1"/>
                </a:solidFill>
                <a:effectLst/>
                <a:ea typeface="Calibri" panose="020F0502020204030204" pitchFamily="34" charset="0"/>
                <a:cs typeface="Times New Roman" panose="02020603050405020304" pitchFamily="18" charset="0"/>
              </a:rPr>
              <a:t>, τιμάς </a:t>
            </a:r>
            <a:r>
              <a:rPr lang="el-GR" sz="2200" i="1" kern="100" dirty="0" err="1">
                <a:solidFill>
                  <a:schemeClr val="tx1"/>
                </a:solidFill>
                <a:effectLst/>
                <a:ea typeface="Calibri" panose="020F0502020204030204" pitchFamily="34" charset="0"/>
                <a:cs typeface="Times New Roman" panose="02020603050405020304" pitchFamily="18" charset="0"/>
              </a:rPr>
              <a:t>γε</a:t>
            </a:r>
            <a:r>
              <a:rPr lang="el-GR" sz="2200" i="1" kern="100" dirty="0">
                <a:solidFill>
                  <a:schemeClr val="tx1"/>
                </a:solidFill>
                <a:effectLst/>
                <a:ea typeface="Calibri" panose="020F0502020204030204" pitchFamily="34" charset="0"/>
                <a:cs typeface="Times New Roman" panose="02020603050405020304" pitchFamily="18" charset="0"/>
              </a:rPr>
              <a:t> </a:t>
            </a:r>
            <a:r>
              <a:rPr lang="el-GR" sz="2200" i="1" kern="100" dirty="0" err="1">
                <a:solidFill>
                  <a:schemeClr val="tx1"/>
                </a:solidFill>
                <a:effectLst/>
                <a:ea typeface="Calibri" panose="020F0502020204030204" pitchFamily="34" charset="0"/>
                <a:cs typeface="Times New Roman" panose="02020603050405020304" pitchFamily="18" charset="0"/>
              </a:rPr>
              <a:t>τὰς</a:t>
            </a:r>
            <a:r>
              <a:rPr lang="el-GR" sz="2200" i="1" kern="100" dirty="0">
                <a:solidFill>
                  <a:schemeClr val="tx1"/>
                </a:solidFill>
                <a:effectLst/>
                <a:ea typeface="Calibri" panose="020F0502020204030204" pitchFamily="34" charset="0"/>
                <a:cs typeface="Times New Roman" panose="02020603050405020304" pitchFamily="18" charset="0"/>
              </a:rPr>
              <a:t> </a:t>
            </a:r>
            <a:r>
              <a:rPr lang="el-GR" sz="2200" i="1" kern="100" dirty="0" err="1">
                <a:solidFill>
                  <a:schemeClr val="tx1"/>
                </a:solidFill>
                <a:effectLst/>
                <a:ea typeface="Calibri" panose="020F0502020204030204" pitchFamily="34" charset="0"/>
                <a:cs typeface="Times New Roman" panose="02020603050405020304" pitchFamily="18" charset="0"/>
              </a:rPr>
              <a:t>θεῶν</a:t>
            </a:r>
            <a:r>
              <a:rPr lang="el-GR" sz="2200" i="1" kern="100" dirty="0">
                <a:solidFill>
                  <a:schemeClr val="tx1"/>
                </a:solidFill>
                <a:effectLst/>
                <a:ea typeface="Calibri" panose="020F0502020204030204" pitchFamily="34" charset="0"/>
                <a:cs typeface="Times New Roman" panose="02020603050405020304" pitchFamily="18" charset="0"/>
              </a:rPr>
              <a:t> </a:t>
            </a:r>
            <a:r>
              <a:rPr lang="el-GR" sz="2200" i="1" kern="100" dirty="0" err="1">
                <a:solidFill>
                  <a:schemeClr val="tx1"/>
                </a:solidFill>
                <a:effectLst/>
                <a:ea typeface="Calibri" panose="020F0502020204030204" pitchFamily="34" charset="0"/>
                <a:cs typeface="Times New Roman" panose="02020603050405020304" pitchFamily="18" charset="0"/>
              </a:rPr>
              <a:t>πατῶν</a:t>
            </a:r>
            <a:r>
              <a:rPr lang="el-GR" sz="2200" i="1" kern="100" dirty="0">
                <a:solidFill>
                  <a:schemeClr val="tx1"/>
                </a:solidFill>
                <a:effectLst/>
                <a:ea typeface="Calibri" panose="020F0502020204030204" pitchFamily="34" charset="0"/>
                <a:cs typeface="Times New Roman" panose="02020603050405020304" pitchFamily="18" charset="0"/>
              </a:rPr>
              <a:t>.</a:t>
            </a:r>
            <a:endParaRPr lang="el-GR" sz="2200" kern="100" dirty="0">
              <a:solidFill>
                <a:schemeClr val="tx1"/>
              </a:solidFill>
              <a:effectLst/>
              <a:ea typeface="Calibri" panose="020F0502020204030204" pitchFamily="34" charset="0"/>
              <a:cs typeface="Times New Roman" panose="02020603050405020304" pitchFamily="18" charset="0"/>
            </a:endParaRPr>
          </a:p>
          <a:p>
            <a:r>
              <a:rPr lang="el-GR" sz="2200" i="1" dirty="0">
                <a:solidFill>
                  <a:schemeClr val="tx1"/>
                </a:solidFill>
                <a:effectLst/>
                <a:ea typeface="Calibri" panose="020F0502020204030204" pitchFamily="34" charset="0"/>
              </a:rPr>
              <a:t>(</a:t>
            </a:r>
            <a:r>
              <a:rPr lang="en-US" sz="2200" dirty="0">
                <a:solidFill>
                  <a:schemeClr val="tx1"/>
                </a:solidFill>
                <a:ea typeface="Calibri" panose="020F0502020204030204" pitchFamily="34" charset="0"/>
              </a:rPr>
              <a:t>CRE. Am I not right when I defend my office? AIM. You don't defend it,</a:t>
            </a:r>
            <a:br>
              <a:rPr lang="en-US" sz="2200" dirty="0">
                <a:solidFill>
                  <a:schemeClr val="tx1"/>
                </a:solidFill>
                <a:ea typeface="Calibri" panose="020F0502020204030204" pitchFamily="34" charset="0"/>
              </a:rPr>
            </a:br>
            <a:r>
              <a:rPr lang="en-US" sz="2200" dirty="0">
                <a:solidFill>
                  <a:schemeClr val="tx1"/>
                </a:solidFill>
                <a:ea typeface="Calibri" panose="020F0502020204030204" pitchFamily="34" charset="0"/>
              </a:rPr>
              <a:t>when you violate the laws of the gods)</a:t>
            </a:r>
            <a:endParaRPr lang="el-GR" sz="1600" dirty="0">
              <a:solidFill>
                <a:schemeClr val="tx1"/>
              </a:solidFill>
            </a:endParaRPr>
          </a:p>
        </p:txBody>
      </p:sp>
      <p:sp>
        <p:nvSpPr>
          <p:cNvPr id="4" name="Θέση περιεχομένου 3">
            <a:extLst>
              <a:ext uri="{FF2B5EF4-FFF2-40B4-BE49-F238E27FC236}">
                <a16:creationId xmlns:a16="http://schemas.microsoft.com/office/drawing/2014/main" id="{6F2AF03E-A3F0-50F7-2D2E-37915135013E}"/>
              </a:ext>
            </a:extLst>
          </p:cNvPr>
          <p:cNvSpPr>
            <a:spLocks noGrp="1"/>
          </p:cNvSpPr>
          <p:nvPr>
            <p:ph sz="half" idx="2"/>
          </p:nvPr>
        </p:nvSpPr>
        <p:spPr/>
        <p:txBody>
          <a:bodyPr>
            <a:normAutofit/>
          </a:bodyPr>
          <a:lstStyle/>
          <a:p>
            <a:endParaRPr lang="el-GR" dirty="0"/>
          </a:p>
        </p:txBody>
      </p:sp>
      <p:pic>
        <p:nvPicPr>
          <p:cNvPr id="6" name="Εικόνα 5">
            <a:extLst>
              <a:ext uri="{FF2B5EF4-FFF2-40B4-BE49-F238E27FC236}">
                <a16:creationId xmlns:a16="http://schemas.microsoft.com/office/drawing/2014/main" id="{6E7C96B1-4C26-7B7A-8E8A-43963CC2C7DB}"/>
              </a:ext>
            </a:extLst>
          </p:cNvPr>
          <p:cNvPicPr>
            <a:picLocks noChangeAspect="1"/>
          </p:cNvPicPr>
          <p:nvPr/>
        </p:nvPicPr>
        <p:blipFill>
          <a:blip r:embed="rId2"/>
          <a:stretch>
            <a:fillRect/>
          </a:stretch>
        </p:blipFill>
        <p:spPr>
          <a:xfrm>
            <a:off x="7094483" y="1524000"/>
            <a:ext cx="4087008" cy="4770119"/>
          </a:xfrm>
          <a:prstGeom prst="rect">
            <a:avLst/>
          </a:prstGeom>
        </p:spPr>
      </p:pic>
    </p:spTree>
    <p:extLst>
      <p:ext uri="{BB962C8B-B14F-4D97-AF65-F5344CB8AC3E}">
        <p14:creationId xmlns:p14="http://schemas.microsoft.com/office/powerpoint/2010/main" val="22648026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829BECC6-9BC5-D803-817F-62ED9BF0C724}"/>
              </a:ext>
            </a:extLst>
          </p:cNvPr>
          <p:cNvSpPr>
            <a:spLocks noGrp="1"/>
          </p:cNvSpPr>
          <p:nvPr>
            <p:ph type="title"/>
          </p:nvPr>
        </p:nvSpPr>
        <p:spPr/>
        <p:txBody>
          <a:bodyPr/>
          <a:lstStyle/>
          <a:p>
            <a:pPr algn="ctr"/>
            <a:r>
              <a:rPr lang="en-US" dirty="0"/>
              <a:t>KOMMOS</a:t>
            </a:r>
            <a:endParaRPr lang="el-GR" dirty="0"/>
          </a:p>
        </p:txBody>
      </p:sp>
      <p:sp>
        <p:nvSpPr>
          <p:cNvPr id="3" name="Θέση περιεχομένου 2">
            <a:extLst>
              <a:ext uri="{FF2B5EF4-FFF2-40B4-BE49-F238E27FC236}">
                <a16:creationId xmlns:a16="http://schemas.microsoft.com/office/drawing/2014/main" id="{49A3F553-917F-A607-8ED7-61FA80E38BCF}"/>
              </a:ext>
            </a:extLst>
          </p:cNvPr>
          <p:cNvSpPr>
            <a:spLocks noGrp="1"/>
          </p:cNvSpPr>
          <p:nvPr>
            <p:ph sz="half" idx="1"/>
          </p:nvPr>
        </p:nvSpPr>
        <p:spPr/>
        <p:txBody>
          <a:bodyPr>
            <a:normAutofit fontScale="92500" lnSpcReduction="20000"/>
          </a:bodyPr>
          <a:lstStyle/>
          <a:p>
            <a:pPr marL="173736" indent="0" algn="just">
              <a:lnSpc>
                <a:spcPct val="150000"/>
              </a:lnSpc>
              <a:spcAft>
                <a:spcPts val="800"/>
              </a:spcAft>
              <a:buNone/>
            </a:pPr>
            <a:endParaRPr lang="el-GR" sz="1800" kern="100" dirty="0">
              <a:effectLst/>
              <a:latin typeface="Calibri" panose="020F0502020204030204" pitchFamily="34" charset="0"/>
              <a:ea typeface="Calibri" panose="020F0502020204030204" pitchFamily="34" charset="0"/>
              <a:cs typeface="Times New Roman" panose="02020603050405020304" pitchFamily="18" charset="0"/>
            </a:endParaRPr>
          </a:p>
          <a:p>
            <a:endParaRPr lang="el-GR" dirty="0"/>
          </a:p>
        </p:txBody>
      </p:sp>
      <p:sp>
        <p:nvSpPr>
          <p:cNvPr id="4" name="Θέση περιεχομένου 3">
            <a:extLst>
              <a:ext uri="{FF2B5EF4-FFF2-40B4-BE49-F238E27FC236}">
                <a16:creationId xmlns:a16="http://schemas.microsoft.com/office/drawing/2014/main" id="{8D8DF20A-F636-69A5-DFEF-B00214FF8C5D}"/>
              </a:ext>
            </a:extLst>
          </p:cNvPr>
          <p:cNvSpPr>
            <a:spLocks noGrp="1"/>
          </p:cNvSpPr>
          <p:nvPr>
            <p:ph sz="half" idx="2"/>
          </p:nvPr>
        </p:nvSpPr>
        <p:spPr>
          <a:solidFill>
            <a:schemeClr val="bg2">
              <a:lumMod val="75000"/>
            </a:schemeClr>
          </a:solidFill>
        </p:spPr>
        <p:txBody>
          <a:bodyPr>
            <a:normAutofit fontScale="92500" lnSpcReduction="20000"/>
          </a:bodyPr>
          <a:lstStyle/>
          <a:p>
            <a:r>
              <a:rPr lang="en-US" sz="1900" i="1" kern="100" dirty="0">
                <a:solidFill>
                  <a:schemeClr val="tx1"/>
                </a:solidFill>
                <a:ea typeface="Calibri" panose="020F0502020204030204" pitchFamily="34" charset="0"/>
                <a:cs typeface="Times New Roman" panose="02020603050405020304" pitchFamily="18" charset="0"/>
              </a:rPr>
              <a:t>Now I too betray my principles</a:t>
            </a:r>
            <a:br>
              <a:rPr lang="en-US" sz="1900" i="1" kern="100" dirty="0">
                <a:solidFill>
                  <a:schemeClr val="tx1"/>
                </a:solidFill>
                <a:ea typeface="Calibri" panose="020F0502020204030204" pitchFamily="34" charset="0"/>
                <a:cs typeface="Times New Roman" panose="02020603050405020304" pitchFamily="18" charset="0"/>
              </a:rPr>
            </a:br>
            <a:r>
              <a:rPr lang="en-US" sz="1900" i="1" kern="100" dirty="0">
                <a:solidFill>
                  <a:schemeClr val="tx1"/>
                </a:solidFill>
                <a:ea typeface="Calibri" panose="020F0502020204030204" pitchFamily="34" charset="0"/>
                <a:cs typeface="Times New Roman" panose="02020603050405020304" pitchFamily="18" charset="0"/>
              </a:rPr>
              <a:t>Seeing these things and not being strong</a:t>
            </a:r>
            <a:br>
              <a:rPr lang="en-US" sz="1900" i="1" kern="100" dirty="0">
                <a:solidFill>
                  <a:schemeClr val="tx1"/>
                </a:solidFill>
                <a:ea typeface="Calibri" panose="020F0502020204030204" pitchFamily="34" charset="0"/>
                <a:cs typeface="Times New Roman" panose="02020603050405020304" pitchFamily="18" charset="0"/>
              </a:rPr>
            </a:br>
            <a:r>
              <a:rPr lang="en-US" sz="1900" i="1" kern="100" dirty="0">
                <a:solidFill>
                  <a:schemeClr val="tx1"/>
                </a:solidFill>
                <a:ea typeface="Calibri" panose="020F0502020204030204" pitchFamily="34" charset="0"/>
                <a:cs typeface="Times New Roman" panose="02020603050405020304" pitchFamily="18" charset="0"/>
              </a:rPr>
              <a:t>the sources of tears to clog,</a:t>
            </a:r>
            <a:br>
              <a:rPr lang="en-US" sz="1900" i="1" kern="100" dirty="0">
                <a:solidFill>
                  <a:schemeClr val="tx1"/>
                </a:solidFill>
                <a:ea typeface="Calibri" panose="020F0502020204030204" pitchFamily="34" charset="0"/>
                <a:cs typeface="Times New Roman" panose="02020603050405020304" pitchFamily="18" charset="0"/>
              </a:rPr>
            </a:br>
            <a:r>
              <a:rPr lang="en-US" sz="1900" i="1" kern="100" dirty="0">
                <a:solidFill>
                  <a:schemeClr val="tx1"/>
                </a:solidFill>
                <a:ea typeface="Calibri" panose="020F0502020204030204" pitchFamily="34" charset="0"/>
                <a:cs typeface="Times New Roman" panose="02020603050405020304" pitchFamily="18" charset="0"/>
              </a:rPr>
              <a:t>as if I watched Antigone walk</a:t>
            </a:r>
            <a:br>
              <a:rPr lang="en-US" sz="1900" i="1" kern="100" dirty="0">
                <a:solidFill>
                  <a:schemeClr val="tx1"/>
                </a:solidFill>
                <a:ea typeface="Calibri" panose="020F0502020204030204" pitchFamily="34" charset="0"/>
                <a:cs typeface="Times New Roman" panose="02020603050405020304" pitchFamily="18" charset="0"/>
              </a:rPr>
            </a:br>
            <a:r>
              <a:rPr lang="en-US" sz="1900" i="1" kern="100" dirty="0">
                <a:solidFill>
                  <a:schemeClr val="tx1"/>
                </a:solidFill>
                <a:ea typeface="Calibri" panose="020F0502020204030204" pitchFamily="34" charset="0"/>
                <a:cs typeface="Times New Roman" panose="02020603050405020304" pitchFamily="18" charset="0"/>
              </a:rPr>
              <a:t>to the people's common cemetery.</a:t>
            </a:r>
            <a:br>
              <a:rPr lang="en-US" sz="1900" i="1" kern="100" dirty="0">
                <a:solidFill>
                  <a:schemeClr val="tx1"/>
                </a:solidFill>
                <a:ea typeface="Calibri" panose="020F0502020204030204" pitchFamily="34" charset="0"/>
                <a:cs typeface="Times New Roman" panose="02020603050405020304" pitchFamily="18" charset="0"/>
              </a:rPr>
            </a:br>
            <a:br>
              <a:rPr lang="en-US" sz="1900" i="1" kern="100" dirty="0">
                <a:solidFill>
                  <a:schemeClr val="tx1"/>
                </a:solidFill>
                <a:ea typeface="Calibri" panose="020F0502020204030204" pitchFamily="34" charset="0"/>
                <a:cs typeface="Times New Roman" panose="02020603050405020304" pitchFamily="18" charset="0"/>
              </a:rPr>
            </a:br>
            <a:r>
              <a:rPr lang="en-US" sz="1900" i="1" kern="100" dirty="0">
                <a:solidFill>
                  <a:schemeClr val="tx1"/>
                </a:solidFill>
                <a:ea typeface="Calibri" panose="020F0502020204030204" pitchFamily="34" charset="0"/>
                <a:cs typeface="Times New Roman" panose="02020603050405020304" pitchFamily="18" charset="0"/>
              </a:rPr>
              <a:t>IF. O citizens of my fatherland,</a:t>
            </a:r>
            <a:br>
              <a:rPr lang="en-US" sz="1900" i="1" kern="100" dirty="0">
                <a:solidFill>
                  <a:schemeClr val="tx1"/>
                </a:solidFill>
                <a:ea typeface="Calibri" panose="020F0502020204030204" pitchFamily="34" charset="0"/>
                <a:cs typeface="Times New Roman" panose="02020603050405020304" pitchFamily="18" charset="0"/>
              </a:rPr>
            </a:br>
            <a:r>
              <a:rPr lang="en-US" sz="1900" i="1" kern="100" dirty="0">
                <a:solidFill>
                  <a:schemeClr val="tx1"/>
                </a:solidFill>
                <a:ea typeface="Calibri" panose="020F0502020204030204" pitchFamily="34" charset="0"/>
                <a:cs typeface="Times New Roman" panose="02020603050405020304" pitchFamily="18" charset="0"/>
              </a:rPr>
              <a:t>behold I walk the strata the sternum,</a:t>
            </a:r>
            <a:br>
              <a:rPr lang="en-US" sz="1900" i="1" kern="100" dirty="0">
                <a:solidFill>
                  <a:schemeClr val="tx1"/>
                </a:solidFill>
                <a:ea typeface="Calibri" panose="020F0502020204030204" pitchFamily="34" charset="0"/>
                <a:cs typeface="Times New Roman" panose="02020603050405020304" pitchFamily="18" charset="0"/>
              </a:rPr>
            </a:br>
            <a:r>
              <a:rPr lang="en-US" sz="1900" i="1" kern="100" dirty="0">
                <a:solidFill>
                  <a:schemeClr val="tx1"/>
                </a:solidFill>
                <a:ea typeface="Calibri" panose="020F0502020204030204" pitchFamily="34" charset="0"/>
                <a:cs typeface="Times New Roman" panose="02020603050405020304" pitchFamily="18" charset="0"/>
              </a:rPr>
              <a:t>the glow the sternum of the sun I see,</a:t>
            </a:r>
            <a:br>
              <a:rPr lang="en-US" sz="1900" i="1" kern="100" dirty="0">
                <a:solidFill>
                  <a:schemeClr val="tx1"/>
                </a:solidFill>
                <a:ea typeface="Calibri" panose="020F0502020204030204" pitchFamily="34" charset="0"/>
                <a:cs typeface="Times New Roman" panose="02020603050405020304" pitchFamily="18" charset="0"/>
              </a:rPr>
            </a:br>
            <a:r>
              <a:rPr lang="en-US" sz="1900" i="1" kern="100" dirty="0">
                <a:solidFill>
                  <a:schemeClr val="tx1"/>
                </a:solidFill>
                <a:ea typeface="Calibri" panose="020F0502020204030204" pitchFamily="34" charset="0"/>
                <a:cs typeface="Times New Roman" panose="02020603050405020304" pitchFamily="18" charset="0"/>
              </a:rPr>
              <a:t>and never before; Hades,
the sleep of all,</a:t>
            </a:r>
            <a:br>
              <a:rPr lang="en-US" sz="1900" i="1" kern="100" dirty="0">
                <a:solidFill>
                  <a:schemeClr val="tx1"/>
                </a:solidFill>
                <a:ea typeface="Calibri" panose="020F0502020204030204" pitchFamily="34" charset="0"/>
                <a:cs typeface="Times New Roman" panose="02020603050405020304" pitchFamily="18" charset="0"/>
              </a:rPr>
            </a:br>
            <a:r>
              <a:rPr lang="en-US" sz="1900" i="1" kern="100" dirty="0">
                <a:solidFill>
                  <a:schemeClr val="tx1"/>
                </a:solidFill>
                <a:ea typeface="Calibri" panose="020F0502020204030204" pitchFamily="34" charset="0"/>
                <a:cs typeface="Times New Roman" panose="02020603050405020304" pitchFamily="18" charset="0"/>
              </a:rPr>
              <a:t>at </a:t>
            </a:r>
            <a:r>
              <a:rPr lang="en-US" sz="1900" i="1" kern="100" dirty="0" err="1">
                <a:solidFill>
                  <a:schemeClr val="tx1"/>
                </a:solidFill>
                <a:ea typeface="Calibri" panose="020F0502020204030204" pitchFamily="34" charset="0"/>
                <a:cs typeface="Times New Roman" panose="02020603050405020304" pitchFamily="18" charset="0"/>
              </a:rPr>
              <a:t>Harou</a:t>
            </a:r>
            <a:r>
              <a:rPr lang="en-US" sz="1900" i="1" kern="100" dirty="0">
                <a:solidFill>
                  <a:schemeClr val="tx1"/>
                </a:solidFill>
                <a:ea typeface="Calibri" panose="020F0502020204030204" pitchFamily="34" charset="0"/>
                <a:cs typeface="Times New Roman" panose="02020603050405020304" pitchFamily="18" charset="0"/>
              </a:rPr>
              <a:t> alive</a:t>
            </a:r>
            <a:br>
              <a:rPr lang="en-US" sz="1900" i="1" kern="100" dirty="0">
                <a:solidFill>
                  <a:schemeClr val="tx1"/>
                </a:solidFill>
                <a:ea typeface="Calibri" panose="020F0502020204030204" pitchFamily="34" charset="0"/>
                <a:cs typeface="Times New Roman" panose="02020603050405020304" pitchFamily="18" charset="0"/>
              </a:rPr>
            </a:br>
            <a:r>
              <a:rPr lang="en-US" sz="1900" i="1" kern="100" dirty="0">
                <a:solidFill>
                  <a:schemeClr val="tx1"/>
                </a:solidFill>
                <a:ea typeface="Calibri" panose="020F0502020204030204" pitchFamily="34" charset="0"/>
                <a:cs typeface="Times New Roman" panose="02020603050405020304" pitchFamily="18" charset="0"/>
              </a:rPr>
              <a:t>It takes me to the beach.</a:t>
            </a:r>
            <a:br>
              <a:rPr lang="en-US" sz="1900" i="1" kern="100" dirty="0">
                <a:solidFill>
                  <a:schemeClr val="tx1"/>
                </a:solidFill>
                <a:ea typeface="Calibri" panose="020F0502020204030204" pitchFamily="34" charset="0"/>
                <a:cs typeface="Times New Roman" panose="02020603050405020304" pitchFamily="18" charset="0"/>
              </a:rPr>
            </a:br>
            <a:r>
              <a:rPr lang="en-US" sz="1900" i="1" kern="100" dirty="0">
                <a:solidFill>
                  <a:schemeClr val="tx1"/>
                </a:solidFill>
                <a:ea typeface="Calibri" panose="020F0502020204030204" pitchFamily="34" charset="0"/>
                <a:cs typeface="Times New Roman" panose="02020603050405020304" pitchFamily="18" charset="0"/>
              </a:rPr>
              <a:t>Bride, I didn't dress up</a:t>
            </a:r>
            <a:br>
              <a:rPr lang="en-US" sz="1900" i="1" kern="100" dirty="0">
                <a:solidFill>
                  <a:schemeClr val="tx1"/>
                </a:solidFill>
                <a:ea typeface="Calibri" panose="020F0502020204030204" pitchFamily="34" charset="0"/>
                <a:cs typeface="Times New Roman" panose="02020603050405020304" pitchFamily="18" charset="0"/>
              </a:rPr>
            </a:br>
            <a:r>
              <a:rPr lang="en-US" sz="1900" i="1" kern="100" dirty="0">
                <a:solidFill>
                  <a:schemeClr val="tx1"/>
                </a:solidFill>
                <a:ea typeface="Calibri" panose="020F0502020204030204" pitchFamily="34" charset="0"/>
                <a:cs typeface="Times New Roman" panose="02020603050405020304" pitchFamily="18" charset="0"/>
              </a:rPr>
              <a:t>And they never sang a wedding dress</a:t>
            </a:r>
            <a:br>
              <a:rPr lang="en-US" sz="1900" i="1" kern="100" dirty="0">
                <a:solidFill>
                  <a:schemeClr val="tx1"/>
                </a:solidFill>
                <a:ea typeface="Calibri" panose="020F0502020204030204" pitchFamily="34" charset="0"/>
                <a:cs typeface="Times New Roman" panose="02020603050405020304" pitchFamily="18" charset="0"/>
              </a:rPr>
            </a:br>
            <a:r>
              <a:rPr lang="en-US" sz="1900" i="1" kern="100" dirty="0">
                <a:solidFill>
                  <a:schemeClr val="tx1"/>
                </a:solidFill>
                <a:ea typeface="Calibri" panose="020F0502020204030204" pitchFamily="34" charset="0"/>
                <a:cs typeface="Times New Roman" panose="02020603050405020304" pitchFamily="18" charset="0"/>
              </a:rPr>
              <a:t>at my door singing;</a:t>
            </a:r>
            <a:br>
              <a:rPr lang="en-US" sz="1900" i="1" kern="100" dirty="0">
                <a:solidFill>
                  <a:schemeClr val="tx1"/>
                </a:solidFill>
                <a:ea typeface="Calibri" panose="020F0502020204030204" pitchFamily="34" charset="0"/>
                <a:cs typeface="Times New Roman" panose="02020603050405020304" pitchFamily="18" charset="0"/>
              </a:rPr>
            </a:br>
            <a:r>
              <a:rPr lang="en-US" sz="1900" i="1" kern="100" dirty="0">
                <a:solidFill>
                  <a:schemeClr val="tx1"/>
                </a:solidFill>
                <a:ea typeface="Calibri" panose="020F0502020204030204" pitchFamily="34" charset="0"/>
                <a:cs typeface="Times New Roman" panose="02020603050405020304" pitchFamily="18" charset="0"/>
              </a:rPr>
              <a:t>bride in </a:t>
            </a:r>
            <a:r>
              <a:rPr lang="en-US" sz="1900" i="1" kern="100" dirty="0" err="1">
                <a:solidFill>
                  <a:schemeClr val="tx1"/>
                </a:solidFill>
                <a:ea typeface="Calibri" panose="020F0502020204030204" pitchFamily="34" charset="0"/>
                <a:cs typeface="Times New Roman" panose="02020603050405020304" pitchFamily="18" charset="0"/>
              </a:rPr>
              <a:t>Haros</a:t>
            </a:r>
            <a:r>
              <a:rPr lang="en-US" sz="1900" i="1" kern="100" dirty="0">
                <a:solidFill>
                  <a:schemeClr val="tx1"/>
                </a:solidFill>
                <a:ea typeface="Calibri" panose="020F0502020204030204" pitchFamily="34" charset="0"/>
                <a:cs typeface="Times New Roman" panose="02020603050405020304" pitchFamily="18" charset="0"/>
              </a:rPr>
              <a:t> next to me I will stand.
           ………………………………………</a:t>
            </a:r>
            <a:endParaRPr lang="el-GR" dirty="0">
              <a:solidFill>
                <a:schemeClr val="tx1"/>
              </a:solidFill>
            </a:endParaRPr>
          </a:p>
        </p:txBody>
      </p:sp>
      <p:pic>
        <p:nvPicPr>
          <p:cNvPr id="6" name="Εικόνα 5">
            <a:extLst>
              <a:ext uri="{FF2B5EF4-FFF2-40B4-BE49-F238E27FC236}">
                <a16:creationId xmlns:a16="http://schemas.microsoft.com/office/drawing/2014/main" id="{65C04352-9441-CE6F-114F-F68121266F19}"/>
              </a:ext>
            </a:extLst>
          </p:cNvPr>
          <p:cNvPicPr>
            <a:picLocks noChangeAspect="1"/>
          </p:cNvPicPr>
          <p:nvPr/>
        </p:nvPicPr>
        <p:blipFill>
          <a:blip r:embed="rId2"/>
          <a:stretch>
            <a:fillRect/>
          </a:stretch>
        </p:blipFill>
        <p:spPr>
          <a:xfrm>
            <a:off x="1763797" y="1508760"/>
            <a:ext cx="5177494" cy="4693920"/>
          </a:xfrm>
          <a:prstGeom prst="rect">
            <a:avLst/>
          </a:prstGeom>
        </p:spPr>
      </p:pic>
    </p:spTree>
    <p:extLst>
      <p:ext uri="{BB962C8B-B14F-4D97-AF65-F5344CB8AC3E}">
        <p14:creationId xmlns:p14="http://schemas.microsoft.com/office/powerpoint/2010/main" val="188100141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E86D70A6-79EB-2265-FA2E-BB6F4A975EF3}"/>
              </a:ext>
            </a:extLst>
          </p:cNvPr>
          <p:cNvSpPr>
            <a:spLocks noGrp="1"/>
          </p:cNvSpPr>
          <p:nvPr>
            <p:ph type="title"/>
          </p:nvPr>
        </p:nvSpPr>
        <p:spPr/>
        <p:txBody>
          <a:bodyPr/>
          <a:lstStyle/>
          <a:p>
            <a:pPr algn="ctr"/>
            <a:r>
              <a:rPr lang="en-US" dirty="0"/>
              <a:t>EPISODE B SCENE D</a:t>
            </a:r>
            <a:br>
              <a:rPr lang="en-US" dirty="0"/>
            </a:br>
            <a:r>
              <a:rPr lang="en-US" dirty="0"/>
              <a:t>New Lamentation of Antigone</a:t>
            </a:r>
            <a:endParaRPr lang="el-GR" sz="2400" dirty="0"/>
          </a:p>
        </p:txBody>
      </p:sp>
      <p:sp>
        <p:nvSpPr>
          <p:cNvPr id="3" name="Θέση περιεχομένου 2">
            <a:extLst>
              <a:ext uri="{FF2B5EF4-FFF2-40B4-BE49-F238E27FC236}">
                <a16:creationId xmlns:a16="http://schemas.microsoft.com/office/drawing/2014/main" id="{772272A7-2345-A1B1-2245-60B471295474}"/>
              </a:ext>
            </a:extLst>
          </p:cNvPr>
          <p:cNvSpPr>
            <a:spLocks noGrp="1"/>
          </p:cNvSpPr>
          <p:nvPr>
            <p:ph sz="half" idx="1"/>
          </p:nvPr>
        </p:nvSpPr>
        <p:spPr>
          <a:xfrm>
            <a:off x="1639615" y="1417321"/>
            <a:ext cx="5223098" cy="5440680"/>
          </a:xfrm>
          <a:solidFill>
            <a:schemeClr val="bg2">
              <a:lumMod val="75000"/>
            </a:schemeClr>
          </a:solidFill>
        </p:spPr>
        <p:txBody>
          <a:bodyPr>
            <a:noAutofit/>
          </a:bodyPr>
          <a:lstStyle/>
          <a:p>
            <a:pPr marL="82296" indent="0">
              <a:lnSpc>
                <a:spcPct val="150000"/>
              </a:lnSpc>
              <a:spcAft>
                <a:spcPts val="800"/>
              </a:spcAft>
              <a:buNone/>
            </a:pPr>
            <a:r>
              <a:rPr lang="en-US" sz="1200" dirty="0">
                <a:solidFill>
                  <a:schemeClr val="tx1"/>
                </a:solidFill>
              </a:rPr>
              <a:t>O Grab! o </a:t>
            </a:r>
            <a:r>
              <a:rPr lang="en-US" sz="1200" dirty="0" err="1">
                <a:solidFill>
                  <a:schemeClr val="tx1"/>
                </a:solidFill>
              </a:rPr>
              <a:t>Brautbett</a:t>
            </a:r>
            <a:r>
              <a:rPr lang="en-US" sz="1200" dirty="0">
                <a:solidFill>
                  <a:schemeClr val="tx1"/>
                </a:solidFill>
              </a:rPr>
              <a:t>! </a:t>
            </a:r>
            <a:r>
              <a:rPr lang="en-US" sz="1200" dirty="0" err="1">
                <a:solidFill>
                  <a:schemeClr val="tx1"/>
                </a:solidFill>
              </a:rPr>
              <a:t>unterirdische</a:t>
            </a:r>
            <a:endParaRPr lang="el-GR" sz="1200" dirty="0">
              <a:solidFill>
                <a:schemeClr val="tx1"/>
              </a:solidFill>
            </a:endParaRPr>
          </a:p>
          <a:p>
            <a:pPr marL="82296" indent="0">
              <a:lnSpc>
                <a:spcPct val="150000"/>
              </a:lnSpc>
              <a:spcAft>
                <a:spcPts val="800"/>
              </a:spcAft>
              <a:buNone/>
            </a:pPr>
            <a:r>
              <a:rPr lang="en-US" sz="1200" dirty="0" err="1">
                <a:solidFill>
                  <a:schemeClr val="tx1"/>
                </a:solidFill>
              </a:rPr>
              <a:t>Behausung</a:t>
            </a:r>
            <a:r>
              <a:rPr lang="en-US" sz="1200" dirty="0">
                <a:solidFill>
                  <a:schemeClr val="tx1"/>
                </a:solidFill>
              </a:rPr>
              <a:t>, </a:t>
            </a:r>
            <a:r>
              <a:rPr lang="en-US" sz="1200" dirty="0" err="1">
                <a:solidFill>
                  <a:schemeClr val="tx1"/>
                </a:solidFill>
              </a:rPr>
              <a:t>immerwach</a:t>
            </a:r>
            <a:r>
              <a:rPr lang="en-US" sz="1200" dirty="0">
                <a:solidFill>
                  <a:schemeClr val="tx1"/>
                </a:solidFill>
              </a:rPr>
              <a:t>! Da </a:t>
            </a:r>
            <a:r>
              <a:rPr lang="en-US" sz="1200" dirty="0" err="1">
                <a:solidFill>
                  <a:schemeClr val="tx1"/>
                </a:solidFill>
              </a:rPr>
              <a:t>werd</a:t>
            </a:r>
            <a:r>
              <a:rPr lang="en-US" sz="1200" dirty="0">
                <a:solidFill>
                  <a:schemeClr val="tx1"/>
                </a:solidFill>
              </a:rPr>
              <a:t>’ ich </a:t>
            </a:r>
            <a:r>
              <a:rPr lang="en-US" sz="1200" dirty="0" err="1">
                <a:solidFill>
                  <a:schemeClr val="tx1"/>
                </a:solidFill>
              </a:rPr>
              <a:t>reisen</a:t>
            </a:r>
            <a:endParaRPr lang="el-GR" sz="1200" dirty="0">
              <a:solidFill>
                <a:schemeClr val="tx1"/>
              </a:solidFill>
            </a:endParaRPr>
          </a:p>
          <a:p>
            <a:pPr marL="82296" indent="0">
              <a:lnSpc>
                <a:spcPct val="150000"/>
              </a:lnSpc>
              <a:spcAft>
                <a:spcPts val="800"/>
              </a:spcAft>
              <a:buNone/>
            </a:pPr>
            <a:r>
              <a:rPr lang="en-US" sz="1200" dirty="0">
                <a:solidFill>
                  <a:schemeClr val="tx1"/>
                </a:solidFill>
              </a:rPr>
              <a:t>Den </a:t>
            </a:r>
            <a:r>
              <a:rPr lang="en-US" sz="1200" dirty="0" err="1">
                <a:solidFill>
                  <a:schemeClr val="tx1"/>
                </a:solidFill>
              </a:rPr>
              <a:t>Meinen</a:t>
            </a:r>
            <a:r>
              <a:rPr lang="en-US" sz="1200" dirty="0">
                <a:solidFill>
                  <a:schemeClr val="tx1"/>
                </a:solidFill>
              </a:rPr>
              <a:t> </a:t>
            </a:r>
            <a:r>
              <a:rPr lang="en-US" sz="1200" dirty="0" err="1">
                <a:solidFill>
                  <a:schemeClr val="tx1"/>
                </a:solidFill>
              </a:rPr>
              <a:t>zu</a:t>
            </a:r>
            <a:r>
              <a:rPr lang="en-US" sz="1200" dirty="0">
                <a:solidFill>
                  <a:schemeClr val="tx1"/>
                </a:solidFill>
              </a:rPr>
              <a:t> (…)</a:t>
            </a:r>
            <a:endParaRPr lang="el-GR" sz="1200" dirty="0">
              <a:solidFill>
                <a:schemeClr val="tx1"/>
              </a:solidFill>
            </a:endParaRPr>
          </a:p>
          <a:p>
            <a:pPr marL="82296" indent="0">
              <a:lnSpc>
                <a:spcPct val="150000"/>
              </a:lnSpc>
              <a:spcAft>
                <a:spcPts val="800"/>
              </a:spcAft>
              <a:buNone/>
            </a:pPr>
            <a:r>
              <a:rPr lang="en-US" sz="1200" dirty="0">
                <a:solidFill>
                  <a:schemeClr val="tx1"/>
                </a:solidFill>
              </a:rPr>
              <a:t>(…)</a:t>
            </a:r>
            <a:endParaRPr lang="el-GR" sz="1200" dirty="0">
              <a:solidFill>
                <a:schemeClr val="tx1"/>
              </a:solidFill>
            </a:endParaRPr>
          </a:p>
          <a:p>
            <a:pPr marL="82296" indent="0">
              <a:lnSpc>
                <a:spcPct val="150000"/>
              </a:lnSpc>
              <a:spcAft>
                <a:spcPts val="800"/>
              </a:spcAft>
              <a:buNone/>
            </a:pPr>
            <a:r>
              <a:rPr lang="en-US" sz="1200" dirty="0">
                <a:solidFill>
                  <a:schemeClr val="tx1"/>
                </a:solidFill>
              </a:rPr>
              <a:t>(…) </a:t>
            </a:r>
            <a:r>
              <a:rPr lang="en-US" sz="1200" dirty="0" err="1">
                <a:solidFill>
                  <a:schemeClr val="tx1"/>
                </a:solidFill>
              </a:rPr>
              <a:t>Doch</a:t>
            </a:r>
            <a:r>
              <a:rPr lang="en-US" sz="1200" dirty="0">
                <a:solidFill>
                  <a:schemeClr val="tx1"/>
                </a:solidFill>
              </a:rPr>
              <a:t> </a:t>
            </a:r>
            <a:r>
              <a:rPr lang="en-US" sz="1200" dirty="0" err="1">
                <a:solidFill>
                  <a:schemeClr val="tx1"/>
                </a:solidFill>
              </a:rPr>
              <a:t>komm</a:t>
            </a:r>
            <a:r>
              <a:rPr lang="en-US" sz="1200" dirty="0">
                <a:solidFill>
                  <a:schemeClr val="tx1"/>
                </a:solidFill>
              </a:rPr>
              <a:t>’ ich an,</a:t>
            </a:r>
            <a:endParaRPr lang="el-GR" sz="1200" dirty="0">
              <a:solidFill>
                <a:schemeClr val="tx1"/>
              </a:solidFill>
            </a:endParaRPr>
          </a:p>
          <a:p>
            <a:pPr marL="82296" indent="0">
              <a:lnSpc>
                <a:spcPct val="150000"/>
              </a:lnSpc>
              <a:spcAft>
                <a:spcPts val="800"/>
              </a:spcAft>
              <a:buNone/>
            </a:pPr>
            <a:r>
              <a:rPr lang="en-US" sz="1200" dirty="0">
                <a:solidFill>
                  <a:schemeClr val="tx1"/>
                </a:solidFill>
              </a:rPr>
              <a:t>So </a:t>
            </a:r>
            <a:r>
              <a:rPr lang="en-US" sz="1200" dirty="0" err="1">
                <a:solidFill>
                  <a:schemeClr val="tx1"/>
                </a:solidFill>
              </a:rPr>
              <a:t>nähr</a:t>
            </a:r>
            <a:r>
              <a:rPr lang="en-US" sz="1200" dirty="0">
                <a:solidFill>
                  <a:schemeClr val="tx1"/>
                </a:solidFill>
              </a:rPr>
              <a:t>’ ich das </a:t>
            </a:r>
            <a:r>
              <a:rPr lang="en-US" sz="1200" dirty="0" err="1">
                <a:solidFill>
                  <a:schemeClr val="tx1"/>
                </a:solidFill>
              </a:rPr>
              <a:t>mit</a:t>
            </a:r>
            <a:r>
              <a:rPr lang="en-US" sz="1200" dirty="0">
                <a:solidFill>
                  <a:schemeClr val="tx1"/>
                </a:solidFill>
              </a:rPr>
              <a:t> </a:t>
            </a:r>
            <a:r>
              <a:rPr lang="en-US" sz="1200" dirty="0" err="1">
                <a:solidFill>
                  <a:schemeClr val="tx1"/>
                </a:solidFill>
              </a:rPr>
              <a:t>Hoffnungen</a:t>
            </a:r>
            <a:r>
              <a:rPr lang="en-US" sz="1200" dirty="0">
                <a:solidFill>
                  <a:schemeClr val="tx1"/>
                </a:solidFill>
              </a:rPr>
              <a:t> gar </a:t>
            </a:r>
            <a:r>
              <a:rPr lang="en-US" sz="1200" dirty="0" err="1">
                <a:solidFill>
                  <a:schemeClr val="tx1"/>
                </a:solidFill>
              </a:rPr>
              <a:t>sehr</a:t>
            </a:r>
            <a:r>
              <a:rPr lang="en-US" sz="1200" dirty="0">
                <a:solidFill>
                  <a:schemeClr val="tx1"/>
                </a:solidFill>
              </a:rPr>
              <a:t>,</a:t>
            </a:r>
            <a:endParaRPr lang="el-GR" sz="1200" dirty="0">
              <a:solidFill>
                <a:schemeClr val="tx1"/>
              </a:solidFill>
            </a:endParaRPr>
          </a:p>
          <a:p>
            <a:pPr marL="82296" indent="0">
              <a:lnSpc>
                <a:spcPct val="150000"/>
              </a:lnSpc>
              <a:spcAft>
                <a:spcPts val="800"/>
              </a:spcAft>
              <a:buNone/>
            </a:pPr>
            <a:r>
              <a:rPr lang="en-US" sz="1200" dirty="0" err="1">
                <a:solidFill>
                  <a:schemeClr val="tx1"/>
                </a:solidFill>
              </a:rPr>
              <a:t>Daß</a:t>
            </a:r>
            <a:r>
              <a:rPr lang="en-US" sz="1200" dirty="0">
                <a:solidFill>
                  <a:schemeClr val="tx1"/>
                </a:solidFill>
              </a:rPr>
              <a:t> </a:t>
            </a:r>
            <a:r>
              <a:rPr lang="en-US" sz="1200" dirty="0" err="1">
                <a:solidFill>
                  <a:schemeClr val="tx1"/>
                </a:solidFill>
              </a:rPr>
              <a:t>lieb</a:t>
            </a:r>
            <a:r>
              <a:rPr lang="en-US" sz="1200" dirty="0">
                <a:solidFill>
                  <a:schemeClr val="tx1"/>
                </a:solidFill>
              </a:rPr>
              <a:t> ich </a:t>
            </a:r>
            <a:r>
              <a:rPr lang="en-US" sz="1200" dirty="0" err="1">
                <a:solidFill>
                  <a:schemeClr val="tx1"/>
                </a:solidFill>
              </a:rPr>
              <a:t>kommen</a:t>
            </a:r>
            <a:r>
              <a:rPr lang="en-US" sz="1200" dirty="0">
                <a:solidFill>
                  <a:schemeClr val="tx1"/>
                </a:solidFill>
              </a:rPr>
              <a:t> </a:t>
            </a:r>
            <a:r>
              <a:rPr lang="en-US" sz="1200" dirty="0" err="1">
                <a:solidFill>
                  <a:schemeClr val="tx1"/>
                </a:solidFill>
              </a:rPr>
              <a:t>werde</a:t>
            </a:r>
            <a:r>
              <a:rPr lang="en-US" sz="1200" dirty="0">
                <a:solidFill>
                  <a:schemeClr val="tx1"/>
                </a:solidFill>
              </a:rPr>
              <a:t> für den </a:t>
            </a:r>
            <a:r>
              <a:rPr lang="en-US" sz="1200" dirty="0" err="1">
                <a:solidFill>
                  <a:schemeClr val="tx1"/>
                </a:solidFill>
              </a:rPr>
              <a:t>Vater</a:t>
            </a:r>
            <a:r>
              <a:rPr lang="en-US" sz="1200" dirty="0">
                <a:solidFill>
                  <a:schemeClr val="tx1"/>
                </a:solidFill>
              </a:rPr>
              <a:t>,</a:t>
            </a:r>
            <a:endParaRPr lang="el-GR" sz="1200" dirty="0">
              <a:solidFill>
                <a:schemeClr val="tx1"/>
              </a:solidFill>
            </a:endParaRPr>
          </a:p>
          <a:p>
            <a:pPr marL="82296" indent="0">
              <a:lnSpc>
                <a:spcPct val="150000"/>
              </a:lnSpc>
              <a:spcAft>
                <a:spcPts val="800"/>
              </a:spcAft>
              <a:buNone/>
            </a:pPr>
            <a:r>
              <a:rPr lang="en-US" sz="1200" dirty="0">
                <a:solidFill>
                  <a:schemeClr val="tx1"/>
                </a:solidFill>
              </a:rPr>
              <a:t>Auch </a:t>
            </a:r>
            <a:r>
              <a:rPr lang="en-US" sz="1200" dirty="0" err="1">
                <a:solidFill>
                  <a:schemeClr val="tx1"/>
                </a:solidFill>
              </a:rPr>
              <a:t>dir</a:t>
            </a:r>
            <a:r>
              <a:rPr lang="en-US" sz="1200" dirty="0">
                <a:solidFill>
                  <a:schemeClr val="tx1"/>
                </a:solidFill>
              </a:rPr>
              <a:t> </a:t>
            </a:r>
            <a:r>
              <a:rPr lang="en-US" sz="1200" dirty="0" err="1">
                <a:solidFill>
                  <a:schemeClr val="tx1"/>
                </a:solidFill>
              </a:rPr>
              <a:t>lieb</a:t>
            </a:r>
            <a:r>
              <a:rPr lang="en-US" sz="1200" dirty="0">
                <a:solidFill>
                  <a:schemeClr val="tx1"/>
                </a:solidFill>
              </a:rPr>
              <a:t>, </a:t>
            </a:r>
            <a:r>
              <a:rPr lang="en-US" sz="1200" dirty="0" err="1">
                <a:solidFill>
                  <a:schemeClr val="tx1"/>
                </a:solidFill>
              </a:rPr>
              <a:t>meine</a:t>
            </a:r>
            <a:r>
              <a:rPr lang="en-US" sz="1200" dirty="0">
                <a:solidFill>
                  <a:schemeClr val="tx1"/>
                </a:solidFill>
              </a:rPr>
              <a:t> Mutter! </a:t>
            </a:r>
            <a:r>
              <a:rPr lang="en-US" sz="1200" dirty="0" err="1">
                <a:solidFill>
                  <a:schemeClr val="tx1"/>
                </a:solidFill>
              </a:rPr>
              <a:t>lieb</a:t>
            </a:r>
            <a:r>
              <a:rPr lang="en-US" sz="1200" dirty="0">
                <a:solidFill>
                  <a:schemeClr val="tx1"/>
                </a:solidFill>
              </a:rPr>
              <a:t> </a:t>
            </a:r>
            <a:r>
              <a:rPr lang="en-US" sz="1200" dirty="0" err="1">
                <a:solidFill>
                  <a:schemeClr val="tx1"/>
                </a:solidFill>
              </a:rPr>
              <a:t>auch</a:t>
            </a:r>
            <a:r>
              <a:rPr lang="en-US" sz="1200" dirty="0">
                <a:solidFill>
                  <a:schemeClr val="tx1"/>
                </a:solidFill>
              </a:rPr>
              <a:t> </a:t>
            </a:r>
            <a:r>
              <a:rPr lang="en-US" sz="1200" dirty="0" err="1">
                <a:solidFill>
                  <a:schemeClr val="tx1"/>
                </a:solidFill>
              </a:rPr>
              <a:t>dir</a:t>
            </a:r>
            <a:r>
              <a:rPr lang="en-US" sz="1200" dirty="0">
                <a:solidFill>
                  <a:schemeClr val="tx1"/>
                </a:solidFill>
              </a:rPr>
              <a:t>,</a:t>
            </a:r>
            <a:endParaRPr lang="el-GR" sz="1200" dirty="0">
              <a:solidFill>
                <a:schemeClr val="tx1"/>
              </a:solidFill>
            </a:endParaRPr>
          </a:p>
          <a:p>
            <a:pPr marL="82296" indent="0">
              <a:lnSpc>
                <a:spcPct val="150000"/>
              </a:lnSpc>
              <a:spcAft>
                <a:spcPts val="800"/>
              </a:spcAft>
              <a:buNone/>
            </a:pPr>
            <a:r>
              <a:rPr lang="en-US" sz="1200" dirty="0">
                <a:solidFill>
                  <a:schemeClr val="tx1"/>
                </a:solidFill>
              </a:rPr>
              <a:t>Du </a:t>
            </a:r>
            <a:r>
              <a:rPr lang="en-US" sz="1200" dirty="0" err="1">
                <a:solidFill>
                  <a:schemeClr val="tx1"/>
                </a:solidFill>
              </a:rPr>
              <a:t>brüderliches</a:t>
            </a:r>
            <a:r>
              <a:rPr lang="en-US" sz="1200" dirty="0">
                <a:solidFill>
                  <a:schemeClr val="tx1"/>
                </a:solidFill>
              </a:rPr>
              <a:t> Haupt! </a:t>
            </a:r>
            <a:r>
              <a:rPr lang="en-US" sz="1200" dirty="0" err="1">
                <a:solidFill>
                  <a:schemeClr val="tx1"/>
                </a:solidFill>
              </a:rPr>
              <a:t>Denn</a:t>
            </a:r>
            <a:r>
              <a:rPr lang="en-US" sz="1200" dirty="0">
                <a:solidFill>
                  <a:schemeClr val="tx1"/>
                </a:solidFill>
              </a:rPr>
              <a:t> </a:t>
            </a:r>
            <a:r>
              <a:rPr lang="en-US" sz="1200" dirty="0" err="1">
                <a:solidFill>
                  <a:schemeClr val="tx1"/>
                </a:solidFill>
              </a:rPr>
              <a:t>als</a:t>
            </a:r>
            <a:r>
              <a:rPr lang="en-US" sz="1200" dirty="0">
                <a:solidFill>
                  <a:schemeClr val="tx1"/>
                </a:solidFill>
              </a:rPr>
              <a:t> </a:t>
            </a:r>
            <a:r>
              <a:rPr lang="en-US" sz="1200" dirty="0" err="1">
                <a:solidFill>
                  <a:schemeClr val="tx1"/>
                </a:solidFill>
              </a:rPr>
              <a:t>ihr</a:t>
            </a:r>
            <a:r>
              <a:rPr lang="en-US" sz="1200" dirty="0">
                <a:solidFill>
                  <a:schemeClr val="tx1"/>
                </a:solidFill>
              </a:rPr>
              <a:t> </a:t>
            </a:r>
            <a:r>
              <a:rPr lang="en-US" sz="1200" dirty="0" err="1">
                <a:solidFill>
                  <a:schemeClr val="tx1"/>
                </a:solidFill>
              </a:rPr>
              <a:t>starbt</a:t>
            </a:r>
            <a:r>
              <a:rPr lang="en-US" sz="1200" dirty="0">
                <a:solidFill>
                  <a:schemeClr val="tx1"/>
                </a:solidFill>
              </a:rPr>
              <a:t>,</a:t>
            </a:r>
            <a:endParaRPr lang="el-GR" sz="1200" dirty="0">
              <a:solidFill>
                <a:schemeClr val="tx1"/>
              </a:solidFill>
            </a:endParaRPr>
          </a:p>
          <a:p>
            <a:pPr marL="82296" indent="0">
              <a:lnSpc>
                <a:spcPct val="150000"/>
              </a:lnSpc>
              <a:spcAft>
                <a:spcPts val="800"/>
              </a:spcAft>
              <a:buNone/>
            </a:pPr>
            <a:r>
              <a:rPr lang="en-US" sz="1200" dirty="0" err="1">
                <a:solidFill>
                  <a:schemeClr val="tx1"/>
                </a:solidFill>
              </a:rPr>
              <a:t>Hab</a:t>
            </a:r>
            <a:r>
              <a:rPr lang="en-US" sz="1200" dirty="0">
                <a:solidFill>
                  <a:schemeClr val="tx1"/>
                </a:solidFill>
              </a:rPr>
              <a:t>’ ich </a:t>
            </a:r>
            <a:r>
              <a:rPr lang="en-US" sz="1200" dirty="0" err="1">
                <a:solidFill>
                  <a:schemeClr val="tx1"/>
                </a:solidFill>
              </a:rPr>
              <a:t>genommen</a:t>
            </a:r>
            <a:r>
              <a:rPr lang="en-US" sz="1200" dirty="0">
                <a:solidFill>
                  <a:schemeClr val="tx1"/>
                </a:solidFill>
              </a:rPr>
              <a:t> </a:t>
            </a:r>
            <a:r>
              <a:rPr lang="en-US" sz="1200" dirty="0" err="1">
                <a:solidFill>
                  <a:schemeClr val="tx1"/>
                </a:solidFill>
              </a:rPr>
              <a:t>euch</a:t>
            </a:r>
            <a:r>
              <a:rPr lang="en-US" sz="1200" dirty="0">
                <a:solidFill>
                  <a:schemeClr val="tx1"/>
                </a:solidFill>
              </a:rPr>
              <a:t> </a:t>
            </a:r>
            <a:r>
              <a:rPr lang="en-US" sz="1200" dirty="0" err="1">
                <a:solidFill>
                  <a:schemeClr val="tx1"/>
                </a:solidFill>
              </a:rPr>
              <a:t>mit</a:t>
            </a:r>
            <a:r>
              <a:rPr lang="en-US" sz="1200" dirty="0">
                <a:solidFill>
                  <a:schemeClr val="tx1"/>
                </a:solidFill>
              </a:rPr>
              <a:t> </a:t>
            </a:r>
            <a:r>
              <a:rPr lang="en-US" sz="1200" dirty="0" err="1">
                <a:solidFill>
                  <a:schemeClr val="tx1"/>
                </a:solidFill>
              </a:rPr>
              <a:t>eigner</a:t>
            </a:r>
            <a:r>
              <a:rPr lang="en-US" sz="1200" dirty="0">
                <a:solidFill>
                  <a:schemeClr val="tx1"/>
                </a:solidFill>
              </a:rPr>
              <a:t> Hand,</a:t>
            </a:r>
            <a:endParaRPr lang="el-GR" sz="1200" dirty="0">
              <a:solidFill>
                <a:schemeClr val="tx1"/>
              </a:solidFill>
            </a:endParaRPr>
          </a:p>
          <a:p>
            <a:pPr marL="82296" indent="0">
              <a:lnSpc>
                <a:spcPct val="150000"/>
              </a:lnSpc>
              <a:spcAft>
                <a:spcPts val="800"/>
              </a:spcAft>
              <a:buNone/>
            </a:pPr>
            <a:r>
              <a:rPr lang="en-US" sz="1200" dirty="0">
                <a:solidFill>
                  <a:schemeClr val="tx1"/>
                </a:solidFill>
              </a:rPr>
              <a:t>Und </a:t>
            </a:r>
            <a:r>
              <a:rPr lang="en-US" sz="1200" dirty="0" err="1">
                <a:solidFill>
                  <a:schemeClr val="tx1"/>
                </a:solidFill>
              </a:rPr>
              <a:t>ausgeschmükt</a:t>
            </a:r>
            <a:r>
              <a:rPr lang="en-US" sz="1200" dirty="0">
                <a:solidFill>
                  <a:schemeClr val="tx1"/>
                </a:solidFill>
              </a:rPr>
              <a:t>, und </a:t>
            </a:r>
            <a:r>
              <a:rPr lang="en-US" sz="1200" dirty="0" err="1">
                <a:solidFill>
                  <a:schemeClr val="tx1"/>
                </a:solidFill>
              </a:rPr>
              <a:t>über</a:t>
            </a:r>
            <a:r>
              <a:rPr lang="en-US" sz="1200" dirty="0">
                <a:solidFill>
                  <a:schemeClr val="tx1"/>
                </a:solidFill>
              </a:rPr>
              <a:t> </a:t>
            </a:r>
            <a:r>
              <a:rPr lang="en-US" sz="1200" dirty="0" err="1">
                <a:solidFill>
                  <a:schemeClr val="tx1"/>
                </a:solidFill>
              </a:rPr>
              <a:t>eurem</a:t>
            </a:r>
            <a:r>
              <a:rPr lang="en-US" sz="1200" dirty="0">
                <a:solidFill>
                  <a:schemeClr val="tx1"/>
                </a:solidFill>
              </a:rPr>
              <a:t> </a:t>
            </a:r>
            <a:r>
              <a:rPr lang="en-US" sz="1200" dirty="0" err="1">
                <a:solidFill>
                  <a:schemeClr val="tx1"/>
                </a:solidFill>
              </a:rPr>
              <a:t>Grabe</a:t>
            </a:r>
            <a:endParaRPr lang="el-GR" sz="1200" dirty="0">
              <a:solidFill>
                <a:schemeClr val="tx1"/>
              </a:solidFill>
            </a:endParaRPr>
          </a:p>
          <a:p>
            <a:pPr marL="82296" indent="0">
              <a:buNone/>
            </a:pPr>
            <a:r>
              <a:rPr lang="el-GR" sz="1200" dirty="0" err="1">
                <a:solidFill>
                  <a:schemeClr val="tx1"/>
                </a:solidFill>
              </a:rPr>
              <a:t>Trankopfer</a:t>
            </a:r>
            <a:r>
              <a:rPr lang="el-GR" sz="1200" dirty="0">
                <a:solidFill>
                  <a:schemeClr val="tx1"/>
                </a:solidFill>
              </a:rPr>
              <a:t> </a:t>
            </a:r>
            <a:r>
              <a:rPr lang="el-GR" sz="1200" dirty="0" err="1">
                <a:solidFill>
                  <a:schemeClr val="tx1"/>
                </a:solidFill>
              </a:rPr>
              <a:t>euch</a:t>
            </a:r>
            <a:r>
              <a:rPr lang="el-GR" sz="1200" dirty="0">
                <a:solidFill>
                  <a:schemeClr val="tx1"/>
                </a:solidFill>
              </a:rPr>
              <a:t> </a:t>
            </a:r>
            <a:r>
              <a:rPr lang="el-GR" sz="1200" dirty="0" err="1">
                <a:solidFill>
                  <a:schemeClr val="tx1"/>
                </a:solidFill>
              </a:rPr>
              <a:t>gebracht</a:t>
            </a:r>
            <a:endParaRPr lang="el-GR" sz="1200" dirty="0">
              <a:solidFill>
                <a:schemeClr val="tx1"/>
              </a:solidFill>
            </a:endParaRPr>
          </a:p>
        </p:txBody>
      </p:sp>
      <p:sp>
        <p:nvSpPr>
          <p:cNvPr id="4" name="Θέση περιεχομένου 3">
            <a:extLst>
              <a:ext uri="{FF2B5EF4-FFF2-40B4-BE49-F238E27FC236}">
                <a16:creationId xmlns:a16="http://schemas.microsoft.com/office/drawing/2014/main" id="{DF19E757-FDAF-9F1F-009A-5DB23567D5A0}"/>
              </a:ext>
            </a:extLst>
          </p:cNvPr>
          <p:cNvSpPr>
            <a:spLocks noGrp="1"/>
          </p:cNvSpPr>
          <p:nvPr>
            <p:ph sz="half" idx="2"/>
          </p:nvPr>
        </p:nvSpPr>
        <p:spPr>
          <a:xfrm>
            <a:off x="6963015" y="1524000"/>
            <a:ext cx="4948569" cy="4876800"/>
          </a:xfrm>
          <a:solidFill>
            <a:schemeClr val="bg2">
              <a:lumMod val="75000"/>
            </a:schemeClr>
          </a:solidFill>
        </p:spPr>
        <p:txBody>
          <a:bodyPr>
            <a:normAutofit fontScale="32500" lnSpcReduction="20000"/>
          </a:bodyPr>
          <a:lstStyle/>
          <a:p>
            <a:pPr>
              <a:lnSpc>
                <a:spcPct val="120000"/>
              </a:lnSpc>
            </a:pPr>
            <a:r>
              <a:rPr lang="en-US" sz="4500" dirty="0">
                <a:solidFill>
                  <a:schemeClr val="tx1"/>
                </a:solidFill>
                <a:ea typeface="Calibri" panose="020F0502020204030204" pitchFamily="34" charset="0"/>
              </a:rPr>
              <a:t>My burial, my bridal bed, my home in the deep earth and my eternal cell, I come to find my own dead whom a great crowd Persephone befriended. </a:t>
            </a:r>
            <a:br>
              <a:rPr lang="en-US" sz="4500" dirty="0">
                <a:solidFill>
                  <a:schemeClr val="tx1"/>
                </a:solidFill>
                <a:ea typeface="Calibri" panose="020F0502020204030204" pitchFamily="34" charset="0"/>
              </a:rPr>
            </a:br>
            <a:r>
              <a:rPr lang="en-US" sz="4500" dirty="0">
                <a:solidFill>
                  <a:schemeClr val="tx1"/>
                </a:solidFill>
                <a:ea typeface="Calibri" panose="020F0502020204030204" pitchFamily="34" charset="0"/>
              </a:rPr>
              <a:t>Stern and devastated I will go down, before I spend my life's share. </a:t>
            </a:r>
            <a:br>
              <a:rPr lang="en-US" sz="4500" dirty="0">
                <a:solidFill>
                  <a:schemeClr val="tx1"/>
                </a:solidFill>
                <a:ea typeface="Calibri" panose="020F0502020204030204" pitchFamily="34" charset="0"/>
              </a:rPr>
            </a:br>
            <a:r>
              <a:rPr lang="en-US" sz="4500" dirty="0">
                <a:solidFill>
                  <a:schemeClr val="tx1"/>
                </a:solidFill>
                <a:ea typeface="Calibri" panose="020F0502020204030204" pitchFamily="34" charset="0"/>
              </a:rPr>
              <a:t>Hope nourishes me that I will find your love, your love, mother, my eyes and my brother, your love. </a:t>
            </a:r>
            <a:br>
              <a:rPr lang="en-US" sz="4500" dirty="0">
                <a:solidFill>
                  <a:schemeClr val="tx1"/>
                </a:solidFill>
                <a:ea typeface="Calibri" panose="020F0502020204030204" pitchFamily="34" charset="0"/>
              </a:rPr>
            </a:br>
            <a:r>
              <a:rPr lang="en-US" sz="4500" dirty="0">
                <a:solidFill>
                  <a:schemeClr val="tx1"/>
                </a:solidFill>
                <a:ea typeface="Calibri" panose="020F0502020204030204" pitchFamily="34" charset="0"/>
              </a:rPr>
              <a:t>I, dead with my little hands, bathed you, decorated you, watered your grave with honey, milk and water; and now, Polynices, I pay dearly for your dead body. </a:t>
            </a:r>
            <a:br>
              <a:rPr lang="en-US" sz="4500" dirty="0">
                <a:solidFill>
                  <a:schemeClr val="tx1"/>
                </a:solidFill>
                <a:ea typeface="Calibri" panose="020F0502020204030204" pitchFamily="34" charset="0"/>
              </a:rPr>
            </a:br>
            <a:r>
              <a:rPr lang="en-US" sz="4500" dirty="0">
                <a:solidFill>
                  <a:schemeClr val="tx1"/>
                </a:solidFill>
                <a:ea typeface="Calibri" panose="020F0502020204030204" pitchFamily="34" charset="0"/>
              </a:rPr>
              <a:t>I have </a:t>
            </a:r>
            <a:r>
              <a:rPr lang="en-US" sz="4500" dirty="0" err="1">
                <a:solidFill>
                  <a:schemeClr val="tx1"/>
                </a:solidFill>
                <a:ea typeface="Calibri" panose="020F0502020204030204" pitchFamily="34" charset="0"/>
              </a:rPr>
              <a:t>honoured</a:t>
            </a:r>
            <a:r>
              <a:rPr lang="en-US" sz="4500" dirty="0">
                <a:solidFill>
                  <a:schemeClr val="tx1"/>
                </a:solidFill>
                <a:ea typeface="Calibri" panose="020F0502020204030204" pitchFamily="34" charset="0"/>
              </a:rPr>
              <a:t> thee, and the wise shall say how much; </a:t>
            </a:r>
            <a:br>
              <a:rPr lang="en-US" sz="4500" dirty="0">
                <a:solidFill>
                  <a:schemeClr val="tx1"/>
                </a:solidFill>
                <a:ea typeface="Calibri" panose="020F0502020204030204" pitchFamily="34" charset="0"/>
              </a:rPr>
            </a:br>
            <a:r>
              <a:rPr lang="en-US" sz="4500" dirty="0">
                <a:solidFill>
                  <a:schemeClr val="tx1"/>
                </a:solidFill>
                <a:ea typeface="Calibri" panose="020F0502020204030204" pitchFamily="34" charset="0"/>
              </a:rPr>
              <a:t>I would never carry such a burden against the city, if I were a mother with children, and if my husband rotted dead.</a:t>
            </a:r>
            <a:br>
              <a:rPr lang="en-US" sz="4500" dirty="0">
                <a:solidFill>
                  <a:schemeClr val="tx1"/>
                </a:solidFill>
                <a:ea typeface="Calibri" panose="020F0502020204030204" pitchFamily="34" charset="0"/>
              </a:rPr>
            </a:br>
            <a:r>
              <a:rPr lang="en-US" sz="4500" dirty="0">
                <a:solidFill>
                  <a:schemeClr val="tx1"/>
                </a:solidFill>
                <a:ea typeface="Calibri" panose="020F0502020204030204" pitchFamily="34" charset="0"/>
              </a:rPr>
              <a:t>What law moves me to say this?</a:t>
            </a:r>
            <a:r>
              <a:rPr lang="el-GR" sz="4500" dirty="0">
                <a:solidFill>
                  <a:schemeClr val="tx1"/>
                </a:solidFill>
                <a:effectLst/>
                <a:latin typeface="Times New Roman" panose="02020603050405020304" pitchFamily="18" charset="0"/>
                <a:ea typeface="Calibri" panose="020F0502020204030204" pitchFamily="34" charset="0"/>
              </a:rPr>
              <a:t>;</a:t>
            </a:r>
            <a:endParaRPr lang="el-GR" sz="4500" dirty="0">
              <a:solidFill>
                <a:schemeClr val="tx1"/>
              </a:solidFill>
            </a:endParaRPr>
          </a:p>
        </p:txBody>
      </p:sp>
    </p:spTree>
    <p:extLst>
      <p:ext uri="{BB962C8B-B14F-4D97-AF65-F5344CB8AC3E}">
        <p14:creationId xmlns:p14="http://schemas.microsoft.com/office/powerpoint/2010/main" val="4228872485"/>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94504F06-06AB-F149-AE22-4E83CBAE6CB1}"/>
              </a:ext>
            </a:extLst>
          </p:cNvPr>
          <p:cNvSpPr>
            <a:spLocks noGrp="1"/>
          </p:cNvSpPr>
          <p:nvPr>
            <p:ph type="title"/>
          </p:nvPr>
        </p:nvSpPr>
        <p:spPr>
          <a:xfrm>
            <a:off x="7330965" y="212834"/>
            <a:ext cx="4175829" cy="5888421"/>
          </a:xfrm>
        </p:spPr>
        <p:txBody>
          <a:bodyPr/>
          <a:lstStyle/>
          <a:p>
            <a:pPr>
              <a:lnSpc>
                <a:spcPct val="150000"/>
              </a:lnSpc>
              <a:spcAft>
                <a:spcPts val="800"/>
              </a:spcAft>
            </a:pPr>
            <a:r>
              <a:rPr lang="en-US" sz="1800" kern="100" dirty="0">
                <a:latin typeface="Times New Roman" panose="02020603050405020304" pitchFamily="18" charset="0"/>
                <a:ea typeface="Calibri" panose="020F0502020204030204" pitchFamily="34" charset="0"/>
                <a:cs typeface="Times New Roman" panose="02020603050405020304" pitchFamily="18" charset="0"/>
              </a:rPr>
              <a:t>Respecting your time, we omitted the commentary of passages from the scene with the seer Tiresias, the last chorus with the presence of the god Dionysus, as well as the Exodus with the lament of Creon. We would like to believe that the relationship between Sophocles and </a:t>
            </a:r>
            <a:r>
              <a:rPr lang="en-US" sz="1800" kern="100" dirty="0" err="1">
                <a:latin typeface="Times New Roman" panose="02020603050405020304" pitchFamily="18" charset="0"/>
                <a:ea typeface="Calibri" panose="020F0502020204030204" pitchFamily="34" charset="0"/>
                <a:cs typeface="Times New Roman" panose="02020603050405020304" pitchFamily="18" charset="0"/>
              </a:rPr>
              <a:t>Helderlin</a:t>
            </a:r>
            <a:r>
              <a:rPr lang="en-US" sz="1800" kern="100" dirty="0">
                <a:latin typeface="Times New Roman" panose="02020603050405020304" pitchFamily="18" charset="0"/>
                <a:ea typeface="Calibri" panose="020F0502020204030204" pitchFamily="34" charset="0"/>
                <a:cs typeface="Times New Roman" panose="02020603050405020304" pitchFamily="18" charset="0"/>
              </a:rPr>
              <a:t>, the connection between classical Greece and 19th century Germany, the common elements that unite the two cultures, were understood. </a:t>
            </a:r>
            <a:br>
              <a:rPr lang="en-US" sz="1800" kern="100" dirty="0">
                <a:latin typeface="Times New Roman" panose="02020603050405020304" pitchFamily="18" charset="0"/>
                <a:ea typeface="Calibri" panose="020F0502020204030204" pitchFamily="34" charset="0"/>
                <a:cs typeface="Times New Roman" panose="02020603050405020304" pitchFamily="18" charset="0"/>
              </a:rPr>
            </a:br>
            <a:r>
              <a:rPr lang="en-US" sz="1800" kern="100" dirty="0">
                <a:latin typeface="Times New Roman" panose="02020603050405020304" pitchFamily="18" charset="0"/>
                <a:ea typeface="Calibri" panose="020F0502020204030204" pitchFamily="34" charset="0"/>
                <a:cs typeface="Times New Roman" panose="02020603050405020304" pitchFamily="18" charset="0"/>
              </a:rPr>
              <a:t>Thank you!</a:t>
            </a:r>
            <a:endParaRPr lang="el-GR" dirty="0"/>
          </a:p>
        </p:txBody>
      </p:sp>
      <p:sp>
        <p:nvSpPr>
          <p:cNvPr id="3" name="Θέση εικόνας 2">
            <a:extLst>
              <a:ext uri="{FF2B5EF4-FFF2-40B4-BE49-F238E27FC236}">
                <a16:creationId xmlns:a16="http://schemas.microsoft.com/office/drawing/2014/main" id="{17452FD3-8EA8-7873-4C45-ED414795A4DB}"/>
              </a:ext>
            </a:extLst>
          </p:cNvPr>
          <p:cNvSpPr>
            <a:spLocks noGrp="1"/>
          </p:cNvSpPr>
          <p:nvPr>
            <p:ph type="pic" idx="1"/>
          </p:nvPr>
        </p:nvSpPr>
        <p:spPr/>
      </p:sp>
      <p:sp>
        <p:nvSpPr>
          <p:cNvPr id="4" name="Θέση κειμένου 3">
            <a:extLst>
              <a:ext uri="{FF2B5EF4-FFF2-40B4-BE49-F238E27FC236}">
                <a16:creationId xmlns:a16="http://schemas.microsoft.com/office/drawing/2014/main" id="{EE4E3A1E-B282-C8E2-C4B9-6A2826779C28}"/>
              </a:ext>
            </a:extLst>
          </p:cNvPr>
          <p:cNvSpPr>
            <a:spLocks noGrp="1"/>
          </p:cNvSpPr>
          <p:nvPr>
            <p:ph type="body" sz="half" idx="2"/>
          </p:nvPr>
        </p:nvSpPr>
        <p:spPr/>
        <p:txBody>
          <a:bodyPr/>
          <a:lstStyle/>
          <a:p>
            <a:r>
              <a:rPr lang="en-US" dirty="0"/>
              <a:t>Irene Papa as Antigone</a:t>
            </a:r>
            <a:endParaRPr lang="el-GR" dirty="0"/>
          </a:p>
        </p:txBody>
      </p:sp>
      <p:pic>
        <p:nvPicPr>
          <p:cNvPr id="5" name="Εικόνα 4">
            <a:extLst>
              <a:ext uri="{FF2B5EF4-FFF2-40B4-BE49-F238E27FC236}">
                <a16:creationId xmlns:a16="http://schemas.microsoft.com/office/drawing/2014/main" id="{B807D1EA-04C6-C9E8-36B9-F487F3676167}"/>
              </a:ext>
            </a:extLst>
          </p:cNvPr>
          <p:cNvPicPr>
            <a:picLocks noChangeAspect="1"/>
          </p:cNvPicPr>
          <p:nvPr/>
        </p:nvPicPr>
        <p:blipFill>
          <a:blip r:embed="rId2">
            <a:extLst>
              <a:ext uri="{837473B0-CC2E-450A-ABE3-18F120FF3D39}">
                <a1611:picAttrSrcUrl xmlns:a1611="http://schemas.microsoft.com/office/drawing/2016/11/main" r:id="rId3"/>
              </a:ext>
            </a:extLst>
          </a:blip>
          <a:stretch>
            <a:fillRect/>
          </a:stretch>
        </p:blipFill>
        <p:spPr>
          <a:xfrm>
            <a:off x="1117600" y="1143004"/>
            <a:ext cx="5892800" cy="3514531"/>
          </a:xfrm>
          <a:prstGeom prst="rect">
            <a:avLst/>
          </a:prstGeom>
        </p:spPr>
      </p:pic>
    </p:spTree>
    <p:extLst>
      <p:ext uri="{BB962C8B-B14F-4D97-AF65-F5344CB8AC3E}">
        <p14:creationId xmlns:p14="http://schemas.microsoft.com/office/powerpoint/2010/main" val="119980934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grpId="0" nodeType="clickEffect">
                                  <p:stCondLst>
                                    <p:cond delay="0"/>
                                  </p:stCondLst>
                                  <p:childTnLst>
                                    <p:set>
                                      <p:cBhvr>
                                        <p:cTn id="12" dur="1" fill="hold">
                                          <p:stCondLst>
                                            <p:cond delay="0"/>
                                          </p:stCondLst>
                                        </p:cTn>
                                        <p:tgtEl>
                                          <p:spTgt spid="2"/>
                                        </p:tgtEl>
                                        <p:attrNameLst>
                                          <p:attrName>style.visibility</p:attrName>
                                        </p:attrNameLst>
                                      </p:cBhvr>
                                      <p:to>
                                        <p:strVal val="visible"/>
                                      </p:to>
                                    </p:set>
                                    <p:animEffect transition="in" filter="fade">
                                      <p:cBhvr>
                                        <p:cTn id="13" dur="1000"/>
                                        <p:tgtEl>
                                          <p:spTgt spid="2"/>
                                        </p:tgtEl>
                                      </p:cBhvr>
                                    </p:animEffect>
                                    <p:anim calcmode="lin" valueType="num">
                                      <p:cBhvr>
                                        <p:cTn id="14" dur="1000" fill="hold"/>
                                        <p:tgtEl>
                                          <p:spTgt spid="2"/>
                                        </p:tgtEl>
                                        <p:attrNameLst>
                                          <p:attrName>ppt_x</p:attrName>
                                        </p:attrNameLst>
                                      </p:cBhvr>
                                      <p:tavLst>
                                        <p:tav tm="0">
                                          <p:val>
                                            <p:strVal val="#ppt_x"/>
                                          </p:val>
                                        </p:tav>
                                        <p:tav tm="100000">
                                          <p:val>
                                            <p:strVal val="#ppt_x"/>
                                          </p:val>
                                        </p:tav>
                                      </p:tavLst>
                                    </p:anim>
                                    <p:anim calcmode="lin" valueType="num">
                                      <p:cBhvr>
                                        <p:cTn id="15"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0CE7ED18-FD16-B575-C067-1BF6F1C26296}"/>
              </a:ext>
            </a:extLst>
          </p:cNvPr>
          <p:cNvSpPr>
            <a:spLocks noGrp="1"/>
          </p:cNvSpPr>
          <p:nvPr>
            <p:ph type="title"/>
          </p:nvPr>
        </p:nvSpPr>
        <p:spPr>
          <a:xfrm>
            <a:off x="1914144" y="274320"/>
            <a:ext cx="9997440" cy="866323"/>
          </a:xfrm>
        </p:spPr>
        <p:txBody>
          <a:bodyPr/>
          <a:lstStyle/>
          <a:p>
            <a:pPr algn="ctr"/>
            <a:r>
              <a:rPr lang="en-US" dirty="0"/>
              <a:t>SOURCES</a:t>
            </a:r>
            <a:endParaRPr lang="el-GR" dirty="0"/>
          </a:p>
        </p:txBody>
      </p:sp>
      <p:sp>
        <p:nvSpPr>
          <p:cNvPr id="4" name="TextBox 3">
            <a:extLst>
              <a:ext uri="{FF2B5EF4-FFF2-40B4-BE49-F238E27FC236}">
                <a16:creationId xmlns:a16="http://schemas.microsoft.com/office/drawing/2014/main" id="{F1A24853-20CF-9091-A155-5A7A725BFD96}"/>
              </a:ext>
            </a:extLst>
          </p:cNvPr>
          <p:cNvSpPr txBox="1"/>
          <p:nvPr/>
        </p:nvSpPr>
        <p:spPr>
          <a:xfrm>
            <a:off x="1583703" y="1206631"/>
            <a:ext cx="10426045" cy="6282810"/>
          </a:xfrm>
          <a:prstGeom prst="rect">
            <a:avLst/>
          </a:prstGeom>
          <a:noFill/>
        </p:spPr>
        <p:txBody>
          <a:bodyPr wrap="square">
            <a:spAutoFit/>
          </a:bodyPr>
          <a:lstStyle/>
          <a:p>
            <a:r>
              <a:rPr lang="en-US" sz="1600" i="1" dirty="0"/>
              <a:t>Steiner, George, The </a:t>
            </a:r>
            <a:r>
              <a:rPr lang="en-US" sz="1600" i="1" dirty="0" err="1"/>
              <a:t>Antigones</a:t>
            </a:r>
            <a:r>
              <a:rPr lang="en-US" sz="1600" i="1" dirty="0"/>
              <a:t>: the myth of Antigone in literature, arts and literature.
thought of Hesperia, trans. Vasilis </a:t>
            </a:r>
            <a:r>
              <a:rPr lang="en-US" sz="1600" i="1" dirty="0" err="1"/>
              <a:t>Mastoris</a:t>
            </a:r>
            <a:r>
              <a:rPr lang="en-US" sz="1600" i="1" dirty="0"/>
              <a:t> - Paris </a:t>
            </a:r>
            <a:r>
              <a:rPr lang="en-US" sz="1600" i="1" dirty="0" err="1"/>
              <a:t>Bourlakis</a:t>
            </a:r>
            <a:r>
              <a:rPr lang="en-US" sz="1600" i="1" dirty="0"/>
              <a:t>, ed. </a:t>
            </a:r>
            <a:r>
              <a:rPr lang="en-US" sz="1600" i="1" dirty="0" err="1"/>
              <a:t>Kalentis</a:t>
            </a:r>
            <a:r>
              <a:rPr lang="en-US" sz="1600" i="1" dirty="0"/>
              <a:t>,
Athens 20012'
Puchner, Walter, "The translation of Sophocles' Antigone by Friedrich </a:t>
            </a:r>
            <a:r>
              <a:rPr lang="en-US" sz="1600" i="1" dirty="0" err="1"/>
              <a:t>Hölderlin</a:t>
            </a:r>
            <a:r>
              <a:rPr lang="en-US" sz="1600" i="1" dirty="0"/>
              <a:t> and the adaptation of Antigone by Bertolt Brecht. A literary detection". In </a:t>
            </a:r>
            <a:r>
              <a:rPr lang="en-US" sz="1600" i="1" dirty="0" err="1"/>
              <a:t>Comparaison</a:t>
            </a:r>
            <a:r>
              <a:rPr lang="en-US" sz="1600" i="1" dirty="0"/>
              <a:t> 10 (1999), </a:t>
            </a:r>
            <a:r>
              <a:rPr lang="en-US" sz="1600" i="1" dirty="0" err="1"/>
              <a:t>pp.59</a:t>
            </a:r>
            <a:r>
              <a:rPr lang="en-US" sz="1600" i="1" dirty="0"/>
              <a:t>-81. Republished in: Theatrum Mundi, Ten </a:t>
            </a:r>
            <a:r>
              <a:rPr lang="en-US" sz="1600" i="1" dirty="0" err="1"/>
              <a:t>Theatrological</a:t>
            </a:r>
            <a:r>
              <a:rPr lang="en-US" sz="1600" i="1" dirty="0"/>
              <a:t> Studies, ed. </a:t>
            </a:r>
            <a:r>
              <a:rPr lang="en-US" sz="1600" i="1" dirty="0" err="1"/>
              <a:t>Ellinika</a:t>
            </a:r>
            <a:r>
              <a:rPr lang="en-US" sz="1600" i="1" dirty="0"/>
              <a:t> </a:t>
            </a:r>
            <a:r>
              <a:rPr lang="en-US" sz="1600" i="1" dirty="0" err="1"/>
              <a:t>Grammata</a:t>
            </a:r>
            <a:r>
              <a:rPr lang="en-US" sz="1600" i="1" dirty="0"/>
              <a:t>, Athens 2000, pp. 243-269
 Christoph </a:t>
            </a:r>
            <a:r>
              <a:rPr lang="en-US" sz="1600" i="1" dirty="0" err="1"/>
              <a:t>Jamme</a:t>
            </a:r>
            <a:r>
              <a:rPr lang="en-US" sz="1600" i="1" dirty="0"/>
              <a:t> ,  </a:t>
            </a:r>
            <a:r>
              <a:rPr lang="en-US" sz="1600" i="1" dirty="0" err="1"/>
              <a:t>Hölderlin’s</a:t>
            </a:r>
            <a:r>
              <a:rPr lang="en-US" sz="1600" i="1" dirty="0"/>
              <a:t> Theory of Tragedy   </a:t>
            </a:r>
            <a:r>
              <a:rPr lang="en-US" sz="1600" i="1" dirty="0" err="1"/>
              <a:t>Leuphana</a:t>
            </a:r>
            <a:r>
              <a:rPr lang="en-US" sz="1600" i="1" dirty="0"/>
              <a:t> Universität </a:t>
            </a:r>
            <a:r>
              <a:rPr lang="en-US" sz="1600" i="1" dirty="0" err="1"/>
              <a:t>Lüneburg</a:t>
            </a:r>
            <a:r>
              <a:rPr lang="en-US" sz="1600" i="1" dirty="0"/>
              <a:t> 
file:///C:/Users/VASW/Downloads/</a:t>
            </a:r>
            <a:r>
              <a:rPr lang="en-US" sz="1600" i="1" dirty="0" err="1"/>
              <a:t>admin,+1</a:t>
            </a:r>
            <a:r>
              <a:rPr lang="en-US" sz="1600" i="1" dirty="0"/>
              <a:t>+-+</a:t>
            </a:r>
            <a:r>
              <a:rPr lang="en-US" sz="1600" i="1" dirty="0" err="1"/>
              <a:t>JAMME+English+DIAGR</a:t>
            </a:r>
            <a:r>
              <a:rPr lang="en-US" sz="1600" i="1" dirty="0"/>
              <a:t>.-4-2-</a:t>
            </a:r>
            <a:r>
              <a:rPr lang="en-US" sz="1600" i="1" dirty="0" err="1"/>
              <a:t>1.pdf</a:t>
            </a:r>
            <a:r>
              <a:rPr lang="en-US" sz="1600" i="1" dirty="0"/>
              <a:t>
Antigone – </a:t>
            </a:r>
            <a:r>
              <a:rPr lang="en-US" sz="1600" i="1" dirty="0" err="1"/>
              <a:t>Hölderlin</a:t>
            </a:r>
            <a:r>
              <a:rPr lang="en-US" sz="1600" i="1" dirty="0"/>
              <a:t> Eine Widmung  file:///C:/Users/VASW/Downloads/9783839400975-001-</a:t>
            </a:r>
            <a:r>
              <a:rPr lang="en-US" sz="1600" i="1" dirty="0" err="1"/>
              <a:t>3.pdf</a:t>
            </a:r>
            <a:r>
              <a:rPr lang="en-US" sz="1600" i="1" dirty="0"/>
              <a:t>
SUSANNE GOTTLOB (</a:t>
            </a:r>
            <a:r>
              <a:rPr lang="en-US" sz="1600" i="1" dirty="0" err="1"/>
              <a:t>verfasst</a:t>
            </a:r>
            <a:r>
              <a:rPr lang="en-US" sz="1600" i="1" dirty="0"/>
              <a:t> Oktober 2007 ... was </a:t>
            </a:r>
            <a:r>
              <a:rPr lang="en-US" sz="1600" i="1" dirty="0" err="1"/>
              <a:t>aber</a:t>
            </a:r>
            <a:r>
              <a:rPr lang="en-US" sz="1600" i="1" dirty="0"/>
              <a:t> </a:t>
            </a:r>
            <a:r>
              <a:rPr lang="en-US" sz="1600" i="1" dirty="0" err="1"/>
              <a:t>fehlet</a:t>
            </a:r>
            <a:r>
              <a:rPr lang="en-US" sz="1600" i="1" dirty="0"/>
              <a:t> ... </a:t>
            </a:r>
            <a:r>
              <a:rPr lang="en-US" sz="1600" i="1" dirty="0" err="1"/>
              <a:t>Antigona</a:t>
            </a:r>
            <a:r>
              <a:rPr lang="en-US" sz="1600" i="1" dirty="0"/>
              <a:t> und die Frage </a:t>
            </a:r>
            <a:r>
              <a:rPr lang="en-US" sz="1600" i="1" dirty="0" err="1"/>
              <a:t>nach</a:t>
            </a:r>
            <a:r>
              <a:rPr lang="en-US" sz="1600" i="1" dirty="0"/>
              <a:t> dem </a:t>
            </a:r>
            <a:r>
              <a:rPr lang="en-US" sz="1600" i="1" dirty="0" err="1"/>
              <a:t>Zusammenhang</a:t>
            </a:r>
            <a:r>
              <a:rPr lang="en-US" sz="1600" i="1" dirty="0"/>
              <a:t>
Dimitra Bock, The literary myth of Antigone in 20th century Europe, Master Erasmus Mundus </a:t>
            </a:r>
            <a:r>
              <a:rPr lang="en-US" sz="1600" i="1" dirty="0" err="1"/>
              <a:t>enCultures</a:t>
            </a:r>
            <a:r>
              <a:rPr lang="en-US" sz="1600" i="1" dirty="0"/>
              <a:t> </a:t>
            </a:r>
            <a:r>
              <a:rPr lang="en-US" sz="1600" i="1" dirty="0" err="1"/>
              <a:t>Litteraires</a:t>
            </a:r>
            <a:r>
              <a:rPr lang="en-US" sz="1600" i="1" dirty="0"/>
              <a:t> </a:t>
            </a:r>
            <a:r>
              <a:rPr lang="en-US" sz="1600" i="1" dirty="0" err="1"/>
              <a:t>Europeennes</a:t>
            </a:r>
            <a:r>
              <a:rPr lang="en-US" sz="1600" i="1" dirty="0"/>
              <a:t> – CLE (AUTH)</a:t>
            </a:r>
            <a:r>
              <a:rPr lang="en-US" sz="1600" u="sng" kern="100" dirty="0">
                <a:effectLst/>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https://</a:t>
            </a:r>
            <a:r>
              <a:rPr lang="en-US" sz="1600" u="sng" kern="100" dirty="0" err="1">
                <a:effectLst/>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www.greek-language.gr</a:t>
            </a:r>
            <a:r>
              <a:rPr lang="en-US" sz="1600" u="sng" kern="100" dirty="0">
                <a:effectLst/>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a:t>
            </a:r>
            <a:r>
              <a:rPr lang="en-US" sz="1600" u="sng" kern="100" dirty="0" err="1">
                <a:effectLst/>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digitalResources</a:t>
            </a:r>
            <a:r>
              <a:rPr lang="en-US" sz="1600" u="sng" kern="100" dirty="0">
                <a:effectLst/>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a:t>
            </a:r>
            <a:r>
              <a:rPr lang="en-US" sz="1600" u="sng" kern="100" dirty="0" err="1">
                <a:effectLst/>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ancient_greek</a:t>
            </a:r>
            <a:r>
              <a:rPr lang="en-US" sz="1600" u="sng" kern="100" dirty="0">
                <a:effectLst/>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/library/</a:t>
            </a:r>
            <a:r>
              <a:rPr lang="en-US" sz="1600" u="sng" kern="100" dirty="0" err="1">
                <a:effectLst/>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browse.html?page</a:t>
            </a:r>
            <a:r>
              <a:rPr lang="en-US" sz="1600" u="sng" kern="100" dirty="0">
                <a:effectLst/>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a:t>
            </a:r>
            <a:r>
              <a:rPr lang="en-US" sz="1600" u="sng" kern="100" dirty="0" err="1">
                <a:effectLst/>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5&amp;text_id</a:t>
            </a:r>
            <a:r>
              <a:rPr lang="en-US" sz="1600" u="sng" kern="100" dirty="0">
                <a:effectLst/>
                <a:ea typeface="Calibri" panose="020F0502020204030204" pitchFamily="34" charset="0"/>
                <a:cs typeface="Times New Roman" panose="02020603050405020304" pitchFamily="18" charset="0"/>
                <a:hlinkClick r:id="rId4">
                  <a:extLst>
                    <a:ext uri="{A12FA001-AC4F-418D-AE19-62706E023703}">
                      <ahyp:hlinkClr xmlns:ahyp="http://schemas.microsoft.com/office/drawing/2018/hyperlinkcolor" val="tx"/>
                    </a:ext>
                  </a:extLst>
                </a:hlinkClick>
              </a:rPr>
              <a:t>=76</a:t>
            </a:r>
            <a:endParaRPr lang="el-GR"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n-US" sz="1600" u="sng" kern="100" dirty="0">
                <a:effectLst/>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https://</a:t>
            </a:r>
            <a:r>
              <a:rPr lang="en-US" sz="1600" u="sng" kern="100" dirty="0" err="1">
                <a:effectLst/>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users.sch.gr</a:t>
            </a:r>
            <a:r>
              <a:rPr lang="en-US" sz="1600" u="sng" kern="100" dirty="0">
                <a:effectLst/>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a:t>
            </a:r>
            <a:r>
              <a:rPr lang="en-US" sz="1600" u="sng" kern="100" dirty="0" err="1">
                <a:effectLst/>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ipap</a:t>
            </a:r>
            <a:r>
              <a:rPr lang="en-US" sz="1600" u="sng" kern="100" dirty="0">
                <a:effectLst/>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a:t>
            </a:r>
            <a:r>
              <a:rPr lang="en-US" sz="1600" u="sng" kern="100" dirty="0" err="1">
                <a:effectLst/>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Ellinikos%20Politismos</a:t>
            </a:r>
            <a:r>
              <a:rPr lang="en-US" sz="1600" u="sng" kern="100" dirty="0">
                <a:effectLst/>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a:t>
            </a:r>
            <a:r>
              <a:rPr lang="en-US" sz="1600" u="sng" kern="100" dirty="0" err="1">
                <a:effectLst/>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Yliko</a:t>
            </a:r>
            <a:r>
              <a:rPr lang="en-US" sz="1600" u="sng" kern="100" dirty="0">
                <a:effectLst/>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/ELENI/</a:t>
            </a:r>
            <a:r>
              <a:rPr lang="en-US" sz="1600" u="sng" kern="100" dirty="0" err="1">
                <a:effectLst/>
                <a:ea typeface="Calibri" panose="020F0502020204030204" pitchFamily="34" charset="0"/>
                <a:cs typeface="Times New Roman" panose="02020603050405020304" pitchFamily="18" charset="0"/>
                <a:hlinkClick r:id="rId5">
                  <a:extLst>
                    <a:ext uri="{A12FA001-AC4F-418D-AE19-62706E023703}">
                      <ahyp:hlinkClr xmlns:ahyp="http://schemas.microsoft.com/office/drawing/2018/hyperlinkcolor" val="tx"/>
                    </a:ext>
                  </a:extLst>
                </a:hlinkClick>
              </a:rPr>
              <a:t>drama.htm</a:t>
            </a:r>
            <a:endParaRPr lang="el-GR"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n-US" sz="1600" u="sng" kern="100" dirty="0">
                <a:effectLst/>
                <a:ea typeface="Calibri" panose="020F0502020204030204" pitchFamily="34" charset="0"/>
                <a:cs typeface="Times New Roman" panose="02020603050405020304" pitchFamily="18" charset="0"/>
                <a:hlinkClick r:id="rId6">
                  <a:extLst>
                    <a:ext uri="{A12FA001-AC4F-418D-AE19-62706E023703}">
                      <ahyp:hlinkClr xmlns:ahyp="http://schemas.microsoft.com/office/drawing/2018/hyperlinkcolor" val="tx"/>
                    </a:ext>
                  </a:extLst>
                </a:hlinkClick>
              </a:rPr>
              <a:t>https://</a:t>
            </a:r>
            <a:r>
              <a:rPr lang="en-US" sz="1600" u="sng" kern="100" dirty="0" err="1">
                <a:effectLst/>
                <a:ea typeface="Calibri" panose="020F0502020204030204" pitchFamily="34" charset="0"/>
                <a:cs typeface="Times New Roman" panose="02020603050405020304" pitchFamily="18" charset="0"/>
                <a:hlinkClick r:id="rId6">
                  <a:extLst>
                    <a:ext uri="{A12FA001-AC4F-418D-AE19-62706E023703}">
                      <ahyp:hlinkClr xmlns:ahyp="http://schemas.microsoft.com/office/drawing/2018/hyperlinkcolor" val="tx"/>
                    </a:ext>
                  </a:extLst>
                </a:hlinkClick>
              </a:rPr>
              <a:t>www.servou.gr</a:t>
            </a:r>
            <a:r>
              <a:rPr lang="en-US" sz="1600" u="sng" kern="100" dirty="0">
                <a:effectLst/>
                <a:ea typeface="Calibri" panose="020F0502020204030204" pitchFamily="34" charset="0"/>
                <a:cs typeface="Times New Roman" panose="02020603050405020304" pitchFamily="18" charset="0"/>
                <a:hlinkClick r:id="rId6">
                  <a:extLst>
                    <a:ext uri="{A12FA001-AC4F-418D-AE19-62706E023703}">
                      <ahyp:hlinkClr xmlns:ahyp="http://schemas.microsoft.com/office/drawing/2018/hyperlinkcolor" val="tx"/>
                    </a:ext>
                  </a:extLst>
                </a:hlinkClick>
              </a:rPr>
              <a:t>/2013-06-23-10-30-27/</a:t>
            </a:r>
            <a:r>
              <a:rPr lang="en-US" sz="1600" u="sng" kern="100" dirty="0" err="1">
                <a:effectLst/>
                <a:ea typeface="Calibri" panose="020F0502020204030204" pitchFamily="34" charset="0"/>
                <a:cs typeface="Times New Roman" panose="02020603050405020304" pitchFamily="18" charset="0"/>
                <a:hlinkClick r:id="rId6">
                  <a:extLst>
                    <a:ext uri="{A12FA001-AC4F-418D-AE19-62706E023703}">
                      <ahyp:hlinkClr xmlns:ahyp="http://schemas.microsoft.com/office/drawing/2018/hyperlinkcolor" val="tx"/>
                    </a:ext>
                  </a:extLst>
                </a:hlinkClick>
              </a:rPr>
              <a:t>grafipatrioton</a:t>
            </a:r>
            <a:r>
              <a:rPr lang="en-US" sz="1600" u="sng" kern="100" dirty="0">
                <a:effectLst/>
                <a:ea typeface="Calibri" panose="020F0502020204030204" pitchFamily="34" charset="0"/>
                <a:cs typeface="Times New Roman" panose="02020603050405020304" pitchFamily="18" charset="0"/>
                <a:hlinkClick r:id="rId6">
                  <a:extLst>
                    <a:ext uri="{A12FA001-AC4F-418D-AE19-62706E023703}">
                      <ahyp:hlinkClr xmlns:ahyp="http://schemas.microsoft.com/office/drawing/2018/hyperlinkcolor" val="tx"/>
                    </a:ext>
                  </a:extLst>
                </a:hlinkClick>
              </a:rPr>
              <a:t>/319-philosophy/3137-antigoni-tou-sofokli-mathima-antistasis-stin-afthairesia-tis-eksousias-2</a:t>
            </a:r>
            <a:endParaRPr lang="el-GR"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n-US" sz="1600" u="sng" kern="100" dirty="0">
                <a:effectLst/>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https://</a:t>
            </a:r>
            <a:r>
              <a:rPr lang="en-US" sz="1600" u="sng" kern="100" dirty="0" err="1">
                <a:effectLst/>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www.ime.gr</a:t>
            </a:r>
            <a:r>
              <a:rPr lang="en-US" sz="1600" u="sng" kern="100" dirty="0">
                <a:effectLst/>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a:t>
            </a:r>
            <a:r>
              <a:rPr lang="en-US" sz="1600" u="sng" kern="100" dirty="0" err="1">
                <a:effectLst/>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chronos</a:t>
            </a:r>
            <a:r>
              <a:rPr lang="en-US" sz="1600" u="sng" kern="100" dirty="0">
                <a:effectLst/>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/05/gr/culture/</a:t>
            </a:r>
            <a:r>
              <a:rPr lang="en-US" sz="1600" u="sng" kern="100" dirty="0" err="1">
                <a:effectLst/>
                <a:ea typeface="Calibri" panose="020F0502020204030204" pitchFamily="34" charset="0"/>
                <a:cs typeface="Times New Roman" panose="02020603050405020304" pitchFamily="18" charset="0"/>
                <a:hlinkClick r:id="rId7">
                  <a:extLst>
                    <a:ext uri="{A12FA001-AC4F-418D-AE19-62706E023703}">
                      <ahyp:hlinkClr xmlns:ahyp="http://schemas.microsoft.com/office/drawing/2018/hyperlinkcolor" val="tx"/>
                    </a:ext>
                  </a:extLst>
                </a:hlinkClick>
              </a:rPr>
              <a:t>2314sophokles.html</a:t>
            </a:r>
            <a:endParaRPr lang="el-GR" sz="1600" kern="100" dirty="0">
              <a:effectLst/>
              <a:ea typeface="Calibri" panose="020F0502020204030204" pitchFamily="34" charset="0"/>
              <a:cs typeface="Times New Roman" panose="02020603050405020304" pitchFamily="18" charset="0"/>
            </a:endParaRPr>
          </a:p>
          <a:p>
            <a:pPr>
              <a:lnSpc>
                <a:spcPct val="107000"/>
              </a:lnSpc>
              <a:spcAft>
                <a:spcPts val="800"/>
              </a:spcAft>
            </a:pPr>
            <a:r>
              <a:rPr lang="en-US" sz="1600" kern="100" dirty="0">
                <a:effectLst/>
                <a:ea typeface="Calibri" panose="020F0502020204030204" pitchFamily="34" charset="0"/>
                <a:cs typeface="Times New Roman" panose="02020603050405020304" pitchFamily="18" charset="0"/>
              </a:rPr>
              <a:t> </a:t>
            </a:r>
            <a:endParaRPr lang="el-GR" sz="1600" kern="100" dirty="0">
              <a:effectLst/>
              <a:ea typeface="Calibri" panose="020F0502020204030204" pitchFamily="34" charset="0"/>
              <a:cs typeface="Times New Roman" panose="02020603050405020304" pitchFamily="18" charset="0"/>
            </a:endParaRPr>
          </a:p>
          <a:p>
            <a:pPr algn="l"/>
            <a:endParaRPr lang="el-GR" sz="1600" dirty="0"/>
          </a:p>
          <a:p>
            <a:pPr algn="l"/>
            <a:endParaRPr lang="el-GR" sz="1600" i="1" dirty="0"/>
          </a:p>
          <a:p>
            <a:pPr algn="l"/>
            <a:endParaRPr lang="el-GR" sz="1600" i="1" dirty="0"/>
          </a:p>
          <a:p>
            <a:pPr algn="l"/>
            <a:endParaRPr lang="el-GR" i="1" dirty="0"/>
          </a:p>
        </p:txBody>
      </p:sp>
      <p:pic>
        <p:nvPicPr>
          <p:cNvPr id="3" name="Β Στάσιμο-Καλόμοιρος που δε γεύτηκε ζωή πικρή">
            <a:hlinkClick r:id="" action="ppaction://media"/>
            <a:extLst>
              <a:ext uri="{FF2B5EF4-FFF2-40B4-BE49-F238E27FC236}">
                <a16:creationId xmlns:a16="http://schemas.microsoft.com/office/drawing/2014/main" id="{97538A93-16B8-5CF3-B740-45D65F6ED53C}"/>
              </a:ext>
            </a:extLst>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0380134" y="531043"/>
            <a:ext cx="609600" cy="609600"/>
          </a:xfrm>
          <a:prstGeom prst="rect">
            <a:avLst/>
          </a:prstGeom>
        </p:spPr>
      </p:pic>
    </p:spTree>
    <p:extLst>
      <p:ext uri="{BB962C8B-B14F-4D97-AF65-F5344CB8AC3E}">
        <p14:creationId xmlns:p14="http://schemas.microsoft.com/office/powerpoint/2010/main" val="273459367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showWhenStopped="0">
                <p:cTn id="7" fill="hold" display="0">
                  <p:stCondLst>
                    <p:cond delay="indefinite"/>
                  </p:stCondLst>
                  <p:endCondLst>
                    <p:cond evt="onStopAudio" delay="0">
                      <p:tgtEl>
                        <p:sldTgt/>
                      </p:tgtEl>
                    </p:cond>
                  </p:endCondLst>
                </p:cTn>
                <p:tgtEl>
                  <p:spTgt spid="3"/>
                </p:tgtEl>
              </p:cMediaNode>
            </p:audio>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Τίτλος 1">
            <a:extLst>
              <a:ext uri="{FF2B5EF4-FFF2-40B4-BE49-F238E27FC236}">
                <a16:creationId xmlns:a16="http://schemas.microsoft.com/office/drawing/2014/main" id="{2B0249D2-C3A1-D44E-FA48-378F8FDDCD15}"/>
              </a:ext>
            </a:extLst>
          </p:cNvPr>
          <p:cNvSpPr>
            <a:spLocks noGrp="1"/>
          </p:cNvSpPr>
          <p:nvPr>
            <p:ph type="title"/>
          </p:nvPr>
        </p:nvSpPr>
        <p:spPr>
          <a:xfrm>
            <a:off x="7532016" y="539593"/>
            <a:ext cx="4496586" cy="2335582"/>
          </a:xfrm>
        </p:spPr>
        <p:txBody>
          <a:bodyPr/>
          <a:lstStyle/>
          <a:p>
            <a:pPr algn="ctr"/>
            <a:r>
              <a:rPr lang="en-US" dirty="0"/>
              <a:t>Thank you!</a:t>
            </a:r>
            <a:br>
              <a:rPr lang="en-US" dirty="0"/>
            </a:br>
            <a:r>
              <a:rPr lang="en-US" dirty="0"/>
              <a:t>The students of </a:t>
            </a:r>
            <a:r>
              <a:rPr lang="en-US" dirty="0" err="1"/>
              <a:t>Avlonari</a:t>
            </a:r>
            <a:r>
              <a:rPr lang="en-US" dirty="0"/>
              <a:t> High School</a:t>
            </a:r>
            <a:endParaRPr lang="el-GR" dirty="0"/>
          </a:p>
        </p:txBody>
      </p:sp>
      <p:pic>
        <p:nvPicPr>
          <p:cNvPr id="8" name="Θέση εικόνας 7">
            <a:extLst>
              <a:ext uri="{FF2B5EF4-FFF2-40B4-BE49-F238E27FC236}">
                <a16:creationId xmlns:a16="http://schemas.microsoft.com/office/drawing/2014/main" id="{02D5DCB3-BFEE-B170-E270-7CA01F2FFA0A}"/>
              </a:ext>
            </a:extLst>
          </p:cNvPr>
          <p:cNvPicPr>
            <a:picLocks noGrp="1" noChangeAspect="1"/>
          </p:cNvPicPr>
          <p:nvPr>
            <p:ph type="pic" idx="1"/>
          </p:nvPr>
        </p:nvPicPr>
        <p:blipFill>
          <a:blip r:embed="rId2"/>
          <a:srcRect l="3055" r="3055"/>
          <a:stretch>
            <a:fillRect/>
          </a:stretch>
        </p:blipFill>
        <p:spPr/>
      </p:pic>
      <p:sp>
        <p:nvSpPr>
          <p:cNvPr id="4" name="Θέση κειμένου 3">
            <a:extLst>
              <a:ext uri="{FF2B5EF4-FFF2-40B4-BE49-F238E27FC236}">
                <a16:creationId xmlns:a16="http://schemas.microsoft.com/office/drawing/2014/main" id="{CD225A44-0F34-C9E2-C728-CC4000F10944}"/>
              </a:ext>
            </a:extLst>
          </p:cNvPr>
          <p:cNvSpPr>
            <a:spLocks noGrp="1"/>
          </p:cNvSpPr>
          <p:nvPr>
            <p:ph type="body" sz="half" idx="2"/>
          </p:nvPr>
        </p:nvSpPr>
        <p:spPr/>
        <p:txBody>
          <a:bodyPr/>
          <a:lstStyle/>
          <a:p>
            <a:r>
              <a:rPr lang="en-US" dirty="0" err="1"/>
              <a:t>Avlonari</a:t>
            </a:r>
            <a:r>
              <a:rPr lang="en-US" dirty="0"/>
              <a:t> Evia</a:t>
            </a:r>
            <a:endParaRPr lang="el-GR" dirty="0"/>
          </a:p>
        </p:txBody>
      </p:sp>
    </p:spTree>
    <p:extLst>
      <p:ext uri="{BB962C8B-B14F-4D97-AF65-F5344CB8AC3E}">
        <p14:creationId xmlns:p14="http://schemas.microsoft.com/office/powerpoint/2010/main" val="10805306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Πρότυπο σχεδίασης με πεπιεσμένα φύλλα">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60000"/>
                <a:satMod val="355000"/>
              </a:schemeClr>
            </a:gs>
            <a:gs pos="40000">
              <a:schemeClr val="phClr">
                <a:tint val="85000"/>
                <a:satMod val="320000"/>
              </a:schemeClr>
            </a:gs>
            <a:gs pos="100000">
              <a:schemeClr val="phClr">
                <a:shade val="55000"/>
                <a:satMod val="300000"/>
              </a:schemeClr>
            </a:gs>
          </a:gsLst>
          <a:path path="circle">
            <a:fillToRect l="-24500" t="-20000" r="124500" b="120000"/>
          </a:path>
        </a:gradFill>
        <a:blipFill>
          <a:blip xmlns:r="http://schemas.openxmlformats.org/officeDocument/2006/relationships" r:embed="rId1">
            <a:duotone>
              <a:schemeClr val="phClr">
                <a:shade val="9000"/>
                <a:satMod val="300000"/>
              </a:schemeClr>
              <a:schemeClr val="phClr">
                <a:tint val="90000"/>
                <a:satMod val="225000"/>
              </a:schemeClr>
            </a:duotone>
          </a:blip>
          <a:tile tx="0" ty="0" sx="90000" sy="90000" flip="xy" algn="tl"/>
        </a:blipFill>
      </a:bgFillStyleLst>
    </a:fmtScheme>
  </a:themeElements>
  <a:objectDefaults/>
  <a:extraClrSchemeLst/>
  <a:extLst>
    <a:ext uri="{05A4C25C-085E-4340-85A3-A5531E510DB2}">
      <thm15:themeFamily xmlns:thm15="http://schemas.microsoft.com/office/thememl/2012/main" name="Office_13565479_TF03460542" id="{D733EB4B-9155-42FC-8F60-2C1CF0B09F98}" vid="{C3F1DC80-9D17-44B5-9EDA-A720D469FC46}"/>
    </a:ext>
  </a:extLst>
</a:theme>
</file>

<file path=ppt/theme/theme2.xml><?xml version="1.0" encoding="utf-8"?>
<a:theme xmlns:a="http://schemas.openxmlformats.org/drawingml/2006/main" name="Θέμα του Offic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Θέμα του Office">
  <a:themeElements>
    <a:clrScheme name="Median">
      <a:dk1>
        <a:sysClr val="windowText" lastClr="000000"/>
      </a:dk1>
      <a:lt1>
        <a:sysClr val="window" lastClr="FFFFFF"/>
      </a:lt1>
      <a:dk2>
        <a:srgbClr val="775F55"/>
      </a:dk2>
      <a:lt2>
        <a:srgbClr val="EBDDC3"/>
      </a:lt2>
      <a:accent1>
        <a:srgbClr val="94B6D2"/>
      </a:accent1>
      <a:accent2>
        <a:srgbClr val="DD8047"/>
      </a:accent2>
      <a:accent3>
        <a:srgbClr val="A5AB81"/>
      </a:accent3>
      <a:accent4>
        <a:srgbClr val="D8B25C"/>
      </a:accent4>
      <a:accent5>
        <a:srgbClr val="7BA79D"/>
      </a:accent5>
      <a:accent6>
        <a:srgbClr val="968C8C"/>
      </a:accent6>
      <a:hlink>
        <a:srgbClr val="F7B615"/>
      </a:hlink>
      <a:folHlink>
        <a:srgbClr val="704404"/>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DEB5BEE-6806-4BF1-A9A7-4B4A72C0C6EB}">
  <ds:schemaRefs>
    <ds:schemaRef ds:uri="http://schemas.microsoft.com/sharepoint/v3/contenttype/forms"/>
  </ds:schemaRefs>
</ds:datastoreItem>
</file>

<file path=customXml/itemProps2.xml><?xml version="1.0" encoding="utf-8"?>
<ds:datastoreItem xmlns:ds="http://schemas.openxmlformats.org/officeDocument/2006/customXml" ds:itemID="{EEFED04C-AD43-4E06-AD63-36D8B5E83787}">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40262f94-9f35-4ac3-9a90-690165a166b7"/>
    <ds:schemaRef ds:uri="a4f35948-e619-41b3-aa29-22878b09cfd2"/>
    <ds:schemaRef ds:uri="http://www.w3.org/XML/1998/namespace"/>
    <ds:schemaRef ds:uri="http://purl.org/dc/dcmitype/"/>
  </ds:schemaRefs>
</ds:datastoreItem>
</file>

<file path=customXml/itemProps3.xml><?xml version="1.0" encoding="utf-8"?>
<ds:datastoreItem xmlns:ds="http://schemas.openxmlformats.org/officeDocument/2006/customXml" ds:itemID="{B0710C29-A897-44AD-9F83-BE5F874C2AE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Διαφάνειες με σχέδια πεπιεσμένων φύλλων</Template>
  <TotalTime>532</TotalTime>
  <Words>2491</Words>
  <Application>Microsoft Office PowerPoint</Application>
  <PresentationFormat>Ευρεία οθόνη</PresentationFormat>
  <Paragraphs>88</Paragraphs>
  <Slides>23</Slides>
  <Notes>2</Notes>
  <HiddenSlides>0</HiddenSlides>
  <MMClips>1</MMClips>
  <ScaleCrop>false</ScaleCrop>
  <HeadingPairs>
    <vt:vector size="6" baseType="variant">
      <vt:variant>
        <vt:lpstr>Γραμματοσειρές που χρησιμοποιούνται</vt:lpstr>
      </vt:variant>
      <vt:variant>
        <vt:i4>9</vt:i4>
      </vt:variant>
      <vt:variant>
        <vt:lpstr>Θέμα</vt:lpstr>
      </vt:variant>
      <vt:variant>
        <vt:i4>1</vt:i4>
      </vt:variant>
      <vt:variant>
        <vt:lpstr>Τίτλοι διαφανειών</vt:lpstr>
      </vt:variant>
      <vt:variant>
        <vt:i4>23</vt:i4>
      </vt:variant>
    </vt:vector>
  </HeadingPairs>
  <TitlesOfParts>
    <vt:vector size="33" baseType="lpstr">
      <vt:lpstr>Arial</vt:lpstr>
      <vt:lpstr>Calibri</vt:lpstr>
      <vt:lpstr>Century Gothic</vt:lpstr>
      <vt:lpstr>Franklin Gothic</vt:lpstr>
      <vt:lpstr>Lato</vt:lpstr>
      <vt:lpstr>Open Sans</vt:lpstr>
      <vt:lpstr>Times New Roman</vt:lpstr>
      <vt:lpstr>Verdana</vt:lpstr>
      <vt:lpstr>Wingdings 2</vt:lpstr>
      <vt:lpstr>Πρότυπο σχεδίασης με πεπιεσμένα φύλλα</vt:lpstr>
      <vt:lpstr>LIGHT MORE LIGHT</vt:lpstr>
      <vt:lpstr>APPROACHES TO ANTIGONE</vt:lpstr>
      <vt:lpstr>Παρουσίαση του PowerPoint</vt:lpstr>
      <vt:lpstr>Yohan Creistian Friedrich Hilderlin(Johann Christian Friedrich Hölderlin  (1770 -1843) </vt:lpstr>
      <vt:lpstr>The poet in Tübingen</vt:lpstr>
      <vt:lpstr>LOVE AND BLINDNESS</vt:lpstr>
      <vt:lpstr>Παρουσίαση του PowerPoint</vt:lpstr>
      <vt:lpstr>Antigone translation</vt:lpstr>
      <vt:lpstr>How Helderlin conveys the meaning of Sophocles' work and how he interprets the characters of Antigone and Creon and their conflict.</vt:lpstr>
      <vt:lpstr>Παρουσίαση του PowerPoint</vt:lpstr>
      <vt:lpstr>Hölderlin emphasizes more than Sophocles Antigone's struggle against a regime in the name of God. It elevates it to a symbol of resistance and a champion of democracy.  </vt:lpstr>
      <vt:lpstr>Παρουσίαση του PowerPoint</vt:lpstr>
      <vt:lpstr>We present some passages as an indication. We begin with the first ten verses of the Prologue.</vt:lpstr>
      <vt:lpstr>PROLOGOS col.45-47</vt:lpstr>
      <vt:lpstr>PROLOGOS col.73-74</vt:lpstr>
      <vt:lpstr>DANCE          A Stationary</vt:lpstr>
      <vt:lpstr>EPISODE B v.449-457 Antigone admits her act to Creon</vt:lpstr>
      <vt:lpstr>EPISODE C Dialogue between Creon and Haemon</vt:lpstr>
      <vt:lpstr>KOMMOS</vt:lpstr>
      <vt:lpstr>EPISODE B SCENE D New Lamentation of Antigone</vt:lpstr>
      <vt:lpstr>Respecting your time, we omitted the commentary of passages from the scene with the seer Tiresias, the last chorus with the presence of the god Dionysus, as well as the Exodus with the lament of Creon. We would like to believe that the relationship between Sophocles and Helderlin, the connection between classical Greece and 19th century Germany, the common elements that unite the two cultures, were understood.  Thank you!</vt:lpstr>
      <vt:lpstr>SOURCES</vt:lpstr>
      <vt:lpstr>Thank you! The students of Avlonari High School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Athanasios Glikos</dc:creator>
  <cp:lastModifiedBy>Athanasios Glikos</cp:lastModifiedBy>
  <cp:revision>146</cp:revision>
  <dcterms:created xsi:type="dcterms:W3CDTF">2024-10-17T03:00:42Z</dcterms:created>
  <dcterms:modified xsi:type="dcterms:W3CDTF">2025-02-15T13:48:28Z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y fmtid="{D5CDD505-2E9C-101B-9397-08002B2CF9AE}" pid="3" name="Order">
    <vt:r8>74065700</vt:r8>
  </property>
  <property fmtid="{D5CDD505-2E9C-101B-9397-08002B2CF9AE}" pid="4" name="HiddenCategoryTags">
    <vt:lpwstr/>
  </property>
  <property fmtid="{D5CDD505-2E9C-101B-9397-08002B2CF9AE}" pid="5" name="InternalTags">
    <vt:lpwstr/>
  </property>
  <property fmtid="{D5CDD505-2E9C-101B-9397-08002B2CF9AE}" pid="6" name="FeatureTags">
    <vt:lpwstr/>
  </property>
  <property fmtid="{D5CDD505-2E9C-101B-9397-08002B2CF9AE}" pid="7" name="LocalizationTags">
    <vt:lpwstr/>
  </property>
  <property fmtid="{D5CDD505-2E9C-101B-9397-08002B2CF9AE}" pid="8" name="CategoryTags">
    <vt:lpwstr/>
  </property>
  <property fmtid="{D5CDD505-2E9C-101B-9397-08002B2CF9AE}" pid="9" name="Applications">
    <vt:lpwstr/>
  </property>
  <property fmtid="{D5CDD505-2E9C-101B-9397-08002B2CF9AE}" pid="10" name="CampaignTags">
    <vt:lpwstr/>
  </property>
  <property fmtid="{D5CDD505-2E9C-101B-9397-08002B2CF9AE}" pid="11" name="ScenarioTags">
    <vt:lpwstr/>
  </property>
</Properties>
</file>